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6"/>
  </p:notesMasterIdLst>
  <p:sldIdLst>
    <p:sldId id="256" r:id="rId2"/>
    <p:sldId id="268" r:id="rId3"/>
    <p:sldId id="269" r:id="rId4"/>
    <p:sldId id="257" r:id="rId5"/>
    <p:sldId id="258" r:id="rId6"/>
    <p:sldId id="262" r:id="rId7"/>
    <p:sldId id="263" r:id="rId8"/>
    <p:sldId id="264" r:id="rId9"/>
    <p:sldId id="259" r:id="rId10"/>
    <p:sldId id="260" r:id="rId11"/>
    <p:sldId id="261" r:id="rId12"/>
    <p:sldId id="265" r:id="rId13"/>
    <p:sldId id="266" r:id="rId14"/>
    <p:sldId id="267"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 id="282" r:id="rId30"/>
    <p:sldId id="285" r:id="rId31"/>
    <p:sldId id="286" r:id="rId32"/>
    <p:sldId id="287" r:id="rId33"/>
    <p:sldId id="288" r:id="rId34"/>
    <p:sldId id="290" r:id="rId35"/>
    <p:sldId id="289" r:id="rId36"/>
    <p:sldId id="291" r:id="rId37"/>
    <p:sldId id="294" r:id="rId38"/>
    <p:sldId id="292" r:id="rId39"/>
    <p:sldId id="293"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3" r:id="rId58"/>
    <p:sldId id="312" r:id="rId59"/>
    <p:sldId id="314" r:id="rId60"/>
    <p:sldId id="316" r:id="rId61"/>
    <p:sldId id="317" r:id="rId62"/>
    <p:sldId id="315" r:id="rId63"/>
    <p:sldId id="318" r:id="rId64"/>
    <p:sldId id="319"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931214-B6AC-4B2D-8D30-3731F701B4F5}" type="datetimeFigureOut">
              <a:rPr lang="en-IN" smtClean="0"/>
              <a:t>11-03-2024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92075E-10FB-4D3B-B417-95B163616A80}" type="slidenum">
              <a:rPr lang="en-IN" smtClean="0"/>
              <a:t>‹#›</a:t>
            </a:fld>
            <a:endParaRPr lang="en-IN"/>
          </a:p>
        </p:txBody>
      </p:sp>
    </p:spTree>
    <p:extLst>
      <p:ext uri="{BB962C8B-B14F-4D97-AF65-F5344CB8AC3E}">
        <p14:creationId xmlns:p14="http://schemas.microsoft.com/office/powerpoint/2010/main" val="3827628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dirty="0">
                <a:solidFill>
                  <a:srgbClr val="000000"/>
                </a:solidFill>
                <a:effectLst/>
                <a:latin typeface="inter-regular"/>
              </a:rPr>
              <a:t> </a:t>
            </a:r>
            <a:r>
              <a:rPr lang="en-IN" b="1" i="0" dirty="0">
                <a:solidFill>
                  <a:srgbClr val="000000"/>
                </a:solidFill>
                <a:effectLst/>
                <a:latin typeface="inter-bold"/>
              </a:rPr>
              <a:t>Attribute Selection Measure (ASM).</a:t>
            </a:r>
            <a:endParaRPr lang="en-IN" dirty="0"/>
          </a:p>
        </p:txBody>
      </p:sp>
      <p:sp>
        <p:nvSpPr>
          <p:cNvPr id="4" name="Slide Number Placeholder 3"/>
          <p:cNvSpPr>
            <a:spLocks noGrp="1"/>
          </p:cNvSpPr>
          <p:nvPr>
            <p:ph type="sldNum" sz="quarter" idx="5"/>
          </p:nvPr>
        </p:nvSpPr>
        <p:spPr/>
        <p:txBody>
          <a:bodyPr/>
          <a:lstStyle/>
          <a:p>
            <a:fld id="{EB92075E-10FB-4D3B-B417-95B163616A80}" type="slidenum">
              <a:rPr lang="en-IN" smtClean="0"/>
              <a:t>44</a:t>
            </a:fld>
            <a:endParaRPr lang="en-IN"/>
          </a:p>
        </p:txBody>
      </p:sp>
    </p:spTree>
    <p:extLst>
      <p:ext uri="{BB962C8B-B14F-4D97-AF65-F5344CB8AC3E}">
        <p14:creationId xmlns:p14="http://schemas.microsoft.com/office/powerpoint/2010/main" val="1095276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B92075E-10FB-4D3B-B417-95B163616A80}" type="slidenum">
              <a:rPr lang="en-IN" smtClean="0"/>
              <a:t>62</a:t>
            </a:fld>
            <a:endParaRPr lang="en-IN"/>
          </a:p>
        </p:txBody>
      </p:sp>
    </p:spTree>
    <p:extLst>
      <p:ext uri="{BB962C8B-B14F-4D97-AF65-F5344CB8AC3E}">
        <p14:creationId xmlns:p14="http://schemas.microsoft.com/office/powerpoint/2010/main" val="191287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131697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1566376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2167738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5A3291-3268-4DF6-9D35-BF77C1C61000}"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700680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5A3291-3268-4DF6-9D35-BF77C1C61000}" type="datetimeFigureOut">
              <a:rPr lang="en-IN" smtClean="0"/>
              <a:t>11-03-2024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376803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5A3291-3268-4DF6-9D35-BF77C1C61000}" type="datetimeFigureOut">
              <a:rPr lang="en-IN" smtClean="0"/>
              <a:t>11-03-2024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3372198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5A3291-3268-4DF6-9D35-BF77C1C61000}" type="datetimeFigureOut">
              <a:rPr lang="en-IN" smtClean="0"/>
              <a:t>11-03-2024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3186299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5A3291-3268-4DF6-9D35-BF77C1C61000}"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1674984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5A3291-3268-4DF6-9D35-BF77C1C61000}"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3030782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1359159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40698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1768399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599040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1790562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2513515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5A3291-3268-4DF6-9D35-BF77C1C61000}"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607C63-D600-4720-A5C6-5D034337E030}" type="slidenum">
              <a:rPr lang="en-IN" smtClean="0"/>
              <a:t>‹#›</a:t>
            </a:fld>
            <a:endParaRPr lang="en-IN"/>
          </a:p>
        </p:txBody>
      </p:sp>
    </p:spTree>
    <p:extLst>
      <p:ext uri="{BB962C8B-B14F-4D97-AF65-F5344CB8AC3E}">
        <p14:creationId xmlns:p14="http://schemas.microsoft.com/office/powerpoint/2010/main" val="1070104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E5A3291-3268-4DF6-9D35-BF77C1C61000}" type="datetimeFigureOut">
              <a:rPr lang="en-IN" smtClean="0"/>
              <a:t>11-03-2024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5607C63-D600-4720-A5C6-5D034337E030}" type="slidenum">
              <a:rPr lang="en-IN" smtClean="0"/>
              <a:t>‹#›</a:t>
            </a:fld>
            <a:endParaRPr lang="en-IN"/>
          </a:p>
        </p:txBody>
      </p:sp>
    </p:spTree>
    <p:extLst>
      <p:ext uri="{BB962C8B-B14F-4D97-AF65-F5344CB8AC3E}">
        <p14:creationId xmlns:p14="http://schemas.microsoft.com/office/powerpoint/2010/main" val="8761382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718CC-36C8-7FAB-D3AB-294DC9E1B38E}"/>
              </a:ext>
            </a:extLst>
          </p:cNvPr>
          <p:cNvSpPr>
            <a:spLocks noGrp="1"/>
          </p:cNvSpPr>
          <p:nvPr>
            <p:ph type="ctrTitle"/>
          </p:nvPr>
        </p:nvSpPr>
        <p:spPr/>
        <p:txBody>
          <a:bodyPr/>
          <a:lstStyle/>
          <a:p>
            <a:r>
              <a:rPr lang="en-US" dirty="0"/>
              <a:t>Supervised Learning</a:t>
            </a:r>
            <a:endParaRPr lang="en-IN" dirty="0"/>
          </a:p>
        </p:txBody>
      </p:sp>
      <p:sp>
        <p:nvSpPr>
          <p:cNvPr id="3" name="Subtitle 2">
            <a:extLst>
              <a:ext uri="{FF2B5EF4-FFF2-40B4-BE49-F238E27FC236}">
                <a16:creationId xmlns:a16="http://schemas.microsoft.com/office/drawing/2014/main" id="{E112DC99-7A01-1CBA-D9AB-32D3FB10628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39365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6FE08-690A-1F77-FD5D-A1FE1B3E30BB}"/>
              </a:ext>
            </a:extLst>
          </p:cNvPr>
          <p:cNvSpPr>
            <a:spLocks noGrp="1"/>
          </p:cNvSpPr>
          <p:nvPr>
            <p:ph type="title"/>
          </p:nvPr>
        </p:nvSpPr>
        <p:spPr/>
        <p:txBody>
          <a:bodyPr/>
          <a:lstStyle/>
          <a:p>
            <a:r>
              <a:rPr lang="en-US" dirty="0"/>
              <a:t>Machine Learning </a:t>
            </a:r>
            <a:endParaRPr lang="en-IN" dirty="0"/>
          </a:p>
        </p:txBody>
      </p:sp>
      <p:sp>
        <p:nvSpPr>
          <p:cNvPr id="3" name="Content Placeholder 2">
            <a:extLst>
              <a:ext uri="{FF2B5EF4-FFF2-40B4-BE49-F238E27FC236}">
                <a16:creationId xmlns:a16="http://schemas.microsoft.com/office/drawing/2014/main" id="{C8BD3581-F185-245A-E059-C8BB1A230F75}"/>
              </a:ext>
            </a:extLst>
          </p:cNvPr>
          <p:cNvSpPr>
            <a:spLocks noGrp="1"/>
          </p:cNvSpPr>
          <p:nvPr>
            <p:ph idx="1"/>
          </p:nvPr>
        </p:nvSpPr>
        <p:spPr/>
        <p:txBody>
          <a:bodyPr/>
          <a:lstStyle/>
          <a:p>
            <a:r>
              <a:rPr lang="en-IN" b="0" i="0" dirty="0">
                <a:solidFill>
                  <a:srgbClr val="0D0D0D"/>
                </a:solidFill>
                <a:effectLst/>
                <a:latin typeface="Söhne"/>
              </a:rPr>
              <a:t>Machine learning is a subfield of artificial intelligence (AI) that focuses on the development of algorithms and models that allow computers to learn from and make predictions or decisions based on data.</a:t>
            </a:r>
          </a:p>
          <a:p>
            <a:endParaRPr lang="en-IN" dirty="0">
              <a:solidFill>
                <a:srgbClr val="0D0D0D"/>
              </a:solidFill>
              <a:latin typeface="Söhne"/>
            </a:endParaRPr>
          </a:p>
          <a:p>
            <a:endParaRPr lang="en-IN" dirty="0">
              <a:solidFill>
                <a:srgbClr val="0D0D0D"/>
              </a:solidFill>
              <a:latin typeface="Söhne"/>
            </a:endParaRPr>
          </a:p>
          <a:p>
            <a:r>
              <a:rPr lang="en-IN" dirty="0">
                <a:solidFill>
                  <a:srgbClr val="0D0D0D"/>
                </a:solidFill>
                <a:latin typeface="Söhne"/>
              </a:rPr>
              <a:t>Ma</a:t>
            </a:r>
            <a:r>
              <a:rPr lang="en-IN" b="0" i="0" dirty="0">
                <a:solidFill>
                  <a:srgbClr val="0D0D0D"/>
                </a:solidFill>
                <a:effectLst/>
                <a:latin typeface="Söhne"/>
              </a:rPr>
              <a:t>chine learning enables computers to learn from data and improve their performance over time without being explicitly programmed.</a:t>
            </a:r>
            <a:endParaRPr lang="en-IN" dirty="0"/>
          </a:p>
        </p:txBody>
      </p:sp>
    </p:spTree>
    <p:extLst>
      <p:ext uri="{BB962C8B-B14F-4D97-AF65-F5344CB8AC3E}">
        <p14:creationId xmlns:p14="http://schemas.microsoft.com/office/powerpoint/2010/main" val="4054498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BE88-130B-D949-ECB1-53556DB5B114}"/>
              </a:ext>
            </a:extLst>
          </p:cNvPr>
          <p:cNvSpPr>
            <a:spLocks noGrp="1"/>
          </p:cNvSpPr>
          <p:nvPr>
            <p:ph type="title"/>
          </p:nvPr>
        </p:nvSpPr>
        <p:spPr/>
        <p:txBody>
          <a:bodyPr/>
          <a:lstStyle/>
          <a:p>
            <a:r>
              <a:rPr lang="en-US" dirty="0"/>
              <a:t>Application of ML</a:t>
            </a:r>
            <a:endParaRPr lang="en-IN" dirty="0"/>
          </a:p>
        </p:txBody>
      </p:sp>
      <p:sp>
        <p:nvSpPr>
          <p:cNvPr id="3" name="Content Placeholder 2">
            <a:extLst>
              <a:ext uri="{FF2B5EF4-FFF2-40B4-BE49-F238E27FC236}">
                <a16:creationId xmlns:a16="http://schemas.microsoft.com/office/drawing/2014/main" id="{0D7AE4A6-98F2-3883-D928-21CE75F15B2C}"/>
              </a:ext>
            </a:extLst>
          </p:cNvPr>
          <p:cNvSpPr>
            <a:spLocks noGrp="1"/>
          </p:cNvSpPr>
          <p:nvPr>
            <p:ph idx="1"/>
          </p:nvPr>
        </p:nvSpPr>
        <p:spPr/>
        <p:txBody>
          <a:bodyPr/>
          <a:lstStyle/>
          <a:p>
            <a:r>
              <a:rPr lang="en-IN" b="1" i="0" dirty="0">
                <a:solidFill>
                  <a:srgbClr val="0D0D0D"/>
                </a:solidFill>
                <a:effectLst/>
                <a:latin typeface="Söhne"/>
              </a:rPr>
              <a:t>Predictive Analytics – Sales forecasting, demand prediction</a:t>
            </a:r>
            <a:endParaRPr lang="en-IN" dirty="0">
              <a:solidFill>
                <a:srgbClr val="0D0D0D"/>
              </a:solidFill>
              <a:latin typeface="Söhne"/>
            </a:endParaRPr>
          </a:p>
          <a:p>
            <a:r>
              <a:rPr lang="en-IN" b="1" i="0" dirty="0">
                <a:solidFill>
                  <a:srgbClr val="0D0D0D"/>
                </a:solidFill>
                <a:effectLst/>
                <a:latin typeface="Söhne"/>
              </a:rPr>
              <a:t>Natural Language Processing (NLP)- Interaction between computer and human </a:t>
            </a:r>
          </a:p>
          <a:p>
            <a:r>
              <a:rPr lang="en-IN" b="1" i="0" dirty="0">
                <a:solidFill>
                  <a:srgbClr val="0D0D0D"/>
                </a:solidFill>
                <a:effectLst/>
                <a:latin typeface="Söhne"/>
              </a:rPr>
              <a:t>Computer Vision -  Object detection, image classification. </a:t>
            </a:r>
            <a:endParaRPr lang="en-IN" b="1" dirty="0">
              <a:solidFill>
                <a:srgbClr val="0D0D0D"/>
              </a:solidFill>
              <a:latin typeface="Söhne"/>
            </a:endParaRPr>
          </a:p>
          <a:p>
            <a:r>
              <a:rPr lang="en-IN" b="1" i="0" dirty="0">
                <a:solidFill>
                  <a:srgbClr val="0D0D0D"/>
                </a:solidFill>
                <a:effectLst/>
                <a:latin typeface="Söhne"/>
              </a:rPr>
              <a:t>Healthcare – disease diagnostic, medical imaging analysis</a:t>
            </a:r>
          </a:p>
          <a:p>
            <a:r>
              <a:rPr lang="en-IN" b="1" i="0" dirty="0">
                <a:solidFill>
                  <a:srgbClr val="0D0D0D"/>
                </a:solidFill>
                <a:effectLst/>
                <a:latin typeface="Söhne"/>
              </a:rPr>
              <a:t>Finance – credit scoring, risk management</a:t>
            </a:r>
            <a:endParaRPr lang="en-IN" b="1" dirty="0">
              <a:solidFill>
                <a:srgbClr val="0D0D0D"/>
              </a:solidFill>
              <a:latin typeface="Söhne"/>
            </a:endParaRPr>
          </a:p>
          <a:p>
            <a:r>
              <a:rPr lang="en-IN" b="1" i="0" dirty="0">
                <a:solidFill>
                  <a:srgbClr val="0D0D0D"/>
                </a:solidFill>
                <a:effectLst/>
                <a:latin typeface="Söhne"/>
              </a:rPr>
              <a:t>Manufacturing and Industry – quality control, supply chain optimization</a:t>
            </a:r>
          </a:p>
          <a:p>
            <a:r>
              <a:rPr lang="en-IN" b="1" i="0" dirty="0">
                <a:solidFill>
                  <a:srgbClr val="0D0D0D"/>
                </a:solidFill>
                <a:effectLst/>
                <a:latin typeface="Söhne"/>
              </a:rPr>
              <a:t>Energy Management – consumption prediction, </a:t>
            </a:r>
            <a:r>
              <a:rPr lang="en-IN" b="1" i="0">
                <a:solidFill>
                  <a:srgbClr val="0D0D0D"/>
                </a:solidFill>
                <a:effectLst/>
                <a:latin typeface="Söhne"/>
              </a:rPr>
              <a:t>demand forecasting. </a:t>
            </a:r>
            <a:endParaRPr lang="en-IN" dirty="0"/>
          </a:p>
        </p:txBody>
      </p:sp>
    </p:spTree>
    <p:extLst>
      <p:ext uri="{BB962C8B-B14F-4D97-AF65-F5344CB8AC3E}">
        <p14:creationId xmlns:p14="http://schemas.microsoft.com/office/powerpoint/2010/main" val="128288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752B-DADA-A3D0-42A8-3635E3D80D9C}"/>
              </a:ext>
            </a:extLst>
          </p:cNvPr>
          <p:cNvSpPr>
            <a:spLocks noGrp="1"/>
          </p:cNvSpPr>
          <p:nvPr>
            <p:ph type="title"/>
          </p:nvPr>
        </p:nvSpPr>
        <p:spPr/>
        <p:txBody>
          <a:bodyPr/>
          <a:lstStyle/>
          <a:p>
            <a:r>
              <a:rPr lang="en-US" dirty="0"/>
              <a:t>Supervised Learning</a:t>
            </a:r>
            <a:endParaRPr lang="en-IN" dirty="0"/>
          </a:p>
        </p:txBody>
      </p:sp>
      <p:sp>
        <p:nvSpPr>
          <p:cNvPr id="3" name="Content Placeholder 2">
            <a:extLst>
              <a:ext uri="{FF2B5EF4-FFF2-40B4-BE49-F238E27FC236}">
                <a16:creationId xmlns:a16="http://schemas.microsoft.com/office/drawing/2014/main" id="{25770BB0-C56C-6F5A-62C0-942CCF98BDFB}"/>
              </a:ext>
            </a:extLst>
          </p:cNvPr>
          <p:cNvSpPr>
            <a:spLocks noGrp="1"/>
          </p:cNvSpPr>
          <p:nvPr>
            <p:ph idx="1"/>
          </p:nvPr>
        </p:nvSpPr>
        <p:spPr/>
        <p:txBody>
          <a:bodyPr/>
          <a:lstStyle/>
          <a:p>
            <a:r>
              <a:rPr lang="en-IN" b="0" i="0" dirty="0">
                <a:solidFill>
                  <a:srgbClr val="0D0D0D"/>
                </a:solidFill>
                <a:effectLst/>
                <a:latin typeface="Söhne"/>
              </a:rPr>
              <a:t>Supervised learning is a type of machine learning where the algorithm is trained on a </a:t>
            </a:r>
            <a:r>
              <a:rPr lang="en-IN" b="0" i="0" dirty="0" err="1">
                <a:solidFill>
                  <a:srgbClr val="0D0D0D"/>
                </a:solidFill>
                <a:effectLst/>
                <a:latin typeface="Söhne"/>
              </a:rPr>
              <a:t>labeled</a:t>
            </a:r>
            <a:r>
              <a:rPr lang="en-IN" b="0" i="0" dirty="0">
                <a:solidFill>
                  <a:srgbClr val="0D0D0D"/>
                </a:solidFill>
                <a:effectLst/>
                <a:latin typeface="Söhne"/>
              </a:rPr>
              <a:t> dataset</a:t>
            </a:r>
          </a:p>
          <a:p>
            <a:r>
              <a:rPr lang="en-IN" dirty="0">
                <a:solidFill>
                  <a:srgbClr val="0D0D0D"/>
                </a:solidFill>
                <a:latin typeface="Söhne"/>
              </a:rPr>
              <a:t>It means </a:t>
            </a:r>
            <a:r>
              <a:rPr lang="en-IN" b="0" i="0" dirty="0">
                <a:solidFill>
                  <a:srgbClr val="0D0D0D"/>
                </a:solidFill>
                <a:effectLst/>
                <a:latin typeface="Söhne"/>
              </a:rPr>
              <a:t>the input data is paired with the correct output. </a:t>
            </a:r>
          </a:p>
          <a:p>
            <a:r>
              <a:rPr lang="en-IN" b="0" i="0" dirty="0">
                <a:solidFill>
                  <a:srgbClr val="0D0D0D"/>
                </a:solidFill>
                <a:effectLst/>
                <a:latin typeface="Söhne"/>
              </a:rPr>
              <a:t>The goal of supervised learning is to learn a mapping from inputs to outputs so that it can make predictions or decisions when we give new, unseen data.</a:t>
            </a:r>
          </a:p>
          <a:p>
            <a:r>
              <a:rPr lang="en-IN" dirty="0">
                <a:solidFill>
                  <a:srgbClr val="0D0D0D"/>
                </a:solidFill>
                <a:latin typeface="Söhne"/>
              </a:rPr>
              <a:t>Example:</a:t>
            </a:r>
            <a:r>
              <a:rPr lang="en-IN" b="1" i="0" dirty="0">
                <a:solidFill>
                  <a:srgbClr val="333333"/>
                </a:solidFill>
                <a:effectLst/>
                <a:latin typeface="inter-bold"/>
              </a:rPr>
              <a:t> Image classification, Risk Assessment Fraud Detection, spam filtering</a:t>
            </a:r>
            <a:endParaRPr lang="en-IN" dirty="0">
              <a:solidFill>
                <a:srgbClr val="0D0D0D"/>
              </a:solidFill>
              <a:latin typeface="Söhne"/>
            </a:endParaRPr>
          </a:p>
          <a:p>
            <a:endParaRPr lang="en-IN" dirty="0"/>
          </a:p>
        </p:txBody>
      </p:sp>
    </p:spTree>
    <p:extLst>
      <p:ext uri="{BB962C8B-B14F-4D97-AF65-F5344CB8AC3E}">
        <p14:creationId xmlns:p14="http://schemas.microsoft.com/office/powerpoint/2010/main" val="2996465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ECB9D-0011-5869-B3E7-E79469D38606}"/>
              </a:ext>
            </a:extLst>
          </p:cNvPr>
          <p:cNvSpPr>
            <a:spLocks noGrp="1"/>
          </p:cNvSpPr>
          <p:nvPr>
            <p:ph type="title"/>
          </p:nvPr>
        </p:nvSpPr>
        <p:spPr/>
        <p:txBody>
          <a:bodyPr/>
          <a:lstStyle/>
          <a:p>
            <a:endParaRPr lang="en-IN"/>
          </a:p>
        </p:txBody>
      </p:sp>
      <p:pic>
        <p:nvPicPr>
          <p:cNvPr id="1026" name="Picture 2" descr="Machine learning algorithms. a. Supervised learning: In this type of learning, the output class labels of the data are known or can be calculated. In cases where the labels are unknown, their operational data will be available. b. Semi-supervised learning: Here, learning is based on a set of unknown information which is generally deficient. c. Reinforcement learning: A typical example of this type of learning is driving a vehicle [5].">
            <a:extLst>
              <a:ext uri="{FF2B5EF4-FFF2-40B4-BE49-F238E27FC236}">
                <a16:creationId xmlns:a16="http://schemas.microsoft.com/office/drawing/2014/main" id="{08F24111-AEAE-BC68-E962-D137CB48FF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3" y="2146300"/>
            <a:ext cx="8908061" cy="3060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09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14921-5DCE-812D-F443-6A47DAEF8DFA}"/>
              </a:ext>
            </a:extLst>
          </p:cNvPr>
          <p:cNvSpPr>
            <a:spLocks noGrp="1"/>
          </p:cNvSpPr>
          <p:nvPr>
            <p:ph type="title"/>
          </p:nvPr>
        </p:nvSpPr>
        <p:spPr/>
        <p:txBody>
          <a:bodyPr>
            <a:normAutofit/>
          </a:bodyPr>
          <a:lstStyle/>
          <a:p>
            <a:r>
              <a:rPr lang="en-IN" sz="2800" dirty="0"/>
              <a:t>Types of supervised Machine learning Algorithms</a:t>
            </a:r>
          </a:p>
        </p:txBody>
      </p:sp>
      <p:pic>
        <p:nvPicPr>
          <p:cNvPr id="5" name="Content Placeholder 4">
            <a:extLst>
              <a:ext uri="{FF2B5EF4-FFF2-40B4-BE49-F238E27FC236}">
                <a16:creationId xmlns:a16="http://schemas.microsoft.com/office/drawing/2014/main" id="{E4350F3A-9A89-7061-5901-0FC89642D67F}"/>
              </a:ext>
            </a:extLst>
          </p:cNvPr>
          <p:cNvPicPr>
            <a:picLocks noGrp="1" noChangeAspect="1"/>
          </p:cNvPicPr>
          <p:nvPr>
            <p:ph idx="1"/>
          </p:nvPr>
        </p:nvPicPr>
        <p:blipFill>
          <a:blip r:embed="rId2"/>
          <a:stretch>
            <a:fillRect/>
          </a:stretch>
        </p:blipFill>
        <p:spPr>
          <a:xfrm>
            <a:off x="2059609" y="2286000"/>
            <a:ext cx="5144580" cy="2991740"/>
          </a:xfrm>
        </p:spPr>
      </p:pic>
    </p:spTree>
    <p:extLst>
      <p:ext uri="{BB962C8B-B14F-4D97-AF65-F5344CB8AC3E}">
        <p14:creationId xmlns:p14="http://schemas.microsoft.com/office/powerpoint/2010/main" val="2785466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5147-55E7-0854-B238-205E57861D61}"/>
              </a:ext>
            </a:extLst>
          </p:cNvPr>
          <p:cNvSpPr>
            <a:spLocks noGrp="1"/>
          </p:cNvSpPr>
          <p:nvPr>
            <p:ph type="title"/>
          </p:nvPr>
        </p:nvSpPr>
        <p:spPr/>
        <p:txBody>
          <a:bodyPr/>
          <a:lstStyle/>
          <a:p>
            <a:r>
              <a:rPr lang="en-IN" dirty="0"/>
              <a:t>Regression</a:t>
            </a:r>
          </a:p>
        </p:txBody>
      </p:sp>
      <p:sp>
        <p:nvSpPr>
          <p:cNvPr id="3" name="Content Placeholder 2">
            <a:extLst>
              <a:ext uri="{FF2B5EF4-FFF2-40B4-BE49-F238E27FC236}">
                <a16:creationId xmlns:a16="http://schemas.microsoft.com/office/drawing/2014/main" id="{0230DAAF-29A3-9F91-FBA0-B7D1E3B0DBDC}"/>
              </a:ext>
            </a:extLst>
          </p:cNvPr>
          <p:cNvSpPr>
            <a:spLocks noGrp="1"/>
          </p:cNvSpPr>
          <p:nvPr>
            <p:ph idx="1"/>
          </p:nvPr>
        </p:nvSpPr>
        <p:spPr>
          <a:xfrm>
            <a:off x="677334" y="1772817"/>
            <a:ext cx="8596668" cy="4268546"/>
          </a:xfrm>
        </p:spPr>
        <p:txBody>
          <a:bodyPr>
            <a:normAutofit lnSpcReduction="10000"/>
          </a:bodyPr>
          <a:lstStyle/>
          <a:p>
            <a:pPr algn="just"/>
            <a:r>
              <a:rPr lang="en-IN" b="0" i="0" dirty="0">
                <a:solidFill>
                  <a:srgbClr val="202124"/>
                </a:solidFill>
                <a:effectLst/>
                <a:latin typeface="Google Sans"/>
              </a:rPr>
              <a:t>Regression is </a:t>
            </a:r>
            <a:r>
              <a:rPr lang="en-IN" b="0" i="0" dirty="0">
                <a:solidFill>
                  <a:srgbClr val="040C28"/>
                </a:solidFill>
                <a:effectLst/>
                <a:latin typeface="Google Sans"/>
              </a:rPr>
              <a:t>a method for understanding the relationship between independent variables or features and a dependent variable or outcome</a:t>
            </a:r>
            <a:r>
              <a:rPr lang="en-IN" b="0" i="0" dirty="0">
                <a:solidFill>
                  <a:srgbClr val="202124"/>
                </a:solidFill>
                <a:effectLst/>
                <a:latin typeface="Google Sans"/>
              </a:rPr>
              <a:t>.</a:t>
            </a:r>
          </a:p>
          <a:p>
            <a:pPr marL="0" indent="0" algn="just">
              <a:buNone/>
            </a:pPr>
            <a:endParaRPr lang="en-IN" b="0" i="0" dirty="0">
              <a:solidFill>
                <a:srgbClr val="333333"/>
              </a:solidFill>
              <a:effectLst/>
              <a:latin typeface="inter-regular"/>
            </a:endParaRPr>
          </a:p>
          <a:p>
            <a:pPr algn="just"/>
            <a:r>
              <a:rPr lang="en-IN" b="0" i="0" dirty="0">
                <a:solidFill>
                  <a:srgbClr val="333333"/>
                </a:solidFill>
                <a:effectLst/>
                <a:latin typeface="inter-regular"/>
              </a:rPr>
              <a:t>Regression algorithms are used if there is a relationship between the input variable and the output variable. It is used for the prediction of continuous variables, such as Weather forecasting, Market Trends, etc. Below are some popular Regression algorithms that come under supervised learning:</a:t>
            </a:r>
          </a:p>
          <a:p>
            <a:pPr algn="just">
              <a:buFont typeface="Arial" panose="020B0604020202020204" pitchFamily="34" charset="0"/>
              <a:buChar char="•"/>
            </a:pPr>
            <a:r>
              <a:rPr lang="en-IN" b="0" i="0" dirty="0">
                <a:solidFill>
                  <a:srgbClr val="000000"/>
                </a:solidFill>
                <a:effectLst/>
                <a:latin typeface="inter-regular"/>
              </a:rPr>
              <a:t>Linear Regression</a:t>
            </a:r>
          </a:p>
          <a:p>
            <a:pPr algn="just">
              <a:buFont typeface="Arial" panose="020B0604020202020204" pitchFamily="34" charset="0"/>
              <a:buChar char="•"/>
            </a:pPr>
            <a:r>
              <a:rPr lang="en-IN" b="0" i="0" dirty="0">
                <a:solidFill>
                  <a:srgbClr val="000000"/>
                </a:solidFill>
                <a:effectLst/>
                <a:latin typeface="inter-regular"/>
              </a:rPr>
              <a:t>Regression Trees</a:t>
            </a:r>
          </a:p>
          <a:p>
            <a:pPr algn="just">
              <a:buFont typeface="Arial" panose="020B0604020202020204" pitchFamily="34" charset="0"/>
              <a:buChar char="•"/>
            </a:pPr>
            <a:r>
              <a:rPr lang="en-IN" b="0" i="0" dirty="0">
                <a:solidFill>
                  <a:srgbClr val="000000"/>
                </a:solidFill>
                <a:effectLst/>
                <a:latin typeface="inter-regular"/>
              </a:rPr>
              <a:t>Non-Linear Regression</a:t>
            </a:r>
          </a:p>
          <a:p>
            <a:pPr algn="just">
              <a:buFont typeface="Arial" panose="020B0604020202020204" pitchFamily="34" charset="0"/>
              <a:buChar char="•"/>
            </a:pPr>
            <a:r>
              <a:rPr lang="en-IN" b="0" i="0" dirty="0">
                <a:solidFill>
                  <a:srgbClr val="000000"/>
                </a:solidFill>
                <a:effectLst/>
                <a:latin typeface="inter-regular"/>
              </a:rPr>
              <a:t>Bayesian Linear Regression</a:t>
            </a:r>
          </a:p>
          <a:p>
            <a:pPr algn="just">
              <a:buFont typeface="Arial" panose="020B0604020202020204" pitchFamily="34" charset="0"/>
              <a:buChar char="•"/>
            </a:pPr>
            <a:r>
              <a:rPr lang="en-IN" b="0" i="0" dirty="0">
                <a:solidFill>
                  <a:srgbClr val="000000"/>
                </a:solidFill>
                <a:effectLst/>
                <a:latin typeface="inter-regular"/>
              </a:rPr>
              <a:t>Polynomial Regression</a:t>
            </a:r>
          </a:p>
          <a:p>
            <a:endParaRPr lang="en-IN" dirty="0"/>
          </a:p>
        </p:txBody>
      </p:sp>
    </p:spTree>
    <p:extLst>
      <p:ext uri="{BB962C8B-B14F-4D97-AF65-F5344CB8AC3E}">
        <p14:creationId xmlns:p14="http://schemas.microsoft.com/office/powerpoint/2010/main" val="3013231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F142A-2AD0-CA55-BC1D-4572CDCD1B86}"/>
              </a:ext>
            </a:extLst>
          </p:cNvPr>
          <p:cNvSpPr>
            <a:spLocks noGrp="1"/>
          </p:cNvSpPr>
          <p:nvPr>
            <p:ph type="title"/>
          </p:nvPr>
        </p:nvSpPr>
        <p:spPr/>
        <p:txBody>
          <a:bodyPr/>
          <a:lstStyle/>
          <a:p>
            <a:r>
              <a:rPr lang="en-IN" dirty="0"/>
              <a:t>Classification</a:t>
            </a:r>
          </a:p>
        </p:txBody>
      </p:sp>
      <p:sp>
        <p:nvSpPr>
          <p:cNvPr id="3" name="Content Placeholder 2">
            <a:extLst>
              <a:ext uri="{FF2B5EF4-FFF2-40B4-BE49-F238E27FC236}">
                <a16:creationId xmlns:a16="http://schemas.microsoft.com/office/drawing/2014/main" id="{EE277F7E-A711-B54F-682E-D2B4252F748B}"/>
              </a:ext>
            </a:extLst>
          </p:cNvPr>
          <p:cNvSpPr>
            <a:spLocks noGrp="1"/>
          </p:cNvSpPr>
          <p:nvPr>
            <p:ph idx="1"/>
          </p:nvPr>
        </p:nvSpPr>
        <p:spPr/>
        <p:txBody>
          <a:bodyPr/>
          <a:lstStyle/>
          <a:p>
            <a:pPr algn="just"/>
            <a:r>
              <a:rPr lang="en-IN" b="0" i="0" dirty="0">
                <a:solidFill>
                  <a:srgbClr val="333333"/>
                </a:solidFill>
                <a:effectLst/>
                <a:latin typeface="inter-regular"/>
              </a:rPr>
              <a:t>Classification algorithms are used when the output variable is categorical, which means there are two classes such as Yes-No, Male-Female, True-false, etc.</a:t>
            </a:r>
          </a:p>
          <a:p>
            <a:pPr marL="0" indent="0" algn="just">
              <a:buNone/>
            </a:pPr>
            <a:r>
              <a:rPr lang="en-IN" b="0" i="0" dirty="0">
                <a:solidFill>
                  <a:srgbClr val="333333"/>
                </a:solidFill>
                <a:effectLst/>
                <a:latin typeface="inter-regular"/>
              </a:rPr>
              <a:t>	Spam Filtering,</a:t>
            </a:r>
          </a:p>
          <a:p>
            <a:pPr algn="just">
              <a:buFont typeface="Arial" panose="020B0604020202020204" pitchFamily="34" charset="0"/>
              <a:buChar char="•"/>
            </a:pPr>
            <a:r>
              <a:rPr lang="en-IN" b="0" i="0" dirty="0">
                <a:solidFill>
                  <a:srgbClr val="000000"/>
                </a:solidFill>
                <a:effectLst/>
                <a:latin typeface="inter-regular"/>
              </a:rPr>
              <a:t>Random Forest</a:t>
            </a:r>
          </a:p>
          <a:p>
            <a:pPr algn="just">
              <a:buFont typeface="Arial" panose="020B0604020202020204" pitchFamily="34" charset="0"/>
              <a:buChar char="•"/>
            </a:pPr>
            <a:r>
              <a:rPr lang="en-IN" b="0" i="0" dirty="0">
                <a:solidFill>
                  <a:srgbClr val="000000"/>
                </a:solidFill>
                <a:effectLst/>
                <a:latin typeface="inter-regular"/>
              </a:rPr>
              <a:t>Decision Trees</a:t>
            </a:r>
          </a:p>
          <a:p>
            <a:pPr algn="just">
              <a:buFont typeface="Arial" panose="020B0604020202020204" pitchFamily="34" charset="0"/>
              <a:buChar char="•"/>
            </a:pPr>
            <a:r>
              <a:rPr lang="en-IN" b="0" i="0" dirty="0">
                <a:solidFill>
                  <a:srgbClr val="000000"/>
                </a:solidFill>
                <a:effectLst/>
                <a:latin typeface="inter-regular"/>
              </a:rPr>
              <a:t>Logistic Regression</a:t>
            </a:r>
          </a:p>
          <a:p>
            <a:pPr algn="just">
              <a:buFont typeface="Arial" panose="020B0604020202020204" pitchFamily="34" charset="0"/>
              <a:buChar char="•"/>
            </a:pPr>
            <a:r>
              <a:rPr lang="en-IN" b="0" i="0" dirty="0">
                <a:solidFill>
                  <a:srgbClr val="000000"/>
                </a:solidFill>
                <a:effectLst/>
                <a:latin typeface="inter-regular"/>
              </a:rPr>
              <a:t>Support vector Machines</a:t>
            </a:r>
          </a:p>
          <a:p>
            <a:endParaRPr lang="en-IN" dirty="0"/>
          </a:p>
        </p:txBody>
      </p:sp>
    </p:spTree>
    <p:extLst>
      <p:ext uri="{BB962C8B-B14F-4D97-AF65-F5344CB8AC3E}">
        <p14:creationId xmlns:p14="http://schemas.microsoft.com/office/powerpoint/2010/main" val="2315533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FD161-7AF4-ECA1-93C9-E68D303486C8}"/>
              </a:ext>
            </a:extLst>
          </p:cNvPr>
          <p:cNvSpPr>
            <a:spLocks noGrp="1"/>
          </p:cNvSpPr>
          <p:nvPr>
            <p:ph type="title"/>
          </p:nvPr>
        </p:nvSpPr>
        <p:spPr/>
        <p:txBody>
          <a:bodyPr/>
          <a:lstStyle/>
          <a:p>
            <a:r>
              <a:rPr lang="en-IN" dirty="0"/>
              <a:t>Advantages of Supervised learning:</a:t>
            </a:r>
          </a:p>
        </p:txBody>
      </p:sp>
      <p:sp>
        <p:nvSpPr>
          <p:cNvPr id="3" name="Content Placeholder 2">
            <a:extLst>
              <a:ext uri="{FF2B5EF4-FFF2-40B4-BE49-F238E27FC236}">
                <a16:creationId xmlns:a16="http://schemas.microsoft.com/office/drawing/2014/main" id="{2E2DFC29-A667-51EA-74A1-BD045C8AD545}"/>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With the help of supervised learning, the model can predict the output on the basis of prior experiences.</a:t>
            </a:r>
          </a:p>
          <a:p>
            <a:pPr algn="just">
              <a:buFont typeface="Arial" panose="020B0604020202020204" pitchFamily="34" charset="0"/>
              <a:buChar char="•"/>
            </a:pPr>
            <a:r>
              <a:rPr lang="en-IN" b="0" i="0" dirty="0">
                <a:solidFill>
                  <a:srgbClr val="000000"/>
                </a:solidFill>
                <a:effectLst/>
                <a:latin typeface="inter-regular"/>
              </a:rPr>
              <a:t>In supervised learning, we can have an exact idea about the classes of objects.</a:t>
            </a:r>
          </a:p>
          <a:p>
            <a:pPr algn="just">
              <a:buFont typeface="Arial" panose="020B0604020202020204" pitchFamily="34" charset="0"/>
              <a:buChar char="•"/>
            </a:pPr>
            <a:r>
              <a:rPr lang="en-IN" b="0" i="0" dirty="0">
                <a:solidFill>
                  <a:srgbClr val="000000"/>
                </a:solidFill>
                <a:effectLst/>
                <a:latin typeface="inter-regular"/>
              </a:rPr>
              <a:t>Supervised learning model helps us to solve various real-world problems such as </a:t>
            </a:r>
            <a:r>
              <a:rPr lang="en-IN" b="1" i="0" dirty="0">
                <a:solidFill>
                  <a:srgbClr val="000000"/>
                </a:solidFill>
                <a:effectLst/>
                <a:latin typeface="inter-bold"/>
              </a:rPr>
              <a:t>fraud detection, spam filtering</a:t>
            </a:r>
            <a:r>
              <a:rPr lang="en-IN" b="0" i="0" dirty="0">
                <a:solidFill>
                  <a:srgbClr val="000000"/>
                </a:solidFill>
                <a:effectLst/>
                <a:latin typeface="inter-regular"/>
              </a:rPr>
              <a:t>, etc.</a:t>
            </a:r>
          </a:p>
          <a:p>
            <a:endParaRPr lang="en-IN" dirty="0"/>
          </a:p>
        </p:txBody>
      </p:sp>
    </p:spTree>
    <p:extLst>
      <p:ext uri="{BB962C8B-B14F-4D97-AF65-F5344CB8AC3E}">
        <p14:creationId xmlns:p14="http://schemas.microsoft.com/office/powerpoint/2010/main" val="3689615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5C2C2-D23F-BBB5-7005-2EFE0ECFBB1D}"/>
              </a:ext>
            </a:extLst>
          </p:cNvPr>
          <p:cNvSpPr>
            <a:spLocks noGrp="1"/>
          </p:cNvSpPr>
          <p:nvPr>
            <p:ph type="title"/>
          </p:nvPr>
        </p:nvSpPr>
        <p:spPr/>
        <p:txBody>
          <a:bodyPr/>
          <a:lstStyle/>
          <a:p>
            <a:r>
              <a:rPr lang="en-IN" dirty="0"/>
              <a:t>Disadvantages of supervised learning:</a:t>
            </a:r>
          </a:p>
        </p:txBody>
      </p:sp>
      <p:sp>
        <p:nvSpPr>
          <p:cNvPr id="3" name="Content Placeholder 2">
            <a:extLst>
              <a:ext uri="{FF2B5EF4-FFF2-40B4-BE49-F238E27FC236}">
                <a16:creationId xmlns:a16="http://schemas.microsoft.com/office/drawing/2014/main" id="{6D2D449E-A3FF-2F63-DE20-8ED01607C27F}"/>
              </a:ext>
            </a:extLst>
          </p:cNvPr>
          <p:cNvSpPr>
            <a:spLocks noGrp="1"/>
          </p:cNvSpPr>
          <p:nvPr>
            <p:ph idx="1"/>
          </p:nvPr>
        </p:nvSpPr>
        <p:spPr/>
        <p:txBody>
          <a:bodyPr/>
          <a:lstStyle/>
          <a:p>
            <a:pPr algn="just">
              <a:buFont typeface="Arial" panose="020B0604020202020204" pitchFamily="34" charset="0"/>
              <a:buChar char="•"/>
            </a:pPr>
            <a:r>
              <a:rPr lang="en-IN" b="0" i="0" dirty="0">
                <a:solidFill>
                  <a:srgbClr val="000000"/>
                </a:solidFill>
                <a:effectLst/>
                <a:latin typeface="inter-regular"/>
              </a:rPr>
              <a:t>Supervised learning models are not suitable for handling complex tasks.</a:t>
            </a:r>
          </a:p>
          <a:p>
            <a:pPr algn="just">
              <a:buFont typeface="Arial" panose="020B0604020202020204" pitchFamily="34" charset="0"/>
              <a:buChar char="•"/>
            </a:pPr>
            <a:r>
              <a:rPr lang="en-IN" b="0" i="0" dirty="0">
                <a:solidFill>
                  <a:srgbClr val="000000"/>
                </a:solidFill>
                <a:effectLst/>
                <a:latin typeface="inter-regular"/>
              </a:rPr>
              <a:t>Supervised learning cannot predict the correct output if the test data is different from the training dataset.</a:t>
            </a:r>
          </a:p>
          <a:p>
            <a:pPr algn="just">
              <a:buFont typeface="Arial" panose="020B0604020202020204" pitchFamily="34" charset="0"/>
              <a:buChar char="•"/>
            </a:pPr>
            <a:r>
              <a:rPr lang="en-IN" b="0" i="0" dirty="0">
                <a:solidFill>
                  <a:srgbClr val="000000"/>
                </a:solidFill>
                <a:effectLst/>
                <a:latin typeface="inter-regular"/>
              </a:rPr>
              <a:t>Training required lots of computation time.</a:t>
            </a:r>
          </a:p>
          <a:p>
            <a:pPr algn="just">
              <a:buFont typeface="Arial" panose="020B0604020202020204" pitchFamily="34" charset="0"/>
              <a:buChar char="•"/>
            </a:pPr>
            <a:r>
              <a:rPr lang="en-IN" b="0" i="0" dirty="0">
                <a:solidFill>
                  <a:srgbClr val="000000"/>
                </a:solidFill>
                <a:effectLst/>
                <a:latin typeface="inter-regular"/>
              </a:rPr>
              <a:t>In supervised learning, we need enough knowledge about the classes of objects.</a:t>
            </a:r>
          </a:p>
          <a:p>
            <a:endParaRPr lang="en-IN" dirty="0"/>
          </a:p>
        </p:txBody>
      </p:sp>
    </p:spTree>
    <p:extLst>
      <p:ext uri="{BB962C8B-B14F-4D97-AF65-F5344CB8AC3E}">
        <p14:creationId xmlns:p14="http://schemas.microsoft.com/office/powerpoint/2010/main" val="2573189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05C9-19FC-E009-2CF3-B5D755C2249B}"/>
              </a:ext>
            </a:extLst>
          </p:cNvPr>
          <p:cNvSpPr>
            <a:spLocks noGrp="1"/>
          </p:cNvSpPr>
          <p:nvPr>
            <p:ph type="title"/>
          </p:nvPr>
        </p:nvSpPr>
        <p:spPr/>
        <p:txBody>
          <a:bodyPr/>
          <a:lstStyle/>
          <a:p>
            <a:r>
              <a:rPr lang="en-US" dirty="0"/>
              <a:t>Linear Regression</a:t>
            </a:r>
            <a:endParaRPr lang="en-IN" dirty="0"/>
          </a:p>
        </p:txBody>
      </p:sp>
      <p:sp>
        <p:nvSpPr>
          <p:cNvPr id="3" name="Content Placeholder 2">
            <a:extLst>
              <a:ext uri="{FF2B5EF4-FFF2-40B4-BE49-F238E27FC236}">
                <a16:creationId xmlns:a16="http://schemas.microsoft.com/office/drawing/2014/main" id="{CA927BB7-31B3-F0DE-BF82-62EBFB9E6A1C}"/>
              </a:ext>
            </a:extLst>
          </p:cNvPr>
          <p:cNvSpPr>
            <a:spLocks noGrp="1"/>
          </p:cNvSpPr>
          <p:nvPr>
            <p:ph idx="1"/>
          </p:nvPr>
        </p:nvSpPr>
        <p:spPr/>
        <p:txBody>
          <a:bodyPr/>
          <a:lstStyle/>
          <a:p>
            <a:r>
              <a:rPr lang="en-IN" b="0" i="0" dirty="0">
                <a:solidFill>
                  <a:srgbClr val="333333"/>
                </a:solidFill>
                <a:effectLst/>
                <a:latin typeface="inter-regular"/>
              </a:rPr>
              <a:t>Linear regression is one of the easiest and most popular Machine Learning algorithms.</a:t>
            </a:r>
          </a:p>
          <a:p>
            <a:endParaRPr lang="en-IN" dirty="0">
              <a:solidFill>
                <a:srgbClr val="333333"/>
              </a:solidFill>
              <a:latin typeface="inter-regular"/>
            </a:endParaRPr>
          </a:p>
          <a:p>
            <a:r>
              <a:rPr lang="en-IN" b="0" i="0" dirty="0">
                <a:solidFill>
                  <a:srgbClr val="333333"/>
                </a:solidFill>
                <a:effectLst/>
                <a:latin typeface="inter-regular"/>
              </a:rPr>
              <a:t>Linear regression makes predictions for continuous/real or numeric variables such as </a:t>
            </a:r>
            <a:r>
              <a:rPr lang="en-IN" b="1" i="0" dirty="0">
                <a:solidFill>
                  <a:srgbClr val="333333"/>
                </a:solidFill>
                <a:effectLst/>
                <a:latin typeface="inter-bold"/>
              </a:rPr>
              <a:t>sales, salary, age, product price,</a:t>
            </a:r>
            <a:r>
              <a:rPr lang="en-IN" b="0" i="0" dirty="0">
                <a:solidFill>
                  <a:srgbClr val="333333"/>
                </a:solidFill>
                <a:effectLst/>
                <a:latin typeface="inter-regular"/>
              </a:rPr>
              <a:t> etc.</a:t>
            </a:r>
          </a:p>
          <a:p>
            <a:endParaRPr lang="en-IN" dirty="0">
              <a:solidFill>
                <a:srgbClr val="333333"/>
              </a:solidFill>
              <a:latin typeface="inter-regular"/>
            </a:endParaRPr>
          </a:p>
          <a:p>
            <a:r>
              <a:rPr lang="en-IN" b="0" i="0" dirty="0">
                <a:solidFill>
                  <a:srgbClr val="333333"/>
                </a:solidFill>
                <a:effectLst/>
                <a:latin typeface="inter-regular"/>
              </a:rPr>
              <a:t>Linear regression algorithm shows a linear relationship between a dependent (y) and one or more </a:t>
            </a:r>
            <a:r>
              <a:rPr lang="en-IN" b="0" i="0">
                <a:solidFill>
                  <a:srgbClr val="333333"/>
                </a:solidFill>
                <a:effectLst/>
                <a:latin typeface="inter-regular"/>
              </a:rPr>
              <a:t>independent (x) </a:t>
            </a:r>
            <a:r>
              <a:rPr lang="en-IN" b="0" i="0" dirty="0">
                <a:solidFill>
                  <a:srgbClr val="333333"/>
                </a:solidFill>
                <a:effectLst/>
                <a:latin typeface="inter-regular"/>
              </a:rPr>
              <a:t>variables, hence called as linear regression. </a:t>
            </a:r>
          </a:p>
          <a:p>
            <a:endParaRPr lang="en-IN" dirty="0">
              <a:solidFill>
                <a:srgbClr val="333333"/>
              </a:solidFill>
              <a:latin typeface="inter-regular"/>
            </a:endParaRPr>
          </a:p>
          <a:p>
            <a:r>
              <a:rPr lang="en-IN" b="0" i="0" dirty="0">
                <a:solidFill>
                  <a:srgbClr val="333333"/>
                </a:solidFill>
                <a:effectLst/>
                <a:latin typeface="inter-regular"/>
              </a:rPr>
              <a:t>Since linear regression shows the linear relationship, which means it finds how the value of the dependent variable is changing according to the value of the independent variable.</a:t>
            </a:r>
          </a:p>
          <a:p>
            <a:endParaRPr lang="en-IN" dirty="0">
              <a:solidFill>
                <a:srgbClr val="333333"/>
              </a:solidFill>
              <a:latin typeface="inter-regular"/>
            </a:endParaRPr>
          </a:p>
          <a:p>
            <a:endParaRPr lang="en-IN" dirty="0"/>
          </a:p>
        </p:txBody>
      </p:sp>
    </p:spTree>
    <p:extLst>
      <p:ext uri="{BB962C8B-B14F-4D97-AF65-F5344CB8AC3E}">
        <p14:creationId xmlns:p14="http://schemas.microsoft.com/office/powerpoint/2010/main" val="4004871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AE6C-B845-0103-F3F5-0055FB8566A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012BEE7-BCA2-E941-1112-A3F7FC847EB1}"/>
              </a:ext>
            </a:extLst>
          </p:cNvPr>
          <p:cNvPicPr>
            <a:picLocks noGrp="1" noChangeAspect="1"/>
          </p:cNvPicPr>
          <p:nvPr>
            <p:ph idx="1"/>
          </p:nvPr>
        </p:nvPicPr>
        <p:blipFill>
          <a:blip r:embed="rId2"/>
          <a:stretch>
            <a:fillRect/>
          </a:stretch>
        </p:blipFill>
        <p:spPr>
          <a:xfrm>
            <a:off x="1485666" y="1806024"/>
            <a:ext cx="4498762" cy="3881437"/>
          </a:xfrm>
        </p:spPr>
      </p:pic>
    </p:spTree>
    <p:extLst>
      <p:ext uri="{BB962C8B-B14F-4D97-AF65-F5344CB8AC3E}">
        <p14:creationId xmlns:p14="http://schemas.microsoft.com/office/powerpoint/2010/main" val="2162383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63312-ECAB-D4E9-0420-00D82F0C94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BE903B-454A-ADE0-0048-EB14B55DC15F}"/>
              </a:ext>
            </a:extLst>
          </p:cNvPr>
          <p:cNvSpPr>
            <a:spLocks noGrp="1"/>
          </p:cNvSpPr>
          <p:nvPr>
            <p:ph idx="1"/>
          </p:nvPr>
        </p:nvSpPr>
        <p:spPr/>
        <p:txBody>
          <a:bodyPr/>
          <a:lstStyle/>
          <a:p>
            <a:pPr marL="0" indent="0">
              <a:buNone/>
            </a:pPr>
            <a:r>
              <a:rPr lang="en-US" dirty="0"/>
              <a:t>     y= a</a:t>
            </a:r>
            <a:r>
              <a:rPr lang="en-US" baseline="-25000" dirty="0"/>
              <a:t>0</a:t>
            </a:r>
            <a:r>
              <a:rPr lang="en-US" dirty="0"/>
              <a:t>+a</a:t>
            </a:r>
            <a:r>
              <a:rPr lang="en-US" baseline="-25000" dirty="0"/>
              <a:t>1</a:t>
            </a:r>
            <a:r>
              <a:rPr lang="en-US" dirty="0"/>
              <a:t>x+ </a:t>
            </a:r>
            <a:r>
              <a:rPr lang="el-GR" dirty="0"/>
              <a:t>ε</a:t>
            </a:r>
            <a:endParaRPr lang="en-US" dirty="0"/>
          </a:p>
          <a:p>
            <a:pPr marL="0" indent="0">
              <a:buNone/>
            </a:pPr>
            <a:endParaRPr lang="en-US" dirty="0"/>
          </a:p>
          <a:p>
            <a:pPr marL="0" indent="0">
              <a:buNone/>
            </a:pPr>
            <a:r>
              <a:rPr lang="en-IN" b="1" dirty="0"/>
              <a:t>Here</a:t>
            </a:r>
          </a:p>
          <a:p>
            <a:pPr marL="0" indent="0">
              <a:buNone/>
            </a:pPr>
            <a:endParaRPr lang="en-IN" b="1" dirty="0"/>
          </a:p>
          <a:p>
            <a:pPr marL="0" indent="0">
              <a:buNone/>
            </a:pPr>
            <a:r>
              <a:rPr lang="en-IN" dirty="0"/>
              <a:t>Y= Dependent Variable (Target Variable)</a:t>
            </a:r>
          </a:p>
          <a:p>
            <a:pPr marL="0" indent="0">
              <a:buNone/>
            </a:pPr>
            <a:r>
              <a:rPr lang="en-IN" dirty="0"/>
              <a:t>X= Independent Variable (predictor Variable)</a:t>
            </a:r>
          </a:p>
          <a:p>
            <a:pPr marL="0" indent="0">
              <a:buNone/>
            </a:pPr>
            <a:r>
              <a:rPr lang="en-IN" dirty="0"/>
              <a:t>a</a:t>
            </a:r>
            <a:r>
              <a:rPr lang="en-IN" baseline="-25000" dirty="0"/>
              <a:t>0</a:t>
            </a:r>
            <a:r>
              <a:rPr lang="en-IN" dirty="0"/>
              <a:t>= intercept of the line (Gives an additional degree of freedom)</a:t>
            </a:r>
          </a:p>
          <a:p>
            <a:pPr marL="0" indent="0">
              <a:buNone/>
            </a:pPr>
            <a:r>
              <a:rPr lang="en-IN" dirty="0"/>
              <a:t>a</a:t>
            </a:r>
            <a:r>
              <a:rPr lang="en-IN" baseline="-25000" dirty="0"/>
              <a:t>1</a:t>
            </a:r>
            <a:r>
              <a:rPr lang="en-IN" dirty="0"/>
              <a:t> = Linear regression coefficient (scale factor to each input value).</a:t>
            </a:r>
          </a:p>
          <a:p>
            <a:pPr marL="0" indent="0">
              <a:buNone/>
            </a:pPr>
            <a:r>
              <a:rPr lang="en-IN" dirty="0"/>
              <a:t>ε = random error</a:t>
            </a:r>
          </a:p>
        </p:txBody>
      </p:sp>
    </p:spTree>
    <p:extLst>
      <p:ext uri="{BB962C8B-B14F-4D97-AF65-F5344CB8AC3E}">
        <p14:creationId xmlns:p14="http://schemas.microsoft.com/office/powerpoint/2010/main" val="250417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61B19-ED21-E54B-8B58-ABADAA666142}"/>
              </a:ext>
            </a:extLst>
          </p:cNvPr>
          <p:cNvSpPr>
            <a:spLocks noGrp="1"/>
          </p:cNvSpPr>
          <p:nvPr>
            <p:ph type="title"/>
          </p:nvPr>
        </p:nvSpPr>
        <p:spPr/>
        <p:txBody>
          <a:bodyPr/>
          <a:lstStyle/>
          <a:p>
            <a:r>
              <a:rPr lang="en-US" dirty="0"/>
              <a:t>Naive Bayes Classifier</a:t>
            </a:r>
            <a:endParaRPr lang="en-IN" dirty="0"/>
          </a:p>
        </p:txBody>
      </p:sp>
      <p:sp>
        <p:nvSpPr>
          <p:cNvPr id="3" name="Content Placeholder 2">
            <a:extLst>
              <a:ext uri="{FF2B5EF4-FFF2-40B4-BE49-F238E27FC236}">
                <a16:creationId xmlns:a16="http://schemas.microsoft.com/office/drawing/2014/main" id="{22371122-10FD-ED72-BA03-4FD018D9B64B}"/>
              </a:ext>
            </a:extLst>
          </p:cNvPr>
          <p:cNvSpPr>
            <a:spLocks noGrp="1"/>
          </p:cNvSpPr>
          <p:nvPr>
            <p:ph idx="1"/>
          </p:nvPr>
        </p:nvSpPr>
        <p:spPr/>
        <p:txBody>
          <a:bodyPr>
            <a:normAutofit fontScale="92500"/>
          </a:bodyPr>
          <a:lstStyle/>
          <a:p>
            <a:r>
              <a:rPr lang="en-IN" b="0" i="0" dirty="0">
                <a:solidFill>
                  <a:srgbClr val="000000"/>
                </a:solidFill>
                <a:effectLst/>
                <a:latin typeface="inter-regular"/>
              </a:rPr>
              <a:t>Naïve Bayes algorithm is a supervised learning algorithm, which is based on </a:t>
            </a:r>
            <a:r>
              <a:rPr lang="en-IN" b="1" i="0" dirty="0">
                <a:solidFill>
                  <a:srgbClr val="000000"/>
                </a:solidFill>
                <a:effectLst/>
                <a:latin typeface="inter-bold"/>
              </a:rPr>
              <a:t>Bayes theorem</a:t>
            </a:r>
            <a:r>
              <a:rPr lang="en-IN" b="0" i="0" dirty="0">
                <a:solidFill>
                  <a:srgbClr val="000000"/>
                </a:solidFill>
                <a:effectLst/>
                <a:latin typeface="inter-regular"/>
              </a:rPr>
              <a:t> and used for solving classification problems.</a:t>
            </a:r>
          </a:p>
          <a:p>
            <a:r>
              <a:rPr lang="en-IN" b="0" i="0" dirty="0">
                <a:solidFill>
                  <a:srgbClr val="000000"/>
                </a:solidFill>
                <a:effectLst/>
                <a:latin typeface="inter-regular"/>
              </a:rPr>
              <a:t>It is mainly used in </a:t>
            </a:r>
            <a:r>
              <a:rPr lang="en-IN" b="0" i="1" dirty="0">
                <a:solidFill>
                  <a:srgbClr val="000000"/>
                </a:solidFill>
                <a:effectLst/>
                <a:latin typeface="inter-regular"/>
              </a:rPr>
              <a:t>text classification</a:t>
            </a:r>
            <a:r>
              <a:rPr lang="en-IN" b="0" i="0" dirty="0">
                <a:solidFill>
                  <a:srgbClr val="000000"/>
                </a:solidFill>
                <a:effectLst/>
                <a:latin typeface="inter-regular"/>
              </a:rPr>
              <a:t> </a:t>
            </a:r>
          </a:p>
          <a:p>
            <a:endParaRPr lang="en-IN" dirty="0">
              <a:solidFill>
                <a:srgbClr val="000000"/>
              </a:solidFill>
              <a:latin typeface="inter-regular"/>
            </a:endParaRPr>
          </a:p>
          <a:p>
            <a:r>
              <a:rPr lang="en-IN" b="0" i="0" dirty="0">
                <a:solidFill>
                  <a:srgbClr val="000000"/>
                </a:solidFill>
                <a:effectLst/>
                <a:latin typeface="inter-regular"/>
              </a:rPr>
              <a:t>Naïve Bayes Classifier is one of the simplest and most effective Classification algorithms that help in building fast machine learning models that can make quick predictions.</a:t>
            </a:r>
          </a:p>
          <a:p>
            <a:endParaRPr lang="en-IN" dirty="0">
              <a:solidFill>
                <a:srgbClr val="000000"/>
              </a:solidFill>
              <a:latin typeface="inter-regular"/>
            </a:endParaRPr>
          </a:p>
          <a:p>
            <a:r>
              <a:rPr lang="en-IN" b="1" i="0" dirty="0">
                <a:solidFill>
                  <a:srgbClr val="000000"/>
                </a:solidFill>
                <a:effectLst/>
                <a:latin typeface="inter-bold"/>
              </a:rPr>
              <a:t>It is a probabilistic classifier, which means it predicts results based on the probability of an object</a:t>
            </a:r>
            <a:r>
              <a:rPr lang="en-IN" b="0" i="0" dirty="0">
                <a:solidFill>
                  <a:srgbClr val="000000"/>
                </a:solidFill>
                <a:effectLst/>
                <a:latin typeface="inter-regular"/>
              </a:rPr>
              <a:t>.</a:t>
            </a:r>
          </a:p>
          <a:p>
            <a:endParaRPr lang="en-IN" dirty="0">
              <a:solidFill>
                <a:srgbClr val="000000"/>
              </a:solidFill>
              <a:latin typeface="inter-regular"/>
            </a:endParaRPr>
          </a:p>
          <a:p>
            <a:r>
              <a:rPr lang="en-IN" b="0" i="0" dirty="0">
                <a:solidFill>
                  <a:srgbClr val="000000"/>
                </a:solidFill>
                <a:effectLst/>
                <a:latin typeface="inter-regular"/>
              </a:rPr>
              <a:t>Example: Classifying Articles </a:t>
            </a:r>
          </a:p>
          <a:p>
            <a:endParaRPr lang="en-IN" dirty="0"/>
          </a:p>
        </p:txBody>
      </p:sp>
    </p:spTree>
    <p:extLst>
      <p:ext uri="{BB962C8B-B14F-4D97-AF65-F5344CB8AC3E}">
        <p14:creationId xmlns:p14="http://schemas.microsoft.com/office/powerpoint/2010/main" val="174548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05444-0392-B41D-ABAF-CA4505EC2353}"/>
              </a:ext>
            </a:extLst>
          </p:cNvPr>
          <p:cNvSpPr>
            <a:spLocks noGrp="1"/>
          </p:cNvSpPr>
          <p:nvPr>
            <p:ph type="title"/>
          </p:nvPr>
        </p:nvSpPr>
        <p:spPr/>
        <p:txBody>
          <a:bodyPr/>
          <a:lstStyle/>
          <a:p>
            <a:r>
              <a:rPr lang="en-IN" dirty="0"/>
              <a:t>Why is it called Naïve Bayes?</a:t>
            </a:r>
          </a:p>
        </p:txBody>
      </p:sp>
      <p:sp>
        <p:nvSpPr>
          <p:cNvPr id="3" name="Content Placeholder 2">
            <a:extLst>
              <a:ext uri="{FF2B5EF4-FFF2-40B4-BE49-F238E27FC236}">
                <a16:creationId xmlns:a16="http://schemas.microsoft.com/office/drawing/2014/main" id="{9EC88214-07FB-5C0C-807D-5D4FA385E4B3}"/>
              </a:ext>
            </a:extLst>
          </p:cNvPr>
          <p:cNvSpPr>
            <a:spLocks noGrp="1"/>
          </p:cNvSpPr>
          <p:nvPr>
            <p:ph idx="1"/>
          </p:nvPr>
        </p:nvSpPr>
        <p:spPr/>
        <p:txBody>
          <a:bodyPr/>
          <a:lstStyle/>
          <a:p>
            <a:r>
              <a:rPr lang="en-IN" b="0" i="0" dirty="0">
                <a:solidFill>
                  <a:srgbClr val="000000"/>
                </a:solidFill>
                <a:effectLst/>
                <a:latin typeface="inter-regular"/>
              </a:rPr>
              <a:t> It is called Naïve because it assumes that the occurrence of a certain feature is independent of the occurrence of other features.</a:t>
            </a:r>
          </a:p>
          <a:p>
            <a:endParaRPr lang="en-IN" dirty="0">
              <a:solidFill>
                <a:srgbClr val="000000"/>
              </a:solidFill>
              <a:latin typeface="inter-regular"/>
            </a:endParaRPr>
          </a:p>
          <a:p>
            <a:r>
              <a:rPr lang="en-IN" b="0" i="0" dirty="0">
                <a:solidFill>
                  <a:srgbClr val="000000"/>
                </a:solidFill>
                <a:effectLst/>
                <a:latin typeface="inter-regular"/>
              </a:rPr>
              <a:t>Such as if the fruit is identified based on </a:t>
            </a:r>
            <a:r>
              <a:rPr lang="en-IN" b="0" i="0" dirty="0" err="1">
                <a:solidFill>
                  <a:srgbClr val="000000"/>
                </a:solidFill>
                <a:effectLst/>
                <a:latin typeface="inter-regular"/>
              </a:rPr>
              <a:t>color</a:t>
            </a:r>
            <a:r>
              <a:rPr lang="en-IN" b="0" i="0" dirty="0">
                <a:solidFill>
                  <a:srgbClr val="000000"/>
                </a:solidFill>
                <a:effectLst/>
                <a:latin typeface="inter-regular"/>
              </a:rPr>
              <a:t>, shape, and taste, then red, spherical, and sweet fruit is recognized as an apple. Hence each feature individually contributes to identify that it is an apple without depending on each other.</a:t>
            </a:r>
          </a:p>
          <a:p>
            <a:endParaRPr lang="en-IN" dirty="0">
              <a:solidFill>
                <a:srgbClr val="000000"/>
              </a:solidFill>
              <a:latin typeface="inter-regular"/>
            </a:endParaRPr>
          </a:p>
          <a:p>
            <a:r>
              <a:rPr lang="en-IN" b="0" i="0" dirty="0">
                <a:solidFill>
                  <a:srgbClr val="000000"/>
                </a:solidFill>
                <a:effectLst/>
                <a:latin typeface="inter-regular"/>
              </a:rPr>
              <a:t>Hence each feature individually contributes to identify that it is an apple without depending on each other.</a:t>
            </a:r>
          </a:p>
          <a:p>
            <a:endParaRPr lang="en-IN" dirty="0">
              <a:solidFill>
                <a:srgbClr val="000000"/>
              </a:solidFill>
              <a:latin typeface="inter-regular"/>
            </a:endParaRPr>
          </a:p>
          <a:p>
            <a:r>
              <a:rPr lang="en-IN" b="1" i="0" dirty="0">
                <a:solidFill>
                  <a:srgbClr val="000000"/>
                </a:solidFill>
                <a:effectLst/>
                <a:latin typeface="inter-bold"/>
              </a:rPr>
              <a:t>Bayes</a:t>
            </a:r>
            <a:r>
              <a:rPr lang="en-IN" b="0" i="0" dirty="0">
                <a:solidFill>
                  <a:srgbClr val="000000"/>
                </a:solidFill>
                <a:effectLst/>
                <a:latin typeface="inter-regular"/>
              </a:rPr>
              <a:t>: It is called Bayes because it depends on the principle of </a:t>
            </a:r>
            <a:r>
              <a:rPr lang="en-IN" dirty="0">
                <a:solidFill>
                  <a:srgbClr val="000000"/>
                </a:solidFill>
                <a:latin typeface="inter-regular"/>
              </a:rPr>
              <a:t>Bayes' Theorem.</a:t>
            </a:r>
          </a:p>
          <a:p>
            <a:endParaRPr lang="en-IN" b="0" i="0" dirty="0">
              <a:solidFill>
                <a:srgbClr val="000000"/>
              </a:solidFill>
              <a:effectLst/>
              <a:latin typeface="inter-regular"/>
            </a:endParaRPr>
          </a:p>
          <a:p>
            <a:endParaRPr lang="en-IN" dirty="0">
              <a:solidFill>
                <a:srgbClr val="000000"/>
              </a:solidFill>
              <a:latin typeface="inter-regular"/>
            </a:endParaRPr>
          </a:p>
          <a:p>
            <a:endParaRPr lang="en-IN" dirty="0"/>
          </a:p>
        </p:txBody>
      </p:sp>
    </p:spTree>
    <p:extLst>
      <p:ext uri="{BB962C8B-B14F-4D97-AF65-F5344CB8AC3E}">
        <p14:creationId xmlns:p14="http://schemas.microsoft.com/office/powerpoint/2010/main" val="3329123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02507-63CF-022B-ABE6-82161106220D}"/>
              </a:ext>
            </a:extLst>
          </p:cNvPr>
          <p:cNvSpPr>
            <a:spLocks noGrp="1"/>
          </p:cNvSpPr>
          <p:nvPr>
            <p:ph type="title"/>
          </p:nvPr>
        </p:nvSpPr>
        <p:spPr/>
        <p:txBody>
          <a:bodyPr/>
          <a:lstStyle/>
          <a:p>
            <a:r>
              <a:rPr lang="en-US" dirty="0" err="1"/>
              <a:t>Baye’s</a:t>
            </a:r>
            <a:r>
              <a:rPr lang="en-US" dirty="0"/>
              <a:t> Theorem </a:t>
            </a:r>
            <a:endParaRPr lang="en-IN" dirty="0"/>
          </a:p>
        </p:txBody>
      </p:sp>
      <p:pic>
        <p:nvPicPr>
          <p:cNvPr id="5" name="Content Placeholder 4">
            <a:extLst>
              <a:ext uri="{FF2B5EF4-FFF2-40B4-BE49-F238E27FC236}">
                <a16:creationId xmlns:a16="http://schemas.microsoft.com/office/drawing/2014/main" id="{06473A6B-AA46-DDE6-9DEA-99CBA9876547}"/>
              </a:ext>
            </a:extLst>
          </p:cNvPr>
          <p:cNvPicPr>
            <a:picLocks noGrp="1" noChangeAspect="1"/>
          </p:cNvPicPr>
          <p:nvPr>
            <p:ph idx="1"/>
          </p:nvPr>
        </p:nvPicPr>
        <p:blipFill>
          <a:blip r:embed="rId2"/>
          <a:stretch>
            <a:fillRect/>
          </a:stretch>
        </p:blipFill>
        <p:spPr>
          <a:xfrm>
            <a:off x="957538" y="2233532"/>
            <a:ext cx="1990725" cy="619125"/>
          </a:xfrm>
        </p:spPr>
      </p:pic>
      <p:sp>
        <p:nvSpPr>
          <p:cNvPr id="7" name="TextBox 6">
            <a:extLst>
              <a:ext uri="{FF2B5EF4-FFF2-40B4-BE49-F238E27FC236}">
                <a16:creationId xmlns:a16="http://schemas.microsoft.com/office/drawing/2014/main" id="{B861FA92-60B7-4765-A7B2-8F57DFBFCC3B}"/>
              </a:ext>
            </a:extLst>
          </p:cNvPr>
          <p:cNvSpPr txBox="1"/>
          <p:nvPr/>
        </p:nvSpPr>
        <p:spPr>
          <a:xfrm>
            <a:off x="839755" y="3244334"/>
            <a:ext cx="6102220" cy="369332"/>
          </a:xfrm>
          <a:prstGeom prst="rect">
            <a:avLst/>
          </a:prstGeom>
          <a:noFill/>
        </p:spPr>
        <p:txBody>
          <a:bodyPr wrap="square">
            <a:spAutoFit/>
          </a:bodyPr>
          <a:lstStyle/>
          <a:p>
            <a:r>
              <a:rPr lang="en-IN" dirty="0">
                <a:solidFill>
                  <a:srgbClr val="202124"/>
                </a:solidFill>
                <a:latin typeface="arial" panose="020B0604020202020204" pitchFamily="34" charset="0"/>
              </a:rPr>
              <a:t>P(A|B) = The p</a:t>
            </a:r>
            <a:r>
              <a:rPr lang="en-IN" b="0" i="0" dirty="0">
                <a:solidFill>
                  <a:srgbClr val="202124"/>
                </a:solidFill>
                <a:effectLst/>
                <a:latin typeface="arial" panose="020B0604020202020204" pitchFamily="34" charset="0"/>
              </a:rPr>
              <a:t>robability of A given B is true</a:t>
            </a:r>
            <a:endParaRPr lang="en-IN" dirty="0"/>
          </a:p>
        </p:txBody>
      </p:sp>
      <p:sp>
        <p:nvSpPr>
          <p:cNvPr id="9" name="TextBox 8">
            <a:extLst>
              <a:ext uri="{FF2B5EF4-FFF2-40B4-BE49-F238E27FC236}">
                <a16:creationId xmlns:a16="http://schemas.microsoft.com/office/drawing/2014/main" id="{6F09039B-5299-3489-28DA-5BF9C53AD4F3}"/>
              </a:ext>
            </a:extLst>
          </p:cNvPr>
          <p:cNvSpPr txBox="1"/>
          <p:nvPr/>
        </p:nvSpPr>
        <p:spPr>
          <a:xfrm>
            <a:off x="839755" y="3902142"/>
            <a:ext cx="6102220" cy="369332"/>
          </a:xfrm>
          <a:prstGeom prst="rect">
            <a:avLst/>
          </a:prstGeom>
          <a:noFill/>
        </p:spPr>
        <p:txBody>
          <a:bodyPr wrap="square">
            <a:spAutoFit/>
          </a:bodyPr>
          <a:lstStyle/>
          <a:p>
            <a:r>
              <a:rPr lang="en-IN" dirty="0">
                <a:solidFill>
                  <a:srgbClr val="202124"/>
                </a:solidFill>
                <a:latin typeface="arial" panose="020B0604020202020204" pitchFamily="34" charset="0"/>
              </a:rPr>
              <a:t>P(B|A) = The probability</a:t>
            </a:r>
            <a:r>
              <a:rPr lang="en-IN" b="0" i="0" dirty="0">
                <a:solidFill>
                  <a:srgbClr val="202124"/>
                </a:solidFill>
                <a:effectLst/>
                <a:latin typeface="arial" panose="020B0604020202020204" pitchFamily="34" charset="0"/>
              </a:rPr>
              <a:t> of B given A is true</a:t>
            </a:r>
            <a:endParaRPr lang="en-IN" dirty="0"/>
          </a:p>
        </p:txBody>
      </p:sp>
      <p:sp>
        <p:nvSpPr>
          <p:cNvPr id="11" name="TextBox 10">
            <a:extLst>
              <a:ext uri="{FF2B5EF4-FFF2-40B4-BE49-F238E27FC236}">
                <a16:creationId xmlns:a16="http://schemas.microsoft.com/office/drawing/2014/main" id="{BBBC2129-F478-4164-85BE-7F6C990157B1}"/>
              </a:ext>
            </a:extLst>
          </p:cNvPr>
          <p:cNvSpPr txBox="1"/>
          <p:nvPr/>
        </p:nvSpPr>
        <p:spPr>
          <a:xfrm>
            <a:off x="839755" y="4559950"/>
            <a:ext cx="6102220" cy="369332"/>
          </a:xfrm>
          <a:prstGeom prst="rect">
            <a:avLst/>
          </a:prstGeom>
          <a:noFill/>
        </p:spPr>
        <p:txBody>
          <a:bodyPr wrap="square">
            <a:spAutoFit/>
          </a:bodyPr>
          <a:lstStyle/>
          <a:p>
            <a:r>
              <a:rPr lang="en-IN" dirty="0">
                <a:solidFill>
                  <a:srgbClr val="202124"/>
                </a:solidFill>
                <a:latin typeface="arial" panose="020B0604020202020204" pitchFamily="34" charset="0"/>
              </a:rPr>
              <a:t>P(A), P(B) = T</a:t>
            </a:r>
            <a:r>
              <a:rPr lang="en-IN" b="0" i="0" dirty="0">
                <a:solidFill>
                  <a:srgbClr val="202124"/>
                </a:solidFill>
                <a:effectLst/>
                <a:latin typeface="arial" panose="020B0604020202020204" pitchFamily="34" charset="0"/>
              </a:rPr>
              <a:t>he independent probabilities of A and B</a:t>
            </a:r>
            <a:endParaRPr lang="en-IN" dirty="0"/>
          </a:p>
        </p:txBody>
      </p:sp>
      <p:sp>
        <p:nvSpPr>
          <p:cNvPr id="13" name="TextBox 12">
            <a:extLst>
              <a:ext uri="{FF2B5EF4-FFF2-40B4-BE49-F238E27FC236}">
                <a16:creationId xmlns:a16="http://schemas.microsoft.com/office/drawing/2014/main" id="{12020689-B066-CA96-354A-6E22B4C9A819}"/>
              </a:ext>
            </a:extLst>
          </p:cNvPr>
          <p:cNvSpPr txBox="1"/>
          <p:nvPr/>
        </p:nvSpPr>
        <p:spPr>
          <a:xfrm>
            <a:off x="957538" y="5224370"/>
            <a:ext cx="6102220" cy="369332"/>
          </a:xfrm>
          <a:prstGeom prst="rect">
            <a:avLst/>
          </a:prstGeom>
          <a:noFill/>
        </p:spPr>
        <p:txBody>
          <a:bodyPr wrap="square">
            <a:spAutoFit/>
          </a:bodyPr>
          <a:lstStyle/>
          <a:p>
            <a:r>
              <a:rPr lang="en-IN" b="0" i="0" dirty="0">
                <a:solidFill>
                  <a:srgbClr val="202124"/>
                </a:solidFill>
                <a:effectLst/>
                <a:latin typeface="arial" panose="020B0604020202020204" pitchFamily="34" charset="0"/>
              </a:rPr>
              <a:t>A, B = Events</a:t>
            </a:r>
            <a:endParaRPr lang="en-IN" dirty="0"/>
          </a:p>
        </p:txBody>
      </p:sp>
    </p:spTree>
    <p:extLst>
      <p:ext uri="{BB962C8B-B14F-4D97-AF65-F5344CB8AC3E}">
        <p14:creationId xmlns:p14="http://schemas.microsoft.com/office/powerpoint/2010/main" val="501324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3C829-FBAA-5CA4-BD14-5529871F0981}"/>
              </a:ext>
            </a:extLst>
          </p:cNvPr>
          <p:cNvSpPr>
            <a:spLocks noGrp="1"/>
          </p:cNvSpPr>
          <p:nvPr>
            <p:ph type="title"/>
          </p:nvPr>
        </p:nvSpPr>
        <p:spPr/>
        <p:txBody>
          <a:bodyPr/>
          <a:lstStyle/>
          <a:p>
            <a:r>
              <a:rPr lang="en-US" dirty="0"/>
              <a:t>Problem</a:t>
            </a:r>
            <a:endParaRPr lang="en-IN" dirty="0"/>
          </a:p>
        </p:txBody>
      </p:sp>
      <p:sp>
        <p:nvSpPr>
          <p:cNvPr id="3" name="Content Placeholder 2">
            <a:extLst>
              <a:ext uri="{FF2B5EF4-FFF2-40B4-BE49-F238E27FC236}">
                <a16:creationId xmlns:a16="http://schemas.microsoft.com/office/drawing/2014/main" id="{9C809871-DA38-0B33-7124-E72564A550AF}"/>
              </a:ext>
            </a:extLst>
          </p:cNvPr>
          <p:cNvSpPr>
            <a:spLocks noGrp="1"/>
          </p:cNvSpPr>
          <p:nvPr>
            <p:ph idx="1"/>
          </p:nvPr>
        </p:nvSpPr>
        <p:spPr/>
        <p:txBody>
          <a:bodyPr/>
          <a:lstStyle/>
          <a:p>
            <a:r>
              <a:rPr lang="en-IN" b="1" i="0" dirty="0">
                <a:solidFill>
                  <a:srgbClr val="333333"/>
                </a:solidFill>
                <a:effectLst/>
                <a:latin typeface="inter-bold"/>
              </a:rPr>
              <a:t>Problem</a:t>
            </a:r>
            <a:r>
              <a:rPr lang="en-IN" b="0" i="0" dirty="0">
                <a:solidFill>
                  <a:srgbClr val="333333"/>
                </a:solidFill>
                <a:effectLst/>
                <a:latin typeface="inter-regular"/>
              </a:rPr>
              <a:t>: If the weather is sunny, then the Player should play or not?</a:t>
            </a:r>
          </a:p>
          <a:p>
            <a:endParaRPr lang="en-IN" dirty="0">
              <a:solidFill>
                <a:srgbClr val="333333"/>
              </a:solidFill>
              <a:latin typeface="inter-regular"/>
            </a:endParaRPr>
          </a:p>
        </p:txBody>
      </p:sp>
    </p:spTree>
    <p:extLst>
      <p:ext uri="{BB962C8B-B14F-4D97-AF65-F5344CB8AC3E}">
        <p14:creationId xmlns:p14="http://schemas.microsoft.com/office/powerpoint/2010/main" val="3657694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16691E-497F-E42D-023C-CA23E51E2AFF}"/>
              </a:ext>
            </a:extLst>
          </p:cNvPr>
          <p:cNvPicPr>
            <a:picLocks noGrp="1" noChangeAspect="1"/>
          </p:cNvPicPr>
          <p:nvPr>
            <p:ph idx="1"/>
          </p:nvPr>
        </p:nvPicPr>
        <p:blipFill>
          <a:blip r:embed="rId2"/>
          <a:stretch>
            <a:fillRect/>
          </a:stretch>
        </p:blipFill>
        <p:spPr>
          <a:xfrm>
            <a:off x="1184988" y="281322"/>
            <a:ext cx="7266112" cy="5760703"/>
          </a:xfrm>
        </p:spPr>
      </p:pic>
    </p:spTree>
    <p:extLst>
      <p:ext uri="{BB962C8B-B14F-4D97-AF65-F5344CB8AC3E}">
        <p14:creationId xmlns:p14="http://schemas.microsoft.com/office/powerpoint/2010/main" val="1926738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E2042-2D98-DEA0-D3B7-334F25CD2D3B}"/>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2F54DEEA-A1B6-585B-BDEB-2041A808CBB0}"/>
              </a:ext>
            </a:extLst>
          </p:cNvPr>
          <p:cNvPicPr>
            <a:picLocks noGrp="1" noChangeAspect="1"/>
          </p:cNvPicPr>
          <p:nvPr>
            <p:ph idx="1"/>
          </p:nvPr>
        </p:nvPicPr>
        <p:blipFill>
          <a:blip r:embed="rId2"/>
          <a:stretch>
            <a:fillRect/>
          </a:stretch>
        </p:blipFill>
        <p:spPr>
          <a:xfrm>
            <a:off x="677863" y="1772816"/>
            <a:ext cx="8596312" cy="3562147"/>
          </a:xfrm>
        </p:spPr>
      </p:pic>
    </p:spTree>
    <p:extLst>
      <p:ext uri="{BB962C8B-B14F-4D97-AF65-F5344CB8AC3E}">
        <p14:creationId xmlns:p14="http://schemas.microsoft.com/office/powerpoint/2010/main" val="149729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8855-1C96-55DD-9CEF-1A62EE4BDC0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C332600-FF44-CC4D-7FFE-CE66638C2665}"/>
              </a:ext>
            </a:extLst>
          </p:cNvPr>
          <p:cNvPicPr>
            <a:picLocks noGrp="1" noChangeAspect="1"/>
          </p:cNvPicPr>
          <p:nvPr>
            <p:ph idx="1"/>
          </p:nvPr>
        </p:nvPicPr>
        <p:blipFill>
          <a:blip r:embed="rId2"/>
          <a:stretch>
            <a:fillRect/>
          </a:stretch>
        </p:blipFill>
        <p:spPr>
          <a:xfrm>
            <a:off x="677863" y="1194318"/>
            <a:ext cx="8596312" cy="4109214"/>
          </a:xfrm>
        </p:spPr>
      </p:pic>
    </p:spTree>
    <p:extLst>
      <p:ext uri="{BB962C8B-B14F-4D97-AF65-F5344CB8AC3E}">
        <p14:creationId xmlns:p14="http://schemas.microsoft.com/office/powerpoint/2010/main" val="1987727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D0DE7-AD59-B539-82CD-D674E6A895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92C5FDB-671F-CE3A-B0CA-320C19D84FDB}"/>
              </a:ext>
            </a:extLst>
          </p:cNvPr>
          <p:cNvSpPr>
            <a:spLocks noGrp="1"/>
          </p:cNvSpPr>
          <p:nvPr>
            <p:ph idx="1"/>
          </p:nvPr>
        </p:nvSpPr>
        <p:spPr/>
        <p:txBody>
          <a:bodyPr/>
          <a:lstStyle/>
          <a:p>
            <a:pPr algn="just"/>
            <a:r>
              <a:rPr lang="en-IN" b="1" i="0" dirty="0">
                <a:solidFill>
                  <a:srgbClr val="333333"/>
                </a:solidFill>
                <a:effectLst/>
                <a:latin typeface="inter-bold"/>
              </a:rPr>
              <a:t>P(</a:t>
            </a:r>
            <a:r>
              <a:rPr lang="en-IN" b="1" i="0" dirty="0" err="1">
                <a:solidFill>
                  <a:srgbClr val="333333"/>
                </a:solidFill>
                <a:effectLst/>
                <a:latin typeface="inter-bold"/>
              </a:rPr>
              <a:t>Yes|Sunny</a:t>
            </a:r>
            <a:r>
              <a:rPr lang="en-IN" b="1" i="0" dirty="0">
                <a:solidFill>
                  <a:srgbClr val="333333"/>
                </a:solidFill>
                <a:effectLst/>
                <a:latin typeface="inter-bold"/>
              </a:rPr>
              <a:t>)= P(</a:t>
            </a:r>
            <a:r>
              <a:rPr lang="en-IN" b="1" i="0" dirty="0" err="1">
                <a:solidFill>
                  <a:srgbClr val="333333"/>
                </a:solidFill>
                <a:effectLst/>
                <a:latin typeface="inter-bold"/>
              </a:rPr>
              <a:t>Sunny|Yes</a:t>
            </a:r>
            <a:r>
              <a:rPr lang="en-IN" b="1" i="0" dirty="0">
                <a:solidFill>
                  <a:srgbClr val="333333"/>
                </a:solidFill>
                <a:effectLst/>
                <a:latin typeface="inter-bold"/>
              </a:rPr>
              <a:t>)*P(Yes)/P(Sunny)</a:t>
            </a:r>
            <a:endParaRPr lang="en-IN" b="0" i="0" dirty="0">
              <a:solidFill>
                <a:srgbClr val="333333"/>
              </a:solidFill>
              <a:effectLst/>
              <a:latin typeface="inter-regular"/>
            </a:endParaRPr>
          </a:p>
          <a:p>
            <a:pPr algn="just"/>
            <a:r>
              <a:rPr lang="en-IN" b="0" i="0" dirty="0">
                <a:solidFill>
                  <a:srgbClr val="333333"/>
                </a:solidFill>
                <a:effectLst/>
                <a:latin typeface="inter-regular"/>
              </a:rPr>
              <a:t>P(</a:t>
            </a:r>
            <a:r>
              <a:rPr lang="en-IN" b="0" i="0" dirty="0" err="1">
                <a:solidFill>
                  <a:srgbClr val="333333"/>
                </a:solidFill>
                <a:effectLst/>
                <a:latin typeface="inter-regular"/>
              </a:rPr>
              <a:t>Sunny|Yes</a:t>
            </a:r>
            <a:r>
              <a:rPr lang="en-IN" b="0" i="0" dirty="0">
                <a:solidFill>
                  <a:srgbClr val="333333"/>
                </a:solidFill>
                <a:effectLst/>
                <a:latin typeface="inter-regular"/>
              </a:rPr>
              <a:t>)= 3/10= 0.3</a:t>
            </a:r>
          </a:p>
          <a:p>
            <a:pPr algn="just"/>
            <a:r>
              <a:rPr lang="en-IN" b="0" i="0" dirty="0">
                <a:solidFill>
                  <a:srgbClr val="333333"/>
                </a:solidFill>
                <a:effectLst/>
                <a:latin typeface="inter-regular"/>
              </a:rPr>
              <a:t>P(Sunny)= 0.35</a:t>
            </a:r>
          </a:p>
          <a:p>
            <a:pPr algn="just"/>
            <a:r>
              <a:rPr lang="en-IN" b="0" i="0" dirty="0">
                <a:solidFill>
                  <a:srgbClr val="333333"/>
                </a:solidFill>
                <a:effectLst/>
                <a:latin typeface="inter-regular"/>
              </a:rPr>
              <a:t>P(Yes)=0.71</a:t>
            </a:r>
          </a:p>
          <a:p>
            <a:pPr algn="just"/>
            <a:r>
              <a:rPr lang="en-IN" b="0" i="0" dirty="0">
                <a:solidFill>
                  <a:srgbClr val="333333"/>
                </a:solidFill>
                <a:effectLst/>
                <a:latin typeface="inter-regular"/>
              </a:rPr>
              <a:t>So P(</a:t>
            </a:r>
            <a:r>
              <a:rPr lang="en-IN" b="0" i="0" dirty="0" err="1">
                <a:solidFill>
                  <a:srgbClr val="333333"/>
                </a:solidFill>
                <a:effectLst/>
                <a:latin typeface="inter-regular"/>
              </a:rPr>
              <a:t>Yes|Sunny</a:t>
            </a:r>
            <a:r>
              <a:rPr lang="en-IN" b="0" i="0" dirty="0">
                <a:solidFill>
                  <a:srgbClr val="333333"/>
                </a:solidFill>
                <a:effectLst/>
                <a:latin typeface="inter-regular"/>
              </a:rPr>
              <a:t>) = 0.3*0.71/0.35= </a:t>
            </a:r>
            <a:r>
              <a:rPr lang="en-IN" b="1" i="0" dirty="0">
                <a:solidFill>
                  <a:srgbClr val="333333"/>
                </a:solidFill>
                <a:effectLst/>
                <a:latin typeface="inter-bold"/>
              </a:rPr>
              <a:t>0.60</a:t>
            </a:r>
            <a:endParaRPr lang="en-IN" b="0" i="0" dirty="0">
              <a:solidFill>
                <a:srgbClr val="333333"/>
              </a:solidFill>
              <a:effectLst/>
              <a:latin typeface="inter-regular"/>
            </a:endParaRPr>
          </a:p>
          <a:p>
            <a:endParaRPr lang="en-IN" dirty="0"/>
          </a:p>
        </p:txBody>
      </p:sp>
    </p:spTree>
    <p:extLst>
      <p:ext uri="{BB962C8B-B14F-4D97-AF65-F5344CB8AC3E}">
        <p14:creationId xmlns:p14="http://schemas.microsoft.com/office/powerpoint/2010/main" val="1413222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6394D-44BA-3AEA-ADB5-3F1E988947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78220F4-1AB5-0A20-FA5D-1C4718B4A4C9}"/>
              </a:ext>
            </a:extLst>
          </p:cNvPr>
          <p:cNvSpPr>
            <a:spLocks noGrp="1"/>
          </p:cNvSpPr>
          <p:nvPr>
            <p:ph idx="1"/>
          </p:nvPr>
        </p:nvSpPr>
        <p:spPr/>
        <p:txBody>
          <a:bodyPr/>
          <a:lstStyle/>
          <a:p>
            <a:pPr algn="just"/>
            <a:r>
              <a:rPr lang="en-IN" b="1" i="0" dirty="0">
                <a:solidFill>
                  <a:srgbClr val="333333"/>
                </a:solidFill>
                <a:effectLst/>
                <a:latin typeface="inter-bold"/>
              </a:rPr>
              <a:t>P(</a:t>
            </a:r>
            <a:r>
              <a:rPr lang="en-IN" b="1" i="0" dirty="0" err="1">
                <a:solidFill>
                  <a:srgbClr val="333333"/>
                </a:solidFill>
                <a:effectLst/>
                <a:latin typeface="inter-bold"/>
              </a:rPr>
              <a:t>No|Sunny</a:t>
            </a:r>
            <a:r>
              <a:rPr lang="en-IN" b="1" i="0" dirty="0">
                <a:solidFill>
                  <a:srgbClr val="333333"/>
                </a:solidFill>
                <a:effectLst/>
                <a:latin typeface="inter-bold"/>
              </a:rPr>
              <a:t>)= P(</a:t>
            </a:r>
            <a:r>
              <a:rPr lang="en-IN" b="1" i="0" dirty="0" err="1">
                <a:solidFill>
                  <a:srgbClr val="333333"/>
                </a:solidFill>
                <a:effectLst/>
                <a:latin typeface="inter-bold"/>
              </a:rPr>
              <a:t>Sunny|No</a:t>
            </a:r>
            <a:r>
              <a:rPr lang="en-IN" b="1" i="0" dirty="0">
                <a:solidFill>
                  <a:srgbClr val="333333"/>
                </a:solidFill>
                <a:effectLst/>
                <a:latin typeface="inter-bold"/>
              </a:rPr>
              <a:t>)*P(No)/P(Sunny)</a:t>
            </a:r>
            <a:endParaRPr lang="en-IN" b="0" i="0" dirty="0">
              <a:solidFill>
                <a:srgbClr val="333333"/>
              </a:solidFill>
              <a:effectLst/>
              <a:latin typeface="inter-regular"/>
            </a:endParaRPr>
          </a:p>
          <a:p>
            <a:pPr algn="just"/>
            <a:r>
              <a:rPr lang="en-IN" b="0" i="0" dirty="0">
                <a:solidFill>
                  <a:srgbClr val="333333"/>
                </a:solidFill>
                <a:effectLst/>
                <a:latin typeface="inter-regular"/>
              </a:rPr>
              <a:t>P(</a:t>
            </a:r>
            <a:r>
              <a:rPr lang="en-IN" b="0" i="0" dirty="0" err="1">
                <a:solidFill>
                  <a:srgbClr val="333333"/>
                </a:solidFill>
                <a:effectLst/>
                <a:latin typeface="inter-regular"/>
              </a:rPr>
              <a:t>Sunny|NO</a:t>
            </a:r>
            <a:r>
              <a:rPr lang="en-IN" b="0" i="0" dirty="0">
                <a:solidFill>
                  <a:srgbClr val="333333"/>
                </a:solidFill>
                <a:effectLst/>
                <a:latin typeface="inter-regular"/>
              </a:rPr>
              <a:t>)= 2/4=0.5</a:t>
            </a:r>
          </a:p>
          <a:p>
            <a:pPr algn="just"/>
            <a:r>
              <a:rPr lang="en-IN" b="0" i="0" dirty="0">
                <a:solidFill>
                  <a:srgbClr val="333333"/>
                </a:solidFill>
                <a:effectLst/>
                <a:latin typeface="inter-regular"/>
              </a:rPr>
              <a:t>P(No)= 0.29</a:t>
            </a:r>
          </a:p>
          <a:p>
            <a:pPr algn="just"/>
            <a:r>
              <a:rPr lang="en-IN" b="0" i="0" dirty="0">
                <a:solidFill>
                  <a:srgbClr val="333333"/>
                </a:solidFill>
                <a:effectLst/>
                <a:latin typeface="inter-regular"/>
              </a:rPr>
              <a:t>P(Sunny)= 0.35</a:t>
            </a:r>
          </a:p>
          <a:p>
            <a:pPr algn="just"/>
            <a:r>
              <a:rPr lang="en-IN" b="0" i="0" dirty="0">
                <a:solidFill>
                  <a:srgbClr val="333333"/>
                </a:solidFill>
                <a:effectLst/>
                <a:latin typeface="inter-regular"/>
              </a:rPr>
              <a:t>So P(</a:t>
            </a:r>
            <a:r>
              <a:rPr lang="en-IN" b="0" i="0" dirty="0" err="1">
                <a:solidFill>
                  <a:srgbClr val="333333"/>
                </a:solidFill>
                <a:effectLst/>
                <a:latin typeface="inter-regular"/>
              </a:rPr>
              <a:t>No|Sunny</a:t>
            </a:r>
            <a:r>
              <a:rPr lang="en-IN" b="0" i="0" dirty="0">
                <a:solidFill>
                  <a:srgbClr val="333333"/>
                </a:solidFill>
                <a:effectLst/>
                <a:latin typeface="inter-regular"/>
              </a:rPr>
              <a:t>)= 0.5*0.29/0.35 = </a:t>
            </a:r>
            <a:r>
              <a:rPr lang="en-IN" b="1" i="0" dirty="0">
                <a:solidFill>
                  <a:srgbClr val="333333"/>
                </a:solidFill>
                <a:effectLst/>
                <a:latin typeface="inter-bold"/>
              </a:rPr>
              <a:t>0.41</a:t>
            </a:r>
            <a:endParaRPr lang="en-IN" b="0" i="0" dirty="0">
              <a:solidFill>
                <a:srgbClr val="333333"/>
              </a:solidFill>
              <a:effectLst/>
              <a:latin typeface="inter-regular"/>
            </a:endParaRPr>
          </a:p>
          <a:p>
            <a:endParaRPr lang="en-IN" dirty="0"/>
          </a:p>
          <a:p>
            <a:r>
              <a:rPr lang="en-IN" b="0" i="0" dirty="0">
                <a:solidFill>
                  <a:srgbClr val="333333"/>
                </a:solidFill>
                <a:effectLst/>
                <a:latin typeface="inter-regular"/>
              </a:rPr>
              <a:t>So as we can see from the above calculation that </a:t>
            </a:r>
            <a:r>
              <a:rPr lang="en-IN" b="1" i="0" dirty="0">
                <a:solidFill>
                  <a:srgbClr val="333333"/>
                </a:solidFill>
                <a:effectLst/>
                <a:latin typeface="inter-bold"/>
              </a:rPr>
              <a:t>P(</a:t>
            </a:r>
            <a:r>
              <a:rPr lang="en-IN" b="1" i="0" dirty="0" err="1">
                <a:solidFill>
                  <a:srgbClr val="333333"/>
                </a:solidFill>
                <a:effectLst/>
                <a:latin typeface="inter-bold"/>
              </a:rPr>
              <a:t>Yes|Sunny</a:t>
            </a:r>
            <a:r>
              <a:rPr lang="en-IN" b="1" i="0" dirty="0">
                <a:solidFill>
                  <a:srgbClr val="333333"/>
                </a:solidFill>
                <a:effectLst/>
                <a:latin typeface="inter-bold"/>
              </a:rPr>
              <a:t>) &gt; P(</a:t>
            </a:r>
            <a:r>
              <a:rPr lang="en-IN" b="1" i="0" dirty="0" err="1">
                <a:solidFill>
                  <a:srgbClr val="333333"/>
                </a:solidFill>
                <a:effectLst/>
                <a:latin typeface="inter-bold"/>
              </a:rPr>
              <a:t>No|Sunny</a:t>
            </a:r>
            <a:r>
              <a:rPr lang="en-IN" b="1" i="0" dirty="0">
                <a:solidFill>
                  <a:srgbClr val="333333"/>
                </a:solidFill>
                <a:effectLst/>
                <a:latin typeface="inter-bold"/>
              </a:rPr>
              <a:t>)</a:t>
            </a:r>
            <a:endParaRPr lang="en-IN" dirty="0"/>
          </a:p>
        </p:txBody>
      </p:sp>
    </p:spTree>
    <p:extLst>
      <p:ext uri="{BB962C8B-B14F-4D97-AF65-F5344CB8AC3E}">
        <p14:creationId xmlns:p14="http://schemas.microsoft.com/office/powerpoint/2010/main" val="2935085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6F85C-EE4C-008C-FADA-F8B2EBBF6850}"/>
              </a:ext>
            </a:extLst>
          </p:cNvPr>
          <p:cNvSpPr>
            <a:spLocks noGrp="1"/>
          </p:cNvSpPr>
          <p:nvPr>
            <p:ph type="title"/>
          </p:nvPr>
        </p:nvSpPr>
        <p:spPr/>
        <p:txBody>
          <a:bodyPr/>
          <a:lstStyle/>
          <a:p>
            <a:r>
              <a:rPr lang="en-US" dirty="0"/>
              <a:t>KNN( K–Nearest Neighbor)</a:t>
            </a:r>
            <a:endParaRPr lang="en-IN" dirty="0"/>
          </a:p>
        </p:txBody>
      </p:sp>
      <p:sp>
        <p:nvSpPr>
          <p:cNvPr id="3" name="Content Placeholder 2">
            <a:extLst>
              <a:ext uri="{FF2B5EF4-FFF2-40B4-BE49-F238E27FC236}">
                <a16:creationId xmlns:a16="http://schemas.microsoft.com/office/drawing/2014/main" id="{BDAE4AA9-2FFB-7912-F737-9B809A89C0C8}"/>
              </a:ext>
            </a:extLst>
          </p:cNvPr>
          <p:cNvSpPr>
            <a:spLocks noGrp="1"/>
          </p:cNvSpPr>
          <p:nvPr>
            <p:ph idx="1"/>
          </p:nvPr>
        </p:nvSpPr>
        <p:spPr/>
        <p:txBody>
          <a:bodyPr>
            <a:normAutofit lnSpcReduction="10000"/>
          </a:bodyPr>
          <a:lstStyle/>
          <a:p>
            <a:r>
              <a:rPr lang="en-IN" b="0" i="0" dirty="0">
                <a:solidFill>
                  <a:srgbClr val="000000"/>
                </a:solidFill>
                <a:effectLst/>
                <a:latin typeface="inter-regular"/>
              </a:rPr>
              <a:t>K-Nearest Neighbour is one of the simplest Machine Learning algorithms based on Supervised Learning techniques.</a:t>
            </a:r>
          </a:p>
          <a:p>
            <a:endParaRPr lang="en-IN" dirty="0">
              <a:solidFill>
                <a:srgbClr val="000000"/>
              </a:solidFill>
              <a:latin typeface="inter-regular"/>
            </a:endParaRPr>
          </a:p>
          <a:p>
            <a:r>
              <a:rPr lang="en-IN" b="0" i="0" dirty="0">
                <a:solidFill>
                  <a:srgbClr val="000000"/>
                </a:solidFill>
                <a:effectLst/>
                <a:latin typeface="inter-regular"/>
              </a:rPr>
              <a:t> The K-NN algorithm assumes the similarity between the new case/data and available cases and puts the new case into the category that is most similar to the available categories.</a:t>
            </a:r>
          </a:p>
          <a:p>
            <a:endParaRPr lang="en-IN" dirty="0">
              <a:solidFill>
                <a:srgbClr val="000000"/>
              </a:solidFill>
              <a:latin typeface="inter-regular"/>
            </a:endParaRPr>
          </a:p>
          <a:p>
            <a:r>
              <a:rPr lang="en-IN" dirty="0">
                <a:solidFill>
                  <a:srgbClr val="000000"/>
                </a:solidFill>
                <a:latin typeface="inter-regular"/>
              </a:rPr>
              <a:t> The KNN Algorithm is used for pattern recognition, data mining, and intrusion detection.</a:t>
            </a:r>
          </a:p>
          <a:p>
            <a:endParaRPr lang="en-IN" dirty="0">
              <a:solidFill>
                <a:srgbClr val="000000"/>
              </a:solidFill>
              <a:latin typeface="inter-regular"/>
            </a:endParaRPr>
          </a:p>
          <a:p>
            <a:r>
              <a:rPr lang="en-IN" dirty="0">
                <a:solidFill>
                  <a:srgbClr val="000000"/>
                </a:solidFill>
                <a:latin typeface="inter-regular"/>
              </a:rPr>
              <a:t>The K-NN algorithm works by finding the K nearest </a:t>
            </a:r>
            <a:r>
              <a:rPr lang="en-IN" dirty="0" err="1">
                <a:solidFill>
                  <a:srgbClr val="000000"/>
                </a:solidFill>
                <a:latin typeface="inter-regular"/>
              </a:rPr>
              <a:t>neighbors</a:t>
            </a:r>
            <a:r>
              <a:rPr lang="en-IN" dirty="0">
                <a:solidFill>
                  <a:srgbClr val="000000"/>
                </a:solidFill>
                <a:latin typeface="inter-regular"/>
              </a:rPr>
              <a:t> to a given data point based on a distance metric, such as Euclidean distance.</a:t>
            </a:r>
          </a:p>
          <a:p>
            <a:endParaRPr lang="en-IN" dirty="0">
              <a:solidFill>
                <a:srgbClr val="000000"/>
              </a:solidFill>
              <a:latin typeface="inter-regular"/>
            </a:endParaRPr>
          </a:p>
          <a:p>
            <a:endParaRPr lang="en-IN" dirty="0">
              <a:solidFill>
                <a:srgbClr val="000000"/>
              </a:solidFill>
              <a:latin typeface="inter-regular"/>
            </a:endParaRPr>
          </a:p>
          <a:p>
            <a:endParaRPr lang="en-IN" dirty="0">
              <a:solidFill>
                <a:srgbClr val="000000"/>
              </a:solidFill>
              <a:latin typeface="inter-regular"/>
            </a:endParaRPr>
          </a:p>
          <a:p>
            <a:endParaRPr lang="en-IN" dirty="0">
              <a:solidFill>
                <a:srgbClr val="000000"/>
              </a:solidFill>
              <a:latin typeface="inter-regular"/>
            </a:endParaRPr>
          </a:p>
          <a:p>
            <a:endParaRPr lang="en-IN" b="0" i="0" dirty="0">
              <a:solidFill>
                <a:srgbClr val="000000"/>
              </a:solidFill>
              <a:effectLst/>
              <a:latin typeface="inter-regular"/>
            </a:endParaRPr>
          </a:p>
          <a:p>
            <a:endParaRPr lang="en-IN" dirty="0"/>
          </a:p>
          <a:p>
            <a:endParaRPr lang="en-IN" dirty="0"/>
          </a:p>
        </p:txBody>
      </p:sp>
    </p:spTree>
    <p:extLst>
      <p:ext uri="{BB962C8B-B14F-4D97-AF65-F5344CB8AC3E}">
        <p14:creationId xmlns:p14="http://schemas.microsoft.com/office/powerpoint/2010/main" val="3977326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6451B-5B16-42BB-A791-653098CEC5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371C0B5-A4E6-D5C0-87DD-898633160FA1}"/>
              </a:ext>
            </a:extLst>
          </p:cNvPr>
          <p:cNvSpPr>
            <a:spLocks noGrp="1"/>
          </p:cNvSpPr>
          <p:nvPr>
            <p:ph idx="1"/>
          </p:nvPr>
        </p:nvSpPr>
        <p:spPr/>
        <p:txBody>
          <a:bodyPr/>
          <a:lstStyle/>
          <a:p>
            <a:r>
              <a:rPr lang="en-IN" dirty="0">
                <a:solidFill>
                  <a:srgbClr val="000000"/>
                </a:solidFill>
                <a:latin typeface="inter-regular"/>
              </a:rPr>
              <a:t>It is also called a</a:t>
            </a:r>
            <a:r>
              <a:rPr lang="en-IN" b="1" dirty="0">
                <a:solidFill>
                  <a:srgbClr val="000000"/>
                </a:solidFill>
                <a:latin typeface="inter-regular"/>
              </a:rPr>
              <a:t> lazy learner algorithm </a:t>
            </a:r>
            <a:r>
              <a:rPr lang="en-IN" dirty="0">
                <a:solidFill>
                  <a:srgbClr val="000000"/>
                </a:solidFill>
                <a:latin typeface="inter-regular"/>
              </a:rPr>
              <a:t>because it does not learn from the training set immediately instead it stores the dataset and at the time of classification, it performs an action on the dataset.</a:t>
            </a:r>
          </a:p>
          <a:p>
            <a:endParaRPr lang="en-IN" dirty="0">
              <a:solidFill>
                <a:srgbClr val="000000"/>
              </a:solidFill>
              <a:latin typeface="inter-regular"/>
            </a:endParaRPr>
          </a:p>
          <a:p>
            <a:r>
              <a:rPr lang="en-IN" dirty="0">
                <a:solidFill>
                  <a:srgbClr val="000000"/>
                </a:solidFill>
                <a:latin typeface="inter-regular"/>
              </a:rPr>
              <a:t>The KNN algorithm at the training phase just stores the dataset and when it gets new data, then it classifies that data into a category that is much similar to the new data.</a:t>
            </a:r>
          </a:p>
          <a:p>
            <a:endParaRPr lang="en-IN" dirty="0">
              <a:solidFill>
                <a:srgbClr val="000000"/>
              </a:solidFill>
              <a:latin typeface="inter-regular"/>
            </a:endParaRPr>
          </a:p>
          <a:p>
            <a:r>
              <a:rPr lang="en-IN" dirty="0">
                <a:solidFill>
                  <a:srgbClr val="000000"/>
                </a:solidFill>
                <a:latin typeface="inter-regular"/>
              </a:rPr>
              <a:t>K-NN is a non-parametric algorithm, which means it does not make any assumption on underlying data.</a:t>
            </a:r>
          </a:p>
          <a:p>
            <a:endParaRPr lang="en-IN" dirty="0">
              <a:solidFill>
                <a:srgbClr val="000000"/>
              </a:solidFill>
              <a:latin typeface="inter-regular"/>
            </a:endParaRPr>
          </a:p>
          <a:p>
            <a:endParaRPr lang="en-IN" dirty="0">
              <a:solidFill>
                <a:srgbClr val="000000"/>
              </a:solidFill>
              <a:latin typeface="inter-regular"/>
            </a:endParaRPr>
          </a:p>
          <a:p>
            <a:endParaRPr lang="en-IN" dirty="0">
              <a:solidFill>
                <a:srgbClr val="000000"/>
              </a:solidFill>
              <a:latin typeface="inter-regular"/>
            </a:endParaRPr>
          </a:p>
          <a:p>
            <a:endParaRPr lang="en-IN" dirty="0">
              <a:solidFill>
                <a:srgbClr val="000000"/>
              </a:solidFill>
              <a:latin typeface="inter-regular"/>
            </a:endParaRPr>
          </a:p>
          <a:p>
            <a:endParaRPr lang="en-IN" dirty="0"/>
          </a:p>
        </p:txBody>
      </p:sp>
    </p:spTree>
    <p:extLst>
      <p:ext uri="{BB962C8B-B14F-4D97-AF65-F5344CB8AC3E}">
        <p14:creationId xmlns:p14="http://schemas.microsoft.com/office/powerpoint/2010/main" val="890453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9AAD-5235-08F5-E814-B4312377F487}"/>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EA6038F4-90B8-3F03-F2FC-C88EA50BEB13}"/>
              </a:ext>
            </a:extLst>
          </p:cNvPr>
          <p:cNvSpPr>
            <a:spLocks noGrp="1"/>
          </p:cNvSpPr>
          <p:nvPr>
            <p:ph idx="1"/>
          </p:nvPr>
        </p:nvSpPr>
        <p:spPr>
          <a:xfrm>
            <a:off x="677334" y="1492899"/>
            <a:ext cx="8596668" cy="4548464"/>
          </a:xfrm>
        </p:spPr>
        <p:txBody>
          <a:bodyPr/>
          <a:lstStyle/>
          <a:p>
            <a:pPr algn="just"/>
            <a:r>
              <a:rPr lang="en-IN" b="0" i="0" dirty="0">
                <a:solidFill>
                  <a:srgbClr val="000000"/>
                </a:solidFill>
                <a:effectLst/>
                <a:latin typeface="inter-regular"/>
              </a:rPr>
              <a:t>Suppose, we have an image of a creature that looks similar to cat and dog, but we want to know whether it is a cat or a dog. So for this identification, we can use the KNN algorithm, as it works on a similarity measure. Our KNN model will find the similar features of the new data set to the cats and dogs images and based on the most similar features it will put it in either the cat or dog category.</a:t>
            </a:r>
          </a:p>
          <a:p>
            <a:pPr algn="just"/>
            <a:endParaRPr lang="en-IN" dirty="0">
              <a:solidFill>
                <a:srgbClr val="000000"/>
              </a:solidFill>
              <a:latin typeface="inter-regular"/>
            </a:endParaRPr>
          </a:p>
          <a:p>
            <a:pPr algn="just"/>
            <a:endParaRPr lang="en-IN" b="0" i="0" dirty="0">
              <a:solidFill>
                <a:srgbClr val="000000"/>
              </a:solidFill>
              <a:effectLst/>
              <a:latin typeface="inter-regular"/>
            </a:endParaRPr>
          </a:p>
          <a:p>
            <a:pPr algn="just">
              <a:buFont typeface="Arial" panose="020B0604020202020204" pitchFamily="34" charset="0"/>
              <a:buChar char="•"/>
            </a:pPr>
            <a:endParaRPr lang="en-IN" dirty="0">
              <a:solidFill>
                <a:srgbClr val="000000"/>
              </a:solidFill>
              <a:latin typeface="inter-regular"/>
            </a:endParaRPr>
          </a:p>
          <a:p>
            <a:pPr marL="0" indent="0">
              <a:buNone/>
            </a:pPr>
            <a:endParaRPr lang="en-IN" dirty="0"/>
          </a:p>
        </p:txBody>
      </p:sp>
      <p:pic>
        <p:nvPicPr>
          <p:cNvPr id="5" name="Picture 4">
            <a:extLst>
              <a:ext uri="{FF2B5EF4-FFF2-40B4-BE49-F238E27FC236}">
                <a16:creationId xmlns:a16="http://schemas.microsoft.com/office/drawing/2014/main" id="{710BBB08-3EF1-A4F1-90C4-DC8ED9BB8F1E}"/>
              </a:ext>
            </a:extLst>
          </p:cNvPr>
          <p:cNvPicPr>
            <a:picLocks noChangeAspect="1"/>
          </p:cNvPicPr>
          <p:nvPr/>
        </p:nvPicPr>
        <p:blipFill>
          <a:blip r:embed="rId2"/>
          <a:stretch>
            <a:fillRect/>
          </a:stretch>
        </p:blipFill>
        <p:spPr>
          <a:xfrm>
            <a:off x="1519334" y="3248227"/>
            <a:ext cx="5991808" cy="2887719"/>
          </a:xfrm>
          <a:prstGeom prst="rect">
            <a:avLst/>
          </a:prstGeom>
        </p:spPr>
      </p:pic>
    </p:spTree>
    <p:extLst>
      <p:ext uri="{BB962C8B-B14F-4D97-AF65-F5344CB8AC3E}">
        <p14:creationId xmlns:p14="http://schemas.microsoft.com/office/powerpoint/2010/main" val="2357834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31800-27B8-27F1-4CEA-3E77312C0C08}"/>
              </a:ext>
            </a:extLst>
          </p:cNvPr>
          <p:cNvSpPr>
            <a:spLocks noGrp="1"/>
          </p:cNvSpPr>
          <p:nvPr>
            <p:ph type="title"/>
          </p:nvPr>
        </p:nvSpPr>
        <p:spPr/>
        <p:txBody>
          <a:bodyPr/>
          <a:lstStyle/>
          <a:p>
            <a:r>
              <a:rPr lang="en-IN" dirty="0"/>
              <a:t>Why do we need a K-NN Algorithm?</a:t>
            </a:r>
          </a:p>
        </p:txBody>
      </p:sp>
      <p:sp>
        <p:nvSpPr>
          <p:cNvPr id="3" name="Content Placeholder 2">
            <a:extLst>
              <a:ext uri="{FF2B5EF4-FFF2-40B4-BE49-F238E27FC236}">
                <a16:creationId xmlns:a16="http://schemas.microsoft.com/office/drawing/2014/main" id="{DD30932F-98D3-DC36-7DB2-48839048C6AD}"/>
              </a:ext>
            </a:extLst>
          </p:cNvPr>
          <p:cNvSpPr>
            <a:spLocks noGrp="1"/>
          </p:cNvSpPr>
          <p:nvPr>
            <p:ph idx="1"/>
          </p:nvPr>
        </p:nvSpPr>
        <p:spPr>
          <a:xfrm>
            <a:off x="677334" y="1707503"/>
            <a:ext cx="8596668" cy="4333860"/>
          </a:xfrm>
        </p:spPr>
        <p:txBody>
          <a:bodyPr/>
          <a:lstStyle/>
          <a:p>
            <a:r>
              <a:rPr lang="en-IN" b="0" i="0" dirty="0">
                <a:solidFill>
                  <a:srgbClr val="333333"/>
                </a:solidFill>
                <a:effectLst/>
                <a:latin typeface="inter-regular"/>
              </a:rPr>
              <a:t>Suppose there are two categories, i.e., Category A and Category B, and we have a new data point x1, so this data point will lie in which of these categories. To solve this type of problem, we need a K-NN algorithm. With the help of K-NN, we can easily identify the category or class of a particular dataset. </a:t>
            </a:r>
          </a:p>
          <a:p>
            <a:endParaRPr lang="en-IN" dirty="0">
              <a:solidFill>
                <a:srgbClr val="333333"/>
              </a:solidFill>
              <a:latin typeface="inter-regular"/>
            </a:endParaRPr>
          </a:p>
          <a:p>
            <a:endParaRPr lang="en-IN" dirty="0"/>
          </a:p>
        </p:txBody>
      </p:sp>
      <p:pic>
        <p:nvPicPr>
          <p:cNvPr id="5" name="Picture 4">
            <a:extLst>
              <a:ext uri="{FF2B5EF4-FFF2-40B4-BE49-F238E27FC236}">
                <a16:creationId xmlns:a16="http://schemas.microsoft.com/office/drawing/2014/main" id="{84C361D0-827A-5727-F221-8F4EB7935399}"/>
              </a:ext>
            </a:extLst>
          </p:cNvPr>
          <p:cNvPicPr>
            <a:picLocks noChangeAspect="1"/>
          </p:cNvPicPr>
          <p:nvPr/>
        </p:nvPicPr>
        <p:blipFill>
          <a:blip r:embed="rId2"/>
          <a:stretch>
            <a:fillRect/>
          </a:stretch>
        </p:blipFill>
        <p:spPr>
          <a:xfrm>
            <a:off x="1408119" y="3028303"/>
            <a:ext cx="6737506" cy="3307054"/>
          </a:xfrm>
          <a:prstGeom prst="rect">
            <a:avLst/>
          </a:prstGeom>
        </p:spPr>
      </p:pic>
    </p:spTree>
    <p:extLst>
      <p:ext uri="{BB962C8B-B14F-4D97-AF65-F5344CB8AC3E}">
        <p14:creationId xmlns:p14="http://schemas.microsoft.com/office/powerpoint/2010/main" val="2445726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7A80-34FF-5963-B8C9-4F33C419FA19}"/>
              </a:ext>
            </a:extLst>
          </p:cNvPr>
          <p:cNvSpPr>
            <a:spLocks noGrp="1"/>
          </p:cNvSpPr>
          <p:nvPr>
            <p:ph type="title"/>
          </p:nvPr>
        </p:nvSpPr>
        <p:spPr/>
        <p:txBody>
          <a:bodyPr/>
          <a:lstStyle/>
          <a:p>
            <a:r>
              <a:rPr lang="en-US" dirty="0"/>
              <a:t>Problem</a:t>
            </a:r>
            <a:endParaRPr lang="en-IN" dirty="0"/>
          </a:p>
        </p:txBody>
      </p:sp>
      <p:pic>
        <p:nvPicPr>
          <p:cNvPr id="5" name="Content Placeholder 4">
            <a:extLst>
              <a:ext uri="{FF2B5EF4-FFF2-40B4-BE49-F238E27FC236}">
                <a16:creationId xmlns:a16="http://schemas.microsoft.com/office/drawing/2014/main" id="{A7DB2DF3-AEF8-3474-1333-1BFB4CC6D7BF}"/>
              </a:ext>
            </a:extLst>
          </p:cNvPr>
          <p:cNvPicPr>
            <a:picLocks noGrp="1" noChangeAspect="1"/>
          </p:cNvPicPr>
          <p:nvPr>
            <p:ph idx="1"/>
          </p:nvPr>
        </p:nvPicPr>
        <p:blipFill>
          <a:blip r:embed="rId2"/>
          <a:stretch>
            <a:fillRect/>
          </a:stretch>
        </p:blipFill>
        <p:spPr>
          <a:xfrm>
            <a:off x="1792258" y="2748416"/>
            <a:ext cx="5098560" cy="3881437"/>
          </a:xfrm>
        </p:spPr>
      </p:pic>
      <p:sp>
        <p:nvSpPr>
          <p:cNvPr id="7" name="TextBox 6">
            <a:extLst>
              <a:ext uri="{FF2B5EF4-FFF2-40B4-BE49-F238E27FC236}">
                <a16:creationId xmlns:a16="http://schemas.microsoft.com/office/drawing/2014/main" id="{275BB193-D3A8-FE36-73FC-71732E9354C1}"/>
              </a:ext>
            </a:extLst>
          </p:cNvPr>
          <p:cNvSpPr txBox="1"/>
          <p:nvPr/>
        </p:nvSpPr>
        <p:spPr>
          <a:xfrm>
            <a:off x="961053" y="2016242"/>
            <a:ext cx="6102220" cy="646331"/>
          </a:xfrm>
          <a:prstGeom prst="rect">
            <a:avLst/>
          </a:prstGeom>
          <a:noFill/>
        </p:spPr>
        <p:txBody>
          <a:bodyPr wrap="square">
            <a:spAutoFit/>
          </a:bodyPr>
          <a:lstStyle/>
          <a:p>
            <a:r>
              <a:rPr lang="en-IN" b="0" i="0" dirty="0">
                <a:solidFill>
                  <a:srgbClr val="333333"/>
                </a:solidFill>
                <a:effectLst/>
                <a:latin typeface="inter-regular"/>
              </a:rPr>
              <a:t>Suppose we have a new data point and we need to put it in the required category. Consider the below image:</a:t>
            </a:r>
            <a:endParaRPr lang="en-IN" dirty="0"/>
          </a:p>
        </p:txBody>
      </p:sp>
    </p:spTree>
    <p:extLst>
      <p:ext uri="{BB962C8B-B14F-4D97-AF65-F5344CB8AC3E}">
        <p14:creationId xmlns:p14="http://schemas.microsoft.com/office/powerpoint/2010/main" val="1537794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63B4B-2A15-8403-9D99-8F0A4B582B3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7810B0-AEE7-E4E2-FC7F-34D8D3F13D85}"/>
              </a:ext>
            </a:extLst>
          </p:cNvPr>
          <p:cNvSpPr>
            <a:spLocks noGrp="1"/>
          </p:cNvSpPr>
          <p:nvPr>
            <p:ph idx="1"/>
          </p:nvPr>
        </p:nvSpPr>
        <p:spPr/>
        <p:txBody>
          <a:bodyPr/>
          <a:lstStyle/>
          <a:p>
            <a:r>
              <a:rPr lang="en-US" dirty="0"/>
              <a:t>Step 1: </a:t>
            </a:r>
            <a:r>
              <a:rPr lang="en-IN" b="0" i="0" dirty="0">
                <a:solidFill>
                  <a:srgbClr val="000000"/>
                </a:solidFill>
                <a:effectLst/>
                <a:latin typeface="inter-regular"/>
              </a:rPr>
              <a:t>Firstly, we will choose the number of </a:t>
            </a:r>
            <a:r>
              <a:rPr lang="en-IN" b="0" i="0" dirty="0" err="1">
                <a:solidFill>
                  <a:srgbClr val="000000"/>
                </a:solidFill>
                <a:effectLst/>
                <a:latin typeface="inter-regular"/>
              </a:rPr>
              <a:t>neighbors</a:t>
            </a:r>
            <a:r>
              <a:rPr lang="en-IN" b="0" i="0" dirty="0">
                <a:solidFill>
                  <a:srgbClr val="000000"/>
                </a:solidFill>
                <a:effectLst/>
                <a:latin typeface="inter-regular"/>
              </a:rPr>
              <a:t>, so we will choose the k=5</a:t>
            </a:r>
          </a:p>
          <a:p>
            <a:endParaRPr lang="en-IN" dirty="0">
              <a:solidFill>
                <a:srgbClr val="000000"/>
              </a:solidFill>
              <a:latin typeface="inter-regular"/>
            </a:endParaRPr>
          </a:p>
          <a:p>
            <a:r>
              <a:rPr lang="en-IN" dirty="0">
                <a:solidFill>
                  <a:srgbClr val="000000"/>
                </a:solidFill>
                <a:latin typeface="inter-regular"/>
              </a:rPr>
              <a:t>Step 2: </a:t>
            </a:r>
            <a:r>
              <a:rPr lang="en-IN" b="0" i="0" dirty="0">
                <a:solidFill>
                  <a:srgbClr val="000000"/>
                </a:solidFill>
                <a:effectLst/>
                <a:latin typeface="inter-regular"/>
              </a:rPr>
              <a:t>Next, we will calculate the </a:t>
            </a:r>
            <a:r>
              <a:rPr lang="en-IN" b="1" i="0" dirty="0">
                <a:solidFill>
                  <a:srgbClr val="000000"/>
                </a:solidFill>
                <a:effectLst/>
                <a:latin typeface="inter-bold"/>
              </a:rPr>
              <a:t>Euclidean distance</a:t>
            </a:r>
            <a:r>
              <a:rPr lang="en-IN" b="0" i="0" dirty="0">
                <a:solidFill>
                  <a:srgbClr val="000000"/>
                </a:solidFill>
                <a:effectLst/>
                <a:latin typeface="inter-regular"/>
              </a:rPr>
              <a:t> between the data points. </a:t>
            </a:r>
          </a:p>
          <a:p>
            <a:endParaRPr lang="en-IN" dirty="0">
              <a:solidFill>
                <a:srgbClr val="000000"/>
              </a:solidFill>
              <a:latin typeface="inter-regular"/>
            </a:endParaRPr>
          </a:p>
          <a:p>
            <a:endParaRPr lang="en-IN" b="0" i="0" dirty="0">
              <a:solidFill>
                <a:srgbClr val="000000"/>
              </a:solidFill>
              <a:effectLst/>
              <a:latin typeface="inter-regular"/>
            </a:endParaRPr>
          </a:p>
          <a:p>
            <a:endParaRPr lang="en-IN" dirty="0">
              <a:solidFill>
                <a:srgbClr val="000000"/>
              </a:solidFill>
              <a:latin typeface="inter-regular"/>
            </a:endParaRPr>
          </a:p>
          <a:p>
            <a:endParaRPr lang="en-IN" dirty="0"/>
          </a:p>
        </p:txBody>
      </p:sp>
      <p:pic>
        <p:nvPicPr>
          <p:cNvPr id="5" name="Content Placeholder 4">
            <a:extLst>
              <a:ext uri="{FF2B5EF4-FFF2-40B4-BE49-F238E27FC236}">
                <a16:creationId xmlns:a16="http://schemas.microsoft.com/office/drawing/2014/main" id="{080B526E-8AFF-614D-ABCF-6C5BACDBB947}"/>
              </a:ext>
            </a:extLst>
          </p:cNvPr>
          <p:cNvPicPr>
            <a:picLocks noChangeAspect="1"/>
          </p:cNvPicPr>
          <p:nvPr/>
        </p:nvPicPr>
        <p:blipFill>
          <a:blip r:embed="rId2"/>
          <a:stretch>
            <a:fillRect/>
          </a:stretch>
        </p:blipFill>
        <p:spPr>
          <a:xfrm>
            <a:off x="2121385" y="3630985"/>
            <a:ext cx="3672925" cy="2308403"/>
          </a:xfrm>
          <a:prstGeom prst="rect">
            <a:avLst/>
          </a:prstGeom>
        </p:spPr>
      </p:pic>
      <p:pic>
        <p:nvPicPr>
          <p:cNvPr id="6" name="Picture 5">
            <a:extLst>
              <a:ext uri="{FF2B5EF4-FFF2-40B4-BE49-F238E27FC236}">
                <a16:creationId xmlns:a16="http://schemas.microsoft.com/office/drawing/2014/main" id="{F8B73246-781C-7F7E-71CD-28BBE62D032C}"/>
              </a:ext>
            </a:extLst>
          </p:cNvPr>
          <p:cNvPicPr>
            <a:picLocks noChangeAspect="1"/>
          </p:cNvPicPr>
          <p:nvPr/>
        </p:nvPicPr>
        <p:blipFill>
          <a:blip r:embed="rId3"/>
          <a:stretch>
            <a:fillRect/>
          </a:stretch>
        </p:blipFill>
        <p:spPr>
          <a:xfrm>
            <a:off x="6301759" y="4503964"/>
            <a:ext cx="2238375" cy="723900"/>
          </a:xfrm>
          <a:prstGeom prst="rect">
            <a:avLst/>
          </a:prstGeom>
        </p:spPr>
      </p:pic>
    </p:spTree>
    <p:extLst>
      <p:ext uri="{BB962C8B-B14F-4D97-AF65-F5344CB8AC3E}">
        <p14:creationId xmlns:p14="http://schemas.microsoft.com/office/powerpoint/2010/main" val="3680350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AA93212-69CE-580C-2C89-91C49DA6999B}"/>
              </a:ext>
            </a:extLst>
          </p:cNvPr>
          <p:cNvSpPr>
            <a:spLocks noGrp="1"/>
          </p:cNvSpPr>
          <p:nvPr>
            <p:ph idx="1"/>
          </p:nvPr>
        </p:nvSpPr>
        <p:spPr>
          <a:xfrm>
            <a:off x="677334" y="1212981"/>
            <a:ext cx="8596668" cy="4828382"/>
          </a:xfrm>
        </p:spPr>
        <p:txBody>
          <a:bodyPr/>
          <a:lstStyle/>
          <a:p>
            <a:r>
              <a:rPr lang="en-US" dirty="0"/>
              <a:t>Step 3: </a:t>
            </a:r>
            <a:r>
              <a:rPr lang="en-IN" b="0" i="0" dirty="0">
                <a:solidFill>
                  <a:srgbClr val="000000"/>
                </a:solidFill>
                <a:effectLst/>
                <a:latin typeface="inter-regular"/>
              </a:rPr>
              <a:t>By calculating the Euclidean distance we got the nearest </a:t>
            </a:r>
            <a:r>
              <a:rPr lang="en-IN" b="0" i="0" dirty="0" err="1">
                <a:solidFill>
                  <a:srgbClr val="000000"/>
                </a:solidFill>
                <a:effectLst/>
                <a:latin typeface="inter-regular"/>
              </a:rPr>
              <a:t>neighbors</a:t>
            </a:r>
            <a:r>
              <a:rPr lang="en-IN" b="0" i="0" dirty="0">
                <a:solidFill>
                  <a:srgbClr val="000000"/>
                </a:solidFill>
                <a:effectLst/>
                <a:latin typeface="inter-regular"/>
              </a:rPr>
              <a:t>, as three nearest </a:t>
            </a:r>
            <a:r>
              <a:rPr lang="en-IN" b="0" i="0" dirty="0" err="1">
                <a:solidFill>
                  <a:srgbClr val="000000"/>
                </a:solidFill>
                <a:effectLst/>
                <a:latin typeface="inter-regular"/>
              </a:rPr>
              <a:t>neighbors</a:t>
            </a:r>
            <a:r>
              <a:rPr lang="en-IN" b="0" i="0" dirty="0">
                <a:solidFill>
                  <a:srgbClr val="000000"/>
                </a:solidFill>
                <a:effectLst/>
                <a:latin typeface="inter-regular"/>
              </a:rPr>
              <a:t> in category A and two nearest </a:t>
            </a:r>
            <a:r>
              <a:rPr lang="en-IN" b="0" i="0" dirty="0" err="1">
                <a:solidFill>
                  <a:srgbClr val="000000"/>
                </a:solidFill>
                <a:effectLst/>
                <a:latin typeface="inter-regular"/>
              </a:rPr>
              <a:t>neighbors</a:t>
            </a:r>
            <a:r>
              <a:rPr lang="en-IN" b="0" i="0" dirty="0">
                <a:solidFill>
                  <a:srgbClr val="000000"/>
                </a:solidFill>
                <a:effectLst/>
                <a:latin typeface="inter-regular"/>
              </a:rPr>
              <a:t> in category B.</a:t>
            </a:r>
          </a:p>
          <a:p>
            <a:endParaRPr lang="en-IN" dirty="0">
              <a:solidFill>
                <a:srgbClr val="000000"/>
              </a:solidFill>
              <a:latin typeface="inter-regular"/>
            </a:endParaRPr>
          </a:p>
          <a:p>
            <a:endParaRPr lang="en-IN" dirty="0">
              <a:solidFill>
                <a:srgbClr val="000000"/>
              </a:solidFill>
              <a:latin typeface="inter-regular"/>
            </a:endParaRPr>
          </a:p>
          <a:p>
            <a:endParaRPr lang="en-IN" dirty="0"/>
          </a:p>
        </p:txBody>
      </p:sp>
      <p:pic>
        <p:nvPicPr>
          <p:cNvPr id="9" name="Picture 8">
            <a:extLst>
              <a:ext uri="{FF2B5EF4-FFF2-40B4-BE49-F238E27FC236}">
                <a16:creationId xmlns:a16="http://schemas.microsoft.com/office/drawing/2014/main" id="{E127CBEF-6CDE-0B3A-7EE0-5FFB16EADAF1}"/>
              </a:ext>
            </a:extLst>
          </p:cNvPr>
          <p:cNvPicPr>
            <a:picLocks noChangeAspect="1"/>
          </p:cNvPicPr>
          <p:nvPr/>
        </p:nvPicPr>
        <p:blipFill>
          <a:blip r:embed="rId2"/>
          <a:stretch>
            <a:fillRect/>
          </a:stretch>
        </p:blipFill>
        <p:spPr>
          <a:xfrm>
            <a:off x="2141861" y="2612571"/>
            <a:ext cx="4764861" cy="3428791"/>
          </a:xfrm>
          <a:prstGeom prst="rect">
            <a:avLst/>
          </a:prstGeom>
        </p:spPr>
      </p:pic>
    </p:spTree>
    <p:extLst>
      <p:ext uri="{BB962C8B-B14F-4D97-AF65-F5344CB8AC3E}">
        <p14:creationId xmlns:p14="http://schemas.microsoft.com/office/powerpoint/2010/main" val="4097114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C56BF-0782-32D7-52B2-D17CC9C85FF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B6D8F40-A49C-1B7E-86DA-CEC247957E24}"/>
              </a:ext>
            </a:extLst>
          </p:cNvPr>
          <p:cNvSpPr>
            <a:spLocks noGrp="1"/>
          </p:cNvSpPr>
          <p:nvPr>
            <p:ph idx="1"/>
          </p:nvPr>
        </p:nvSpPr>
        <p:spPr/>
        <p:txBody>
          <a:bodyPr/>
          <a:lstStyle/>
          <a:p>
            <a:r>
              <a:rPr lang="en-US" dirty="0"/>
              <a:t>Step 4: </a:t>
            </a:r>
            <a:r>
              <a:rPr lang="en-IN" b="0" i="0" dirty="0">
                <a:solidFill>
                  <a:srgbClr val="000000"/>
                </a:solidFill>
                <a:effectLst/>
                <a:latin typeface="inter-regular"/>
              </a:rPr>
              <a:t>As we can see the 3 nearest </a:t>
            </a:r>
            <a:r>
              <a:rPr lang="en-IN" b="0" i="0" dirty="0" err="1">
                <a:solidFill>
                  <a:srgbClr val="000000"/>
                </a:solidFill>
                <a:effectLst/>
                <a:latin typeface="inter-regular"/>
              </a:rPr>
              <a:t>neighbors</a:t>
            </a:r>
            <a:r>
              <a:rPr lang="en-IN" b="0" i="0" dirty="0">
                <a:solidFill>
                  <a:srgbClr val="000000"/>
                </a:solidFill>
                <a:effectLst/>
                <a:latin typeface="inter-regular"/>
              </a:rPr>
              <a:t> are from category A, hence this new data point must belong to category A.</a:t>
            </a:r>
          </a:p>
          <a:p>
            <a:pPr marL="0" indent="0">
              <a:buNone/>
            </a:pPr>
            <a:endParaRPr lang="en-IN" dirty="0"/>
          </a:p>
        </p:txBody>
      </p:sp>
    </p:spTree>
    <p:extLst>
      <p:ext uri="{BB962C8B-B14F-4D97-AF65-F5344CB8AC3E}">
        <p14:creationId xmlns:p14="http://schemas.microsoft.com/office/powerpoint/2010/main" val="14325961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ACADD-208B-1758-9543-F82098B10D21}"/>
              </a:ext>
            </a:extLst>
          </p:cNvPr>
          <p:cNvSpPr>
            <a:spLocks noGrp="1"/>
          </p:cNvSpPr>
          <p:nvPr>
            <p:ph type="title"/>
          </p:nvPr>
        </p:nvSpPr>
        <p:spPr/>
        <p:txBody>
          <a:bodyPr/>
          <a:lstStyle/>
          <a:p>
            <a:r>
              <a:rPr lang="en-IN" dirty="0"/>
              <a:t>How to select the value of K in the K-NN Algorithm?</a:t>
            </a:r>
          </a:p>
        </p:txBody>
      </p:sp>
      <p:sp>
        <p:nvSpPr>
          <p:cNvPr id="3" name="Content Placeholder 2">
            <a:extLst>
              <a:ext uri="{FF2B5EF4-FFF2-40B4-BE49-F238E27FC236}">
                <a16:creationId xmlns:a16="http://schemas.microsoft.com/office/drawing/2014/main" id="{98612D98-E4C7-249A-C14A-B7E741500196}"/>
              </a:ext>
            </a:extLst>
          </p:cNvPr>
          <p:cNvSpPr>
            <a:spLocks noGrp="1"/>
          </p:cNvSpPr>
          <p:nvPr>
            <p:ph idx="1"/>
          </p:nvPr>
        </p:nvSpPr>
        <p:spPr/>
        <p:txBody>
          <a:bodyPr/>
          <a:lstStyle/>
          <a:p>
            <a:r>
              <a:rPr lang="en-IN" b="0" i="0" dirty="0">
                <a:solidFill>
                  <a:srgbClr val="000000"/>
                </a:solidFill>
                <a:effectLst/>
                <a:latin typeface="inter-regular"/>
              </a:rPr>
              <a:t>There is no particular way to determine the best value for "K", so we need to try some values to find the best out of them. The most preferred value for K is 5.</a:t>
            </a:r>
          </a:p>
          <a:p>
            <a:endParaRPr lang="en-IN" dirty="0"/>
          </a:p>
          <a:p>
            <a:r>
              <a:rPr lang="en-IN" b="0" i="0" dirty="0">
                <a:solidFill>
                  <a:srgbClr val="000000"/>
                </a:solidFill>
                <a:effectLst/>
                <a:latin typeface="inter-regular"/>
              </a:rPr>
              <a:t>A very low value for K such as K=1 or K=2, can be noisy and lead to the effects of outliers in the model.</a:t>
            </a:r>
          </a:p>
          <a:p>
            <a:endParaRPr lang="en-IN" dirty="0"/>
          </a:p>
          <a:p>
            <a:r>
              <a:rPr lang="en-IN" b="0" i="0" dirty="0">
                <a:solidFill>
                  <a:srgbClr val="000000"/>
                </a:solidFill>
                <a:effectLst/>
                <a:latin typeface="inter-regular"/>
              </a:rPr>
              <a:t>Large values for K are good, but it may find some difficulties.</a:t>
            </a:r>
          </a:p>
          <a:p>
            <a:pPr marL="0" indent="0">
              <a:buNone/>
            </a:pPr>
            <a:endParaRPr lang="en-IN" dirty="0"/>
          </a:p>
        </p:txBody>
      </p:sp>
    </p:spTree>
    <p:extLst>
      <p:ext uri="{BB962C8B-B14F-4D97-AF65-F5344CB8AC3E}">
        <p14:creationId xmlns:p14="http://schemas.microsoft.com/office/powerpoint/2010/main" val="240128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DEA19-88FE-D5B8-4EC5-8C67FF955A79}"/>
              </a:ext>
            </a:extLst>
          </p:cNvPr>
          <p:cNvSpPr>
            <a:spLocks noGrp="1"/>
          </p:cNvSpPr>
          <p:nvPr>
            <p:ph type="title"/>
          </p:nvPr>
        </p:nvSpPr>
        <p:spPr/>
        <p:txBody>
          <a:bodyPr/>
          <a:lstStyle/>
          <a:p>
            <a:r>
              <a:rPr lang="en-US" dirty="0"/>
              <a:t>Logistic Regression </a:t>
            </a:r>
            <a:endParaRPr lang="en-IN" dirty="0"/>
          </a:p>
        </p:txBody>
      </p:sp>
      <p:sp>
        <p:nvSpPr>
          <p:cNvPr id="3" name="Content Placeholder 2">
            <a:extLst>
              <a:ext uri="{FF2B5EF4-FFF2-40B4-BE49-F238E27FC236}">
                <a16:creationId xmlns:a16="http://schemas.microsoft.com/office/drawing/2014/main" id="{E43C3C3B-9260-FD75-F3C7-62EE94FC9266}"/>
              </a:ext>
            </a:extLst>
          </p:cNvPr>
          <p:cNvSpPr>
            <a:spLocks noGrp="1"/>
          </p:cNvSpPr>
          <p:nvPr>
            <p:ph idx="1"/>
          </p:nvPr>
        </p:nvSpPr>
        <p:spPr/>
        <p:txBody>
          <a:bodyPr>
            <a:normAutofit lnSpcReduction="10000"/>
          </a:bodyPr>
          <a:lstStyle/>
          <a:p>
            <a:r>
              <a:rPr lang="en-IN" dirty="0">
                <a:solidFill>
                  <a:srgbClr val="000000"/>
                </a:solidFill>
                <a:latin typeface="inter-regular"/>
              </a:rPr>
              <a:t>Logistic regression is a supervised learning algorithm used to predict a dependent categorical target variable.</a:t>
            </a:r>
          </a:p>
          <a:p>
            <a:endParaRPr lang="en-IN" dirty="0">
              <a:solidFill>
                <a:srgbClr val="000000"/>
              </a:solidFill>
              <a:latin typeface="inter-regular"/>
            </a:endParaRPr>
          </a:p>
          <a:p>
            <a:r>
              <a:rPr lang="en-IN" dirty="0">
                <a:solidFill>
                  <a:srgbClr val="000000"/>
                </a:solidFill>
                <a:latin typeface="inter-regular"/>
              </a:rPr>
              <a:t>In essence, if you have a large set of data that you want to categorize, logistic regression may be able to help. </a:t>
            </a:r>
          </a:p>
          <a:p>
            <a:endParaRPr lang="en-IN" dirty="0">
              <a:solidFill>
                <a:srgbClr val="000000"/>
              </a:solidFill>
              <a:latin typeface="inter-regular"/>
            </a:endParaRPr>
          </a:p>
          <a:p>
            <a:r>
              <a:rPr lang="en-IN" dirty="0">
                <a:solidFill>
                  <a:srgbClr val="000000"/>
                </a:solidFill>
                <a:latin typeface="inter-regular"/>
              </a:rPr>
              <a:t>Logistic regression predicts the output of a categorical dependent variable. Therefore the outcome must be a categorical or discrete value. It can be either Yes or No, 0 or 1, true or False.</a:t>
            </a:r>
          </a:p>
          <a:p>
            <a:endParaRPr lang="en-IN" dirty="0">
              <a:solidFill>
                <a:srgbClr val="000000"/>
              </a:solidFill>
              <a:latin typeface="inter-regular"/>
            </a:endParaRPr>
          </a:p>
          <a:p>
            <a:r>
              <a:rPr lang="en-IN" dirty="0">
                <a:solidFill>
                  <a:srgbClr val="000000"/>
                </a:solidFill>
                <a:latin typeface="inter-regular"/>
              </a:rPr>
              <a:t>However instead of giving the exact value as 0 and 1, it gives the probabilistic values which lie between 0 and 1.</a:t>
            </a:r>
          </a:p>
          <a:p>
            <a:endParaRPr lang="en-IN" dirty="0">
              <a:solidFill>
                <a:srgbClr val="333333"/>
              </a:solidFill>
              <a:latin typeface="Lato" panose="020F0502020204030203" pitchFamily="34" charset="0"/>
            </a:endParaRPr>
          </a:p>
          <a:p>
            <a:endParaRPr lang="en-IN" dirty="0"/>
          </a:p>
        </p:txBody>
      </p:sp>
    </p:spTree>
    <p:extLst>
      <p:ext uri="{BB962C8B-B14F-4D97-AF65-F5344CB8AC3E}">
        <p14:creationId xmlns:p14="http://schemas.microsoft.com/office/powerpoint/2010/main" val="1249114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B09CE-E8A1-D70A-BCE8-01069785FCB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073F61E-8DB5-A962-E75F-A53729DDC757}"/>
              </a:ext>
            </a:extLst>
          </p:cNvPr>
          <p:cNvSpPr>
            <a:spLocks noGrp="1"/>
          </p:cNvSpPr>
          <p:nvPr>
            <p:ph idx="1"/>
          </p:nvPr>
        </p:nvSpPr>
        <p:spPr/>
        <p:txBody>
          <a:bodyPr/>
          <a:lstStyle/>
          <a:p>
            <a:r>
              <a:rPr lang="en-IN" dirty="0">
                <a:solidFill>
                  <a:srgbClr val="000000"/>
                </a:solidFill>
                <a:latin typeface="inter-regular"/>
              </a:rPr>
              <a:t>Logistic Regression is very similar to Linear Regression except for how they are used. Linear Regression is used for solving Regression problems, whereas Logistic regression is used for solving the classification problems.</a:t>
            </a:r>
          </a:p>
          <a:p>
            <a:endParaRPr lang="en-IN" dirty="0">
              <a:solidFill>
                <a:srgbClr val="000000"/>
              </a:solidFill>
              <a:latin typeface="inter-regular"/>
            </a:endParaRPr>
          </a:p>
          <a:p>
            <a:r>
              <a:rPr lang="en-IN" dirty="0">
                <a:solidFill>
                  <a:srgbClr val="000000"/>
                </a:solidFill>
                <a:latin typeface="inter-regular"/>
              </a:rPr>
              <a:t>In Logistic regression, instead of fitting a regression line, we fit an "S" shaped logistic function, which predicts two maximum values (0 or 1).</a:t>
            </a:r>
          </a:p>
          <a:p>
            <a:endParaRPr lang="en-IN" dirty="0"/>
          </a:p>
        </p:txBody>
      </p:sp>
    </p:spTree>
    <p:extLst>
      <p:ext uri="{BB962C8B-B14F-4D97-AF65-F5344CB8AC3E}">
        <p14:creationId xmlns:p14="http://schemas.microsoft.com/office/powerpoint/2010/main" val="365389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EC1E-AE8C-3358-0322-F4E5797A3E6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FB1A741-C98A-1FF6-DFEF-64A7EB6B83C8}"/>
              </a:ext>
            </a:extLst>
          </p:cNvPr>
          <p:cNvPicPr>
            <a:picLocks noGrp="1" noChangeAspect="1"/>
          </p:cNvPicPr>
          <p:nvPr>
            <p:ph idx="1"/>
          </p:nvPr>
        </p:nvPicPr>
        <p:blipFill>
          <a:blip r:embed="rId2"/>
          <a:stretch>
            <a:fillRect/>
          </a:stretch>
        </p:blipFill>
        <p:spPr>
          <a:xfrm>
            <a:off x="989612" y="2003085"/>
            <a:ext cx="4333875" cy="3543300"/>
          </a:xfrm>
        </p:spPr>
      </p:pic>
    </p:spTree>
    <p:extLst>
      <p:ext uri="{BB962C8B-B14F-4D97-AF65-F5344CB8AC3E}">
        <p14:creationId xmlns:p14="http://schemas.microsoft.com/office/powerpoint/2010/main" val="25993237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D327-6F9A-CCFA-FCED-DDB0F16626C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89D8479-76AD-572A-7C6F-42D447979FD0}"/>
              </a:ext>
            </a:extLst>
          </p:cNvPr>
          <p:cNvPicPr>
            <a:picLocks noGrp="1" noChangeAspect="1"/>
          </p:cNvPicPr>
          <p:nvPr>
            <p:ph idx="1"/>
          </p:nvPr>
        </p:nvPicPr>
        <p:blipFill>
          <a:blip r:embed="rId2"/>
          <a:stretch>
            <a:fillRect/>
          </a:stretch>
        </p:blipFill>
        <p:spPr>
          <a:xfrm>
            <a:off x="1756569" y="2186781"/>
            <a:ext cx="6438900" cy="3829050"/>
          </a:xfrm>
        </p:spPr>
      </p:pic>
    </p:spTree>
    <p:extLst>
      <p:ext uri="{BB962C8B-B14F-4D97-AF65-F5344CB8AC3E}">
        <p14:creationId xmlns:p14="http://schemas.microsoft.com/office/powerpoint/2010/main" val="1492189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0DA1-CE7D-2D94-A0FF-CF655D66E465}"/>
              </a:ext>
            </a:extLst>
          </p:cNvPr>
          <p:cNvSpPr>
            <a:spLocks noGrp="1"/>
          </p:cNvSpPr>
          <p:nvPr>
            <p:ph type="title"/>
          </p:nvPr>
        </p:nvSpPr>
        <p:spPr/>
        <p:txBody>
          <a:bodyPr/>
          <a:lstStyle/>
          <a:p>
            <a:r>
              <a:rPr lang="en-US" dirty="0"/>
              <a:t>Function </a:t>
            </a:r>
            <a:endParaRPr lang="en-IN" dirty="0"/>
          </a:p>
        </p:txBody>
      </p:sp>
      <p:sp>
        <p:nvSpPr>
          <p:cNvPr id="3" name="Content Placeholder 2">
            <a:extLst>
              <a:ext uri="{FF2B5EF4-FFF2-40B4-BE49-F238E27FC236}">
                <a16:creationId xmlns:a16="http://schemas.microsoft.com/office/drawing/2014/main" id="{E3277F76-F0E4-AE0D-5D9D-075AE304128B}"/>
              </a:ext>
            </a:extLst>
          </p:cNvPr>
          <p:cNvSpPr>
            <a:spLocks noGrp="1"/>
          </p:cNvSpPr>
          <p:nvPr>
            <p:ph idx="1"/>
          </p:nvPr>
        </p:nvSpPr>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r>
              <a:rPr lang="en-US" dirty="0"/>
              <a:t>S(x) = Sigmoid Function</a:t>
            </a:r>
          </a:p>
          <a:p>
            <a:r>
              <a:rPr lang="en-US" dirty="0"/>
              <a:t>e = </a:t>
            </a:r>
            <a:r>
              <a:rPr lang="en-US"/>
              <a:t>Euler’s Number</a:t>
            </a:r>
          </a:p>
          <a:p>
            <a:r>
              <a:rPr lang="en-IN" b="0" i="0">
                <a:solidFill>
                  <a:srgbClr val="555555"/>
                </a:solidFill>
                <a:effectLst/>
                <a:latin typeface="Helvetica Neue"/>
              </a:rPr>
              <a:t>The sigmoid function is also called a squashing function as its domain is the set of all real numbers, and its range is (0, 1).</a:t>
            </a:r>
            <a:endParaRPr lang="en-IN" dirty="0"/>
          </a:p>
        </p:txBody>
      </p:sp>
      <p:pic>
        <p:nvPicPr>
          <p:cNvPr id="7" name="Picture 6">
            <a:extLst>
              <a:ext uri="{FF2B5EF4-FFF2-40B4-BE49-F238E27FC236}">
                <a16:creationId xmlns:a16="http://schemas.microsoft.com/office/drawing/2014/main" id="{8E5C0FAC-6464-6462-79C9-0E8092ED922F}"/>
              </a:ext>
            </a:extLst>
          </p:cNvPr>
          <p:cNvPicPr>
            <a:picLocks noChangeAspect="1"/>
          </p:cNvPicPr>
          <p:nvPr/>
        </p:nvPicPr>
        <p:blipFill>
          <a:blip r:embed="rId2"/>
          <a:stretch>
            <a:fillRect/>
          </a:stretch>
        </p:blipFill>
        <p:spPr>
          <a:xfrm>
            <a:off x="1842699" y="1869751"/>
            <a:ext cx="3971925" cy="2152650"/>
          </a:xfrm>
          <a:prstGeom prst="rect">
            <a:avLst/>
          </a:prstGeom>
        </p:spPr>
      </p:pic>
    </p:spTree>
    <p:extLst>
      <p:ext uri="{BB962C8B-B14F-4D97-AF65-F5344CB8AC3E}">
        <p14:creationId xmlns:p14="http://schemas.microsoft.com/office/powerpoint/2010/main" val="5081243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A9F43-8623-2C43-7257-4C1471BE92CD}"/>
              </a:ext>
            </a:extLst>
          </p:cNvPr>
          <p:cNvSpPr>
            <a:spLocks noGrp="1"/>
          </p:cNvSpPr>
          <p:nvPr>
            <p:ph type="title"/>
          </p:nvPr>
        </p:nvSpPr>
        <p:spPr/>
        <p:txBody>
          <a:bodyPr/>
          <a:lstStyle/>
          <a:p>
            <a:r>
              <a:rPr lang="en-IN" dirty="0"/>
              <a:t>Assumptions of Logistic Regression</a:t>
            </a:r>
          </a:p>
        </p:txBody>
      </p:sp>
      <p:sp>
        <p:nvSpPr>
          <p:cNvPr id="3" name="Content Placeholder 2">
            <a:extLst>
              <a:ext uri="{FF2B5EF4-FFF2-40B4-BE49-F238E27FC236}">
                <a16:creationId xmlns:a16="http://schemas.microsoft.com/office/drawing/2014/main" id="{0F5ED727-16CA-6DBE-8A4A-D168EC3486FF}"/>
              </a:ext>
            </a:extLst>
          </p:cNvPr>
          <p:cNvSpPr>
            <a:spLocks noGrp="1"/>
          </p:cNvSpPr>
          <p:nvPr>
            <p:ph idx="1"/>
          </p:nvPr>
        </p:nvSpPr>
        <p:spPr/>
        <p:txBody>
          <a:bodyPr/>
          <a:lstStyle/>
          <a:p>
            <a:pPr algn="l" rtl="0" fontAlgn="base"/>
            <a:r>
              <a:rPr lang="en-IN" b="0" i="0" dirty="0">
                <a:solidFill>
                  <a:srgbClr val="273239"/>
                </a:solidFill>
                <a:effectLst/>
                <a:latin typeface="Nunito" pitchFamily="2" charset="0"/>
              </a:rPr>
              <a:t>The assumptions include:</a:t>
            </a:r>
          </a:p>
          <a:p>
            <a:pPr algn="l" rtl="0" fontAlgn="base"/>
            <a:endParaRPr lang="en-IN" b="0" i="0" dirty="0">
              <a:solidFill>
                <a:srgbClr val="273239"/>
              </a:solidFill>
              <a:effectLst/>
              <a:latin typeface="Nunito" pitchFamily="2" charset="0"/>
            </a:endParaRPr>
          </a:p>
          <a:p>
            <a:pPr algn="l" fontAlgn="base">
              <a:buFont typeface="+mj-lt"/>
              <a:buAutoNum type="arabicPeriod"/>
            </a:pPr>
            <a:r>
              <a:rPr lang="en-IN" b="0" i="0" dirty="0">
                <a:solidFill>
                  <a:srgbClr val="273239"/>
                </a:solidFill>
                <a:effectLst/>
                <a:latin typeface="Nunito" pitchFamily="2" charset="0"/>
              </a:rPr>
              <a:t>Independent observations: Each observation is independent of the other. meaning there is no correlation between any input variables.</a:t>
            </a:r>
          </a:p>
          <a:p>
            <a:pPr fontAlgn="base">
              <a:buFont typeface="+mj-lt"/>
              <a:buAutoNum type="arabicPeriod" startAt="2"/>
            </a:pPr>
            <a:r>
              <a:rPr lang="en-IN" b="0" i="0" dirty="0">
                <a:solidFill>
                  <a:srgbClr val="273239"/>
                </a:solidFill>
                <a:effectLst/>
                <a:latin typeface="Nunito" pitchFamily="2" charset="0"/>
              </a:rPr>
              <a:t>No outliers: There should be no outliers in the dataset.</a:t>
            </a:r>
          </a:p>
          <a:p>
            <a:pPr fontAlgn="base">
              <a:buFont typeface="+mj-lt"/>
              <a:buAutoNum type="arabicPeriod" startAt="2"/>
            </a:pPr>
            <a:r>
              <a:rPr lang="en-IN" b="0" i="0" dirty="0">
                <a:solidFill>
                  <a:srgbClr val="273239"/>
                </a:solidFill>
                <a:effectLst/>
                <a:latin typeface="Nunito" pitchFamily="2" charset="0"/>
              </a:rPr>
              <a:t>Large sample size: The sample size is sufficiently large.</a:t>
            </a:r>
          </a:p>
          <a:p>
            <a:pPr marL="0" indent="0" algn="l" fontAlgn="base">
              <a:buNone/>
            </a:pPr>
            <a:endParaRPr lang="en-IN"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3593041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E1FF5-CC27-8431-FE1F-0FE128922406}"/>
              </a:ext>
            </a:extLst>
          </p:cNvPr>
          <p:cNvSpPr>
            <a:spLocks noGrp="1"/>
          </p:cNvSpPr>
          <p:nvPr>
            <p:ph type="title"/>
          </p:nvPr>
        </p:nvSpPr>
        <p:spPr/>
        <p:txBody>
          <a:bodyPr/>
          <a:lstStyle/>
          <a:p>
            <a:r>
              <a:rPr lang="en-IN" dirty="0"/>
              <a:t>Type of Logistic Regression:</a:t>
            </a:r>
          </a:p>
        </p:txBody>
      </p:sp>
      <p:sp>
        <p:nvSpPr>
          <p:cNvPr id="3" name="Content Placeholder 2">
            <a:extLst>
              <a:ext uri="{FF2B5EF4-FFF2-40B4-BE49-F238E27FC236}">
                <a16:creationId xmlns:a16="http://schemas.microsoft.com/office/drawing/2014/main" id="{058AA602-3B21-197A-83A1-DA28FD090760}"/>
              </a:ext>
            </a:extLst>
          </p:cNvPr>
          <p:cNvSpPr>
            <a:spLocks noGrp="1"/>
          </p:cNvSpPr>
          <p:nvPr>
            <p:ph idx="1"/>
          </p:nvPr>
        </p:nvSpPr>
        <p:spPr/>
        <p:txBody>
          <a:bodyPr/>
          <a:lstStyle/>
          <a:p>
            <a:r>
              <a:rPr lang="en-IN" b="1" i="0" dirty="0">
                <a:solidFill>
                  <a:srgbClr val="000000"/>
                </a:solidFill>
                <a:effectLst/>
                <a:latin typeface="inter-bold"/>
              </a:rPr>
              <a:t>Binomial:</a:t>
            </a:r>
            <a:r>
              <a:rPr lang="en-IN" b="0" i="0" dirty="0">
                <a:solidFill>
                  <a:srgbClr val="000000"/>
                </a:solidFill>
                <a:effectLst/>
                <a:latin typeface="inter-regular"/>
              </a:rPr>
              <a:t> In binomial Logistic regression, there can be only two possible types of dependent variables, such as 0 or 1, Pass or Fail, etc.</a:t>
            </a:r>
          </a:p>
          <a:p>
            <a:endParaRPr lang="en-IN" dirty="0"/>
          </a:p>
          <a:p>
            <a:r>
              <a:rPr lang="en-IN" b="1" i="0" dirty="0">
                <a:solidFill>
                  <a:srgbClr val="000000"/>
                </a:solidFill>
                <a:effectLst/>
                <a:latin typeface="inter-bold"/>
              </a:rPr>
              <a:t>Multinomial:</a:t>
            </a:r>
            <a:r>
              <a:rPr lang="en-IN" b="0" i="0" dirty="0">
                <a:solidFill>
                  <a:srgbClr val="000000"/>
                </a:solidFill>
                <a:effectLst/>
                <a:latin typeface="inter-regular"/>
              </a:rPr>
              <a:t> In multinomial Logistic regression, there can be 3 or more possible unordered types of the dependent variable, such as "cat", "dogs", or "sheep"</a:t>
            </a:r>
          </a:p>
          <a:p>
            <a:endParaRPr lang="en-IN" dirty="0"/>
          </a:p>
          <a:p>
            <a:r>
              <a:rPr lang="en-IN" b="1" i="0" dirty="0">
                <a:solidFill>
                  <a:srgbClr val="000000"/>
                </a:solidFill>
                <a:effectLst/>
                <a:latin typeface="inter-bold"/>
              </a:rPr>
              <a:t>Ordinal:</a:t>
            </a:r>
            <a:r>
              <a:rPr lang="en-IN" b="0" i="0" dirty="0">
                <a:solidFill>
                  <a:srgbClr val="000000"/>
                </a:solidFill>
                <a:effectLst/>
                <a:latin typeface="inter-regular"/>
              </a:rPr>
              <a:t> In ordinal Logistic regression, there can be 3 or more possible ordered types of dependent variables, such as "low", "Medium", or "High".</a:t>
            </a:r>
          </a:p>
          <a:p>
            <a:pPr marL="0" indent="0">
              <a:buNone/>
            </a:pPr>
            <a:endParaRPr lang="en-IN" dirty="0"/>
          </a:p>
        </p:txBody>
      </p:sp>
    </p:spTree>
    <p:extLst>
      <p:ext uri="{BB962C8B-B14F-4D97-AF65-F5344CB8AC3E}">
        <p14:creationId xmlns:p14="http://schemas.microsoft.com/office/powerpoint/2010/main" val="2417665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3AD41-8703-E493-F66B-F3E283BAE669}"/>
              </a:ext>
            </a:extLst>
          </p:cNvPr>
          <p:cNvSpPr>
            <a:spLocks noGrp="1"/>
          </p:cNvSpPr>
          <p:nvPr>
            <p:ph type="title"/>
          </p:nvPr>
        </p:nvSpPr>
        <p:spPr/>
        <p:txBody>
          <a:bodyPr/>
          <a:lstStyle/>
          <a:p>
            <a:r>
              <a:rPr lang="en-US" dirty="0"/>
              <a:t>Application of Logistic Regression</a:t>
            </a:r>
            <a:endParaRPr lang="en-IN" dirty="0"/>
          </a:p>
        </p:txBody>
      </p:sp>
      <p:sp>
        <p:nvSpPr>
          <p:cNvPr id="3" name="Content Placeholder 2">
            <a:extLst>
              <a:ext uri="{FF2B5EF4-FFF2-40B4-BE49-F238E27FC236}">
                <a16:creationId xmlns:a16="http://schemas.microsoft.com/office/drawing/2014/main" id="{F2D3D488-FEA3-C433-8FE2-C84A174E824C}"/>
              </a:ext>
            </a:extLst>
          </p:cNvPr>
          <p:cNvSpPr>
            <a:spLocks noGrp="1"/>
          </p:cNvSpPr>
          <p:nvPr>
            <p:ph idx="1"/>
          </p:nvPr>
        </p:nvSpPr>
        <p:spPr/>
        <p:txBody>
          <a:bodyPr/>
          <a:lstStyle/>
          <a:p>
            <a:r>
              <a:rPr lang="en-US" dirty="0"/>
              <a:t>Credit Scoring </a:t>
            </a:r>
          </a:p>
          <a:p>
            <a:r>
              <a:rPr lang="en-US" dirty="0"/>
              <a:t>Medicine </a:t>
            </a:r>
          </a:p>
          <a:p>
            <a:r>
              <a:rPr lang="en-US" dirty="0"/>
              <a:t>Text Editing -</a:t>
            </a:r>
            <a:r>
              <a:rPr lang="en-IN" b="0" i="0" dirty="0">
                <a:solidFill>
                  <a:srgbClr val="555555"/>
                </a:solidFill>
                <a:effectLst/>
                <a:latin typeface="Lato" panose="020F0502020204030203" pitchFamily="34" charset="0"/>
              </a:rPr>
              <a:t> </a:t>
            </a:r>
            <a:r>
              <a:rPr lang="en-IN" dirty="0"/>
              <a:t>Toxic speech detection, topic classification for questions to support, and email sorting are examples where logistic regression shows good results. </a:t>
            </a:r>
            <a:endParaRPr lang="en-US" dirty="0"/>
          </a:p>
          <a:p>
            <a:r>
              <a:rPr lang="en-IN" dirty="0"/>
              <a:t>Hotel Booking</a:t>
            </a:r>
          </a:p>
          <a:p>
            <a:r>
              <a:rPr lang="en-IN" dirty="0"/>
              <a:t>Gaming </a:t>
            </a:r>
          </a:p>
          <a:p>
            <a:endParaRPr lang="en-IN" dirty="0"/>
          </a:p>
          <a:p>
            <a:endParaRPr lang="en-US" dirty="0"/>
          </a:p>
        </p:txBody>
      </p:sp>
    </p:spTree>
    <p:extLst>
      <p:ext uri="{BB962C8B-B14F-4D97-AF65-F5344CB8AC3E}">
        <p14:creationId xmlns:p14="http://schemas.microsoft.com/office/powerpoint/2010/main" val="3332988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ABD82-826F-A637-F30E-53D4232D19B8}"/>
              </a:ext>
            </a:extLst>
          </p:cNvPr>
          <p:cNvSpPr>
            <a:spLocks noGrp="1"/>
          </p:cNvSpPr>
          <p:nvPr>
            <p:ph type="title"/>
          </p:nvPr>
        </p:nvSpPr>
        <p:spPr/>
        <p:txBody>
          <a:bodyPr/>
          <a:lstStyle/>
          <a:p>
            <a:r>
              <a:rPr lang="en-US" dirty="0"/>
              <a:t>Decision Tree</a:t>
            </a:r>
            <a:endParaRPr lang="en-IN" dirty="0"/>
          </a:p>
        </p:txBody>
      </p:sp>
      <p:sp>
        <p:nvSpPr>
          <p:cNvPr id="3" name="Content Placeholder 2">
            <a:extLst>
              <a:ext uri="{FF2B5EF4-FFF2-40B4-BE49-F238E27FC236}">
                <a16:creationId xmlns:a16="http://schemas.microsoft.com/office/drawing/2014/main" id="{C425FCEA-70DC-D3B2-C182-2B8F5F8AC4E1}"/>
              </a:ext>
            </a:extLst>
          </p:cNvPr>
          <p:cNvSpPr>
            <a:spLocks noGrp="1"/>
          </p:cNvSpPr>
          <p:nvPr>
            <p:ph idx="1"/>
          </p:nvPr>
        </p:nvSpPr>
        <p:spPr/>
        <p:txBody>
          <a:bodyPr>
            <a:normAutofit lnSpcReduction="10000"/>
          </a:bodyPr>
          <a:lstStyle/>
          <a:p>
            <a:r>
              <a:rPr lang="en-IN" dirty="0">
                <a:solidFill>
                  <a:srgbClr val="000000"/>
                </a:solidFill>
                <a:latin typeface="inter-regular"/>
              </a:rPr>
              <a:t>Decision Tree is a Supervised learning technique that can be used for both classification and Regression problems, but mostly it is preferred for solving Classification problems.</a:t>
            </a:r>
          </a:p>
          <a:p>
            <a:endParaRPr lang="en-IN" dirty="0">
              <a:solidFill>
                <a:srgbClr val="000000"/>
              </a:solidFill>
              <a:latin typeface="inter-regular"/>
            </a:endParaRPr>
          </a:p>
          <a:p>
            <a:r>
              <a:rPr lang="en-IN" b="0" i="0" dirty="0">
                <a:solidFill>
                  <a:srgbClr val="000000"/>
                </a:solidFill>
                <a:effectLst/>
                <a:latin typeface="inter-regular"/>
              </a:rPr>
              <a:t>It is a tree-structured classifier, where</a:t>
            </a:r>
            <a:r>
              <a:rPr lang="en-IN" b="1" i="0" dirty="0">
                <a:solidFill>
                  <a:srgbClr val="000000"/>
                </a:solidFill>
                <a:effectLst/>
                <a:latin typeface="inter-bold"/>
              </a:rPr>
              <a:t> internal nodes represent the features of a dataset, branches represent the decision rules</a:t>
            </a:r>
            <a:r>
              <a:rPr lang="en-IN" b="0" i="0" dirty="0">
                <a:solidFill>
                  <a:srgbClr val="000000"/>
                </a:solidFill>
                <a:effectLst/>
                <a:latin typeface="inter-regular"/>
              </a:rPr>
              <a:t> and </a:t>
            </a:r>
            <a:r>
              <a:rPr lang="en-IN" b="1" i="0" dirty="0">
                <a:solidFill>
                  <a:srgbClr val="000000"/>
                </a:solidFill>
                <a:effectLst/>
                <a:latin typeface="inter-bold"/>
              </a:rPr>
              <a:t>each leaf node represents the outcome.</a:t>
            </a:r>
          </a:p>
          <a:p>
            <a:endParaRPr lang="en-IN" b="1" dirty="0">
              <a:solidFill>
                <a:srgbClr val="000000"/>
              </a:solidFill>
              <a:latin typeface="inter-bold"/>
            </a:endParaRPr>
          </a:p>
          <a:p>
            <a:r>
              <a:rPr lang="en-IN" b="0" i="0" dirty="0">
                <a:solidFill>
                  <a:srgbClr val="000000"/>
                </a:solidFill>
                <a:effectLst/>
                <a:latin typeface="inter-regular"/>
              </a:rPr>
              <a:t>In a Decision tree, there are two nodes, which are the </a:t>
            </a:r>
            <a:r>
              <a:rPr lang="en-IN" b="1" i="0" dirty="0">
                <a:solidFill>
                  <a:srgbClr val="000000"/>
                </a:solidFill>
                <a:effectLst/>
                <a:latin typeface="inter-bold"/>
              </a:rPr>
              <a:t>Decision Node</a:t>
            </a:r>
            <a:r>
              <a:rPr lang="en-IN" b="0" i="0" dirty="0">
                <a:solidFill>
                  <a:srgbClr val="000000"/>
                </a:solidFill>
                <a:effectLst/>
                <a:latin typeface="inter-regular"/>
              </a:rPr>
              <a:t> and</a:t>
            </a:r>
            <a:r>
              <a:rPr lang="en-IN" b="1" i="0" dirty="0">
                <a:solidFill>
                  <a:srgbClr val="000000"/>
                </a:solidFill>
                <a:effectLst/>
                <a:latin typeface="inter-bold"/>
              </a:rPr>
              <a:t> Leaf Node.</a:t>
            </a:r>
            <a:r>
              <a:rPr lang="en-IN" b="0" i="0" dirty="0">
                <a:solidFill>
                  <a:srgbClr val="000000"/>
                </a:solidFill>
                <a:effectLst/>
                <a:latin typeface="inter-regular"/>
              </a:rPr>
              <a:t> Decision nodes are used to make any decision and have multiple branches, whereas Leaf nodes are the output of those decisions and do not contain any further branches.</a:t>
            </a:r>
          </a:p>
          <a:p>
            <a:endParaRPr lang="en-IN" dirty="0">
              <a:solidFill>
                <a:srgbClr val="000000"/>
              </a:solidFill>
              <a:latin typeface="inter-regular"/>
            </a:endParaRPr>
          </a:p>
        </p:txBody>
      </p:sp>
    </p:spTree>
    <p:extLst>
      <p:ext uri="{BB962C8B-B14F-4D97-AF65-F5344CB8AC3E}">
        <p14:creationId xmlns:p14="http://schemas.microsoft.com/office/powerpoint/2010/main" val="2637969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35150-F8EF-2FA7-5E91-621B601FA7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3EC010-EAFA-73FA-589F-40B26CC072BA}"/>
              </a:ext>
            </a:extLst>
          </p:cNvPr>
          <p:cNvSpPr>
            <a:spLocks noGrp="1"/>
          </p:cNvSpPr>
          <p:nvPr>
            <p:ph idx="1"/>
          </p:nvPr>
        </p:nvSpPr>
        <p:spPr/>
        <p:txBody>
          <a:bodyPr/>
          <a:lstStyle/>
          <a:p>
            <a:r>
              <a:rPr lang="en-IN" b="1" i="1" dirty="0">
                <a:solidFill>
                  <a:srgbClr val="000000"/>
                </a:solidFill>
                <a:effectLst/>
                <a:latin typeface="inter-bold"/>
              </a:rPr>
              <a:t>It is a graphical representation for getting all the possible solutions to a problem/decision based on given conditions.</a:t>
            </a:r>
            <a:endParaRPr lang="en-IN" b="0" i="0" dirty="0">
              <a:solidFill>
                <a:srgbClr val="000000"/>
              </a:solidFill>
              <a:effectLst/>
              <a:latin typeface="inter-regular"/>
            </a:endParaRPr>
          </a:p>
          <a:p>
            <a:endParaRPr lang="en-IN" dirty="0"/>
          </a:p>
          <a:p>
            <a:endParaRPr lang="en-IN" dirty="0"/>
          </a:p>
        </p:txBody>
      </p:sp>
    </p:spTree>
    <p:extLst>
      <p:ext uri="{BB962C8B-B14F-4D97-AF65-F5344CB8AC3E}">
        <p14:creationId xmlns:p14="http://schemas.microsoft.com/office/powerpoint/2010/main" val="16140138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72D38-EB6C-5299-2414-CE20BA178A2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79798E3-F000-CCF5-7E05-52BF5B81486F}"/>
              </a:ext>
            </a:extLst>
          </p:cNvPr>
          <p:cNvPicPr>
            <a:picLocks noGrp="1" noChangeAspect="1"/>
          </p:cNvPicPr>
          <p:nvPr>
            <p:ph idx="1"/>
          </p:nvPr>
        </p:nvPicPr>
        <p:blipFill>
          <a:blip r:embed="rId2"/>
          <a:stretch>
            <a:fillRect/>
          </a:stretch>
        </p:blipFill>
        <p:spPr>
          <a:xfrm>
            <a:off x="1158226" y="1651518"/>
            <a:ext cx="7377357" cy="4390507"/>
          </a:xfrm>
          <a:prstGeom prst="rect">
            <a:avLst/>
          </a:prstGeom>
        </p:spPr>
      </p:pic>
    </p:spTree>
    <p:extLst>
      <p:ext uri="{BB962C8B-B14F-4D97-AF65-F5344CB8AC3E}">
        <p14:creationId xmlns:p14="http://schemas.microsoft.com/office/powerpoint/2010/main" val="508088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666D7-AAEB-0B0A-91C6-24FDC69DBA97}"/>
              </a:ext>
            </a:extLst>
          </p:cNvPr>
          <p:cNvSpPr>
            <a:spLocks noGrp="1"/>
          </p:cNvSpPr>
          <p:nvPr>
            <p:ph type="title"/>
          </p:nvPr>
        </p:nvSpPr>
        <p:spPr/>
        <p:txBody>
          <a:bodyPr/>
          <a:lstStyle/>
          <a:p>
            <a:r>
              <a:rPr lang="en-IN" dirty="0"/>
              <a:t>Why use Decision Trees?</a:t>
            </a:r>
          </a:p>
        </p:txBody>
      </p:sp>
      <p:sp>
        <p:nvSpPr>
          <p:cNvPr id="3" name="Content Placeholder 2">
            <a:extLst>
              <a:ext uri="{FF2B5EF4-FFF2-40B4-BE49-F238E27FC236}">
                <a16:creationId xmlns:a16="http://schemas.microsoft.com/office/drawing/2014/main" id="{898AF7B2-BB13-6421-90F9-66B8ACD7E751}"/>
              </a:ext>
            </a:extLst>
          </p:cNvPr>
          <p:cNvSpPr>
            <a:spLocks noGrp="1"/>
          </p:cNvSpPr>
          <p:nvPr>
            <p:ph idx="1"/>
          </p:nvPr>
        </p:nvSpPr>
        <p:spPr/>
        <p:txBody>
          <a:bodyPr/>
          <a:lstStyle/>
          <a:p>
            <a:pPr algn="just"/>
            <a:r>
              <a:rPr lang="en-IN" b="0" i="0" dirty="0">
                <a:solidFill>
                  <a:srgbClr val="333333"/>
                </a:solidFill>
                <a:effectLst/>
                <a:latin typeface="inter-regular"/>
              </a:rPr>
              <a:t>There are various algorithms in Machine learning, so choosing the best algorithm for the given dataset and problem is the main point to remember while creating a machine learning model. Below are the two reasons for using the Decision tree:</a:t>
            </a:r>
          </a:p>
          <a:p>
            <a:pPr algn="just"/>
            <a:endParaRPr lang="en-IN" dirty="0">
              <a:solidFill>
                <a:srgbClr val="333333"/>
              </a:solidFill>
              <a:latin typeface="inter-regular"/>
            </a:endParaRPr>
          </a:p>
          <a:p>
            <a:pPr marL="0" indent="0" algn="just">
              <a:buNone/>
            </a:pPr>
            <a:endParaRPr lang="en-IN" b="0" i="0" dirty="0">
              <a:solidFill>
                <a:srgbClr val="333333"/>
              </a:solidFill>
              <a:effectLst/>
              <a:latin typeface="inter-regular"/>
            </a:endParaRPr>
          </a:p>
          <a:p>
            <a:pPr algn="just">
              <a:buFont typeface="Arial" panose="020B0604020202020204" pitchFamily="34" charset="0"/>
              <a:buChar char="•"/>
            </a:pPr>
            <a:r>
              <a:rPr lang="en-IN" b="0" i="0" dirty="0">
                <a:solidFill>
                  <a:srgbClr val="000000"/>
                </a:solidFill>
                <a:effectLst/>
                <a:latin typeface="inter-regular"/>
              </a:rPr>
              <a:t>Decision Trees usually mimic human thinking ability while making a decision, so it is easy to understand.</a:t>
            </a:r>
          </a:p>
          <a:p>
            <a:pPr algn="just">
              <a:buFont typeface="Arial" panose="020B0604020202020204" pitchFamily="34" charset="0"/>
              <a:buChar char="•"/>
            </a:pPr>
            <a:r>
              <a:rPr lang="en-IN" b="0" i="0" dirty="0">
                <a:solidFill>
                  <a:srgbClr val="000000"/>
                </a:solidFill>
                <a:effectLst/>
                <a:latin typeface="inter-regular"/>
              </a:rPr>
              <a:t>The logic behind the decision tree can be easily understood because it shows a tree-like structure.</a:t>
            </a:r>
          </a:p>
          <a:p>
            <a:endParaRPr lang="en-IN" dirty="0"/>
          </a:p>
        </p:txBody>
      </p:sp>
    </p:spTree>
    <p:extLst>
      <p:ext uri="{BB962C8B-B14F-4D97-AF65-F5344CB8AC3E}">
        <p14:creationId xmlns:p14="http://schemas.microsoft.com/office/powerpoint/2010/main" val="4478050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173A8-A749-F98A-B221-D5C66702E95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6DF580C7-4ED0-B237-81DD-607E9805CFEE}"/>
              </a:ext>
            </a:extLst>
          </p:cNvPr>
          <p:cNvSpPr>
            <a:spLocks noGrp="1"/>
          </p:cNvSpPr>
          <p:nvPr>
            <p:ph idx="1"/>
          </p:nvPr>
        </p:nvSpPr>
        <p:spPr/>
        <p:txBody>
          <a:bodyPr/>
          <a:lstStyle/>
          <a:p>
            <a:r>
              <a:rPr lang="en-IN" b="0" i="0" dirty="0">
                <a:solidFill>
                  <a:srgbClr val="333333"/>
                </a:solidFill>
                <a:effectLst/>
                <a:latin typeface="inter-regular"/>
              </a:rPr>
              <a:t>Suppose there is a candidate who has a job offer and wants to decide whether he should accept the offer or Not. So, to solve this problem, the decision tree starts with the root node (Salary attribute). The root node splits further into the next decision node (distance from the office) and one leaf node based on the corresponding labels. The next decision node further gets split into one decision node (Cab facility) and one leaf node. Finally, the decision node splits into two leaf nodes (Accepted offers and Declined offer). </a:t>
            </a:r>
            <a:endParaRPr lang="en-IN" dirty="0"/>
          </a:p>
        </p:txBody>
      </p:sp>
    </p:spTree>
    <p:extLst>
      <p:ext uri="{BB962C8B-B14F-4D97-AF65-F5344CB8AC3E}">
        <p14:creationId xmlns:p14="http://schemas.microsoft.com/office/powerpoint/2010/main" val="6037112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3D13-5631-9FC2-4EFC-9B32D09D74A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82C61C3-7B57-F9E8-C402-879DA298BBC4}"/>
              </a:ext>
            </a:extLst>
          </p:cNvPr>
          <p:cNvPicPr>
            <a:picLocks noGrp="1" noChangeAspect="1"/>
          </p:cNvPicPr>
          <p:nvPr>
            <p:ph idx="1"/>
          </p:nvPr>
        </p:nvPicPr>
        <p:blipFill>
          <a:blip r:embed="rId2"/>
          <a:stretch>
            <a:fillRect/>
          </a:stretch>
        </p:blipFill>
        <p:spPr>
          <a:xfrm>
            <a:off x="1203649" y="1090028"/>
            <a:ext cx="6203600" cy="4951997"/>
          </a:xfrm>
        </p:spPr>
      </p:pic>
    </p:spTree>
    <p:extLst>
      <p:ext uri="{BB962C8B-B14F-4D97-AF65-F5344CB8AC3E}">
        <p14:creationId xmlns:p14="http://schemas.microsoft.com/office/powerpoint/2010/main" val="2877962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E83E6-6E29-6C10-D465-F0B0881E2060}"/>
              </a:ext>
            </a:extLst>
          </p:cNvPr>
          <p:cNvSpPr>
            <a:spLocks noGrp="1"/>
          </p:cNvSpPr>
          <p:nvPr>
            <p:ph type="title"/>
          </p:nvPr>
        </p:nvSpPr>
        <p:spPr/>
        <p:txBody>
          <a:bodyPr/>
          <a:lstStyle/>
          <a:p>
            <a:r>
              <a:rPr lang="en-US" dirty="0"/>
              <a:t>Quiz</a:t>
            </a:r>
            <a:endParaRPr lang="en-IN" dirty="0"/>
          </a:p>
        </p:txBody>
      </p:sp>
      <p:sp>
        <p:nvSpPr>
          <p:cNvPr id="3" name="Content Placeholder 2">
            <a:extLst>
              <a:ext uri="{FF2B5EF4-FFF2-40B4-BE49-F238E27FC236}">
                <a16:creationId xmlns:a16="http://schemas.microsoft.com/office/drawing/2014/main" id="{95E7849C-61EA-C310-CD90-EBC2A7A1CC58}"/>
              </a:ext>
            </a:extLst>
          </p:cNvPr>
          <p:cNvSpPr>
            <a:spLocks noGrp="1"/>
          </p:cNvSpPr>
          <p:nvPr>
            <p:ph idx="1"/>
          </p:nvPr>
        </p:nvSpPr>
        <p:spPr/>
        <p:txBody>
          <a:bodyPr/>
          <a:lstStyle/>
          <a:p>
            <a:r>
              <a:rPr lang="en-IN" b="0" i="0" dirty="0">
                <a:solidFill>
                  <a:srgbClr val="272C37"/>
                </a:solidFill>
                <a:effectLst/>
                <a:latin typeface="Roboto" panose="02000000000000000000" pitchFamily="2" charset="0"/>
              </a:rPr>
              <a:t>What Are the Different Types of Machine Learning?</a:t>
            </a:r>
          </a:p>
          <a:p>
            <a:r>
              <a:rPr lang="en-IN" b="1" i="0" dirty="0">
                <a:solidFill>
                  <a:srgbClr val="373E3F"/>
                </a:solidFill>
                <a:effectLst/>
                <a:latin typeface="Lato" panose="020F0502020204030203" pitchFamily="34" charset="0"/>
              </a:rPr>
              <a:t>Identify the type of learning in which </a:t>
            </a:r>
            <a:r>
              <a:rPr lang="en-IN" b="1" i="0" dirty="0" err="1">
                <a:solidFill>
                  <a:srgbClr val="373E3F"/>
                </a:solidFill>
                <a:effectLst/>
                <a:latin typeface="Lato" panose="020F0502020204030203" pitchFamily="34" charset="0"/>
              </a:rPr>
              <a:t>labeled</a:t>
            </a:r>
            <a:r>
              <a:rPr lang="en-IN" b="1" i="0" dirty="0">
                <a:solidFill>
                  <a:srgbClr val="373E3F"/>
                </a:solidFill>
                <a:effectLst/>
                <a:latin typeface="Lato" panose="020F0502020204030203" pitchFamily="34" charset="0"/>
              </a:rPr>
              <a:t> training data is used.</a:t>
            </a:r>
          </a:p>
          <a:p>
            <a:pPr lvl="1"/>
            <a:r>
              <a:rPr lang="en-IN" b="1" dirty="0">
                <a:solidFill>
                  <a:srgbClr val="373E3F"/>
                </a:solidFill>
                <a:latin typeface="Lato" panose="020F0502020204030203" pitchFamily="34" charset="0"/>
              </a:rPr>
              <a:t>Semi Supervised Learning</a:t>
            </a:r>
          </a:p>
          <a:p>
            <a:pPr lvl="1"/>
            <a:r>
              <a:rPr lang="en-IN" b="1" dirty="0">
                <a:solidFill>
                  <a:srgbClr val="373E3F"/>
                </a:solidFill>
                <a:latin typeface="Lato" panose="020F0502020204030203" pitchFamily="34" charset="0"/>
              </a:rPr>
              <a:t>Supervised Learning</a:t>
            </a:r>
          </a:p>
          <a:p>
            <a:pPr lvl="1"/>
            <a:r>
              <a:rPr lang="en-IN" b="1" dirty="0">
                <a:solidFill>
                  <a:srgbClr val="373E3F"/>
                </a:solidFill>
                <a:latin typeface="Lato" panose="020F0502020204030203" pitchFamily="34" charset="0"/>
              </a:rPr>
              <a:t>Unsupervised Learning</a:t>
            </a:r>
          </a:p>
        </p:txBody>
      </p:sp>
    </p:spTree>
    <p:extLst>
      <p:ext uri="{BB962C8B-B14F-4D97-AF65-F5344CB8AC3E}">
        <p14:creationId xmlns:p14="http://schemas.microsoft.com/office/powerpoint/2010/main" val="25270362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23904-D73A-6EEB-095D-E435CF9793A6}"/>
              </a:ext>
            </a:extLst>
          </p:cNvPr>
          <p:cNvSpPr>
            <a:spLocks noGrp="1"/>
          </p:cNvSpPr>
          <p:nvPr>
            <p:ph type="title"/>
          </p:nvPr>
        </p:nvSpPr>
        <p:spPr/>
        <p:txBody>
          <a:bodyPr/>
          <a:lstStyle/>
          <a:p>
            <a:r>
              <a:rPr lang="en-US" dirty="0"/>
              <a:t>Question </a:t>
            </a:r>
            <a:endParaRPr lang="en-IN" dirty="0"/>
          </a:p>
        </p:txBody>
      </p:sp>
      <p:sp>
        <p:nvSpPr>
          <p:cNvPr id="3" name="Content Placeholder 2">
            <a:extLst>
              <a:ext uri="{FF2B5EF4-FFF2-40B4-BE49-F238E27FC236}">
                <a16:creationId xmlns:a16="http://schemas.microsoft.com/office/drawing/2014/main" id="{AC3EE949-39BE-E10F-E3DC-C269AB41FAD5}"/>
              </a:ext>
            </a:extLst>
          </p:cNvPr>
          <p:cNvSpPr>
            <a:spLocks noGrp="1"/>
          </p:cNvSpPr>
          <p:nvPr>
            <p:ph idx="1"/>
          </p:nvPr>
        </p:nvSpPr>
        <p:spPr/>
        <p:txBody>
          <a:bodyPr/>
          <a:lstStyle/>
          <a:p>
            <a:r>
              <a:rPr lang="en-IN" b="1" i="0" dirty="0">
                <a:solidFill>
                  <a:srgbClr val="373E3F"/>
                </a:solidFill>
                <a:effectLst/>
                <a:latin typeface="Lato" panose="020F0502020204030203" pitchFamily="34" charset="0"/>
              </a:rPr>
              <a:t>Machine learning is a subset of which of the following.</a:t>
            </a:r>
            <a:endParaRPr lang="en-IN" b="1" dirty="0">
              <a:solidFill>
                <a:srgbClr val="373E3F"/>
              </a:solidFill>
              <a:latin typeface="Lato" panose="020F0502020204030203" pitchFamily="34" charset="0"/>
            </a:endParaRPr>
          </a:p>
          <a:p>
            <a:pPr lvl="1"/>
            <a:r>
              <a:rPr lang="en-IN" dirty="0"/>
              <a:t>Artificial Intelligence </a:t>
            </a:r>
          </a:p>
          <a:p>
            <a:pPr lvl="1"/>
            <a:r>
              <a:rPr lang="en-IN" dirty="0"/>
              <a:t>Deep Learning </a:t>
            </a:r>
          </a:p>
          <a:p>
            <a:pPr lvl="1"/>
            <a:r>
              <a:rPr lang="en-IN" dirty="0"/>
              <a:t>Data Learning </a:t>
            </a:r>
          </a:p>
          <a:p>
            <a:pPr lvl="1"/>
            <a:r>
              <a:rPr lang="en-IN" dirty="0"/>
              <a:t>None of these </a:t>
            </a:r>
          </a:p>
        </p:txBody>
      </p:sp>
    </p:spTree>
    <p:extLst>
      <p:ext uri="{BB962C8B-B14F-4D97-AF65-F5344CB8AC3E}">
        <p14:creationId xmlns:p14="http://schemas.microsoft.com/office/powerpoint/2010/main" val="40251523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DDC1-AEC5-EB9C-8BE2-706172276A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A5508A-083D-A1B1-A772-540776ABCAA3}"/>
              </a:ext>
            </a:extLst>
          </p:cNvPr>
          <p:cNvSpPr>
            <a:spLocks noGrp="1"/>
          </p:cNvSpPr>
          <p:nvPr>
            <p:ph idx="1"/>
          </p:nvPr>
        </p:nvSpPr>
        <p:spPr/>
        <p:txBody>
          <a:bodyPr/>
          <a:lstStyle/>
          <a:p>
            <a:r>
              <a:rPr lang="en-IN" b="1" i="0" dirty="0">
                <a:solidFill>
                  <a:srgbClr val="373E3F"/>
                </a:solidFill>
                <a:effectLst/>
                <a:latin typeface="Lato" panose="020F0502020204030203" pitchFamily="34" charset="0"/>
              </a:rPr>
              <a:t>Which of the following are common classes of problems in machine learning?</a:t>
            </a:r>
          </a:p>
          <a:p>
            <a:pPr lvl="1"/>
            <a:r>
              <a:rPr lang="en-IN" dirty="0">
                <a:solidFill>
                  <a:srgbClr val="373E3F"/>
                </a:solidFill>
                <a:latin typeface="Lato" panose="020F0502020204030203" pitchFamily="34" charset="0"/>
              </a:rPr>
              <a:t>Regression </a:t>
            </a:r>
          </a:p>
          <a:p>
            <a:pPr lvl="1"/>
            <a:r>
              <a:rPr lang="en-IN" dirty="0">
                <a:solidFill>
                  <a:srgbClr val="373E3F"/>
                </a:solidFill>
                <a:latin typeface="Lato" panose="020F0502020204030203" pitchFamily="34" charset="0"/>
              </a:rPr>
              <a:t>Classification </a:t>
            </a:r>
          </a:p>
          <a:p>
            <a:pPr lvl="1"/>
            <a:r>
              <a:rPr lang="en-IN" dirty="0">
                <a:solidFill>
                  <a:srgbClr val="373E3F"/>
                </a:solidFill>
                <a:latin typeface="Lato" panose="020F0502020204030203" pitchFamily="34" charset="0"/>
              </a:rPr>
              <a:t>Clustering </a:t>
            </a:r>
          </a:p>
          <a:p>
            <a:pPr lvl="1"/>
            <a:r>
              <a:rPr lang="en-IN" dirty="0">
                <a:solidFill>
                  <a:srgbClr val="373E3F"/>
                </a:solidFill>
                <a:latin typeface="Lato" panose="020F0502020204030203" pitchFamily="34" charset="0"/>
              </a:rPr>
              <a:t>All of the above </a:t>
            </a:r>
          </a:p>
          <a:p>
            <a:pPr marL="457200" lvl="1" indent="0">
              <a:buNone/>
            </a:pPr>
            <a:endParaRPr lang="en-IN" dirty="0"/>
          </a:p>
        </p:txBody>
      </p:sp>
    </p:spTree>
    <p:extLst>
      <p:ext uri="{BB962C8B-B14F-4D97-AF65-F5344CB8AC3E}">
        <p14:creationId xmlns:p14="http://schemas.microsoft.com/office/powerpoint/2010/main" val="41644102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EACFD-73EA-1AB2-CE2E-7F753BEE8F2C}"/>
              </a:ext>
            </a:extLst>
          </p:cNvPr>
          <p:cNvSpPr>
            <a:spLocks noGrp="1"/>
          </p:cNvSpPr>
          <p:nvPr>
            <p:ph type="title"/>
          </p:nvPr>
        </p:nvSpPr>
        <p:spPr/>
        <p:txBody>
          <a:bodyPr/>
          <a:lstStyle/>
          <a:p>
            <a:r>
              <a:rPr lang="en-US" dirty="0"/>
              <a:t>Question</a:t>
            </a:r>
            <a:endParaRPr lang="en-IN" dirty="0"/>
          </a:p>
        </p:txBody>
      </p:sp>
      <p:sp>
        <p:nvSpPr>
          <p:cNvPr id="3" name="Content Placeholder 2">
            <a:extLst>
              <a:ext uri="{FF2B5EF4-FFF2-40B4-BE49-F238E27FC236}">
                <a16:creationId xmlns:a16="http://schemas.microsoft.com/office/drawing/2014/main" id="{CF3322B9-8EF6-434E-4DAD-072C50276F39}"/>
              </a:ext>
            </a:extLst>
          </p:cNvPr>
          <p:cNvSpPr>
            <a:spLocks noGrp="1"/>
          </p:cNvSpPr>
          <p:nvPr>
            <p:ph idx="1"/>
          </p:nvPr>
        </p:nvSpPr>
        <p:spPr/>
        <p:txBody>
          <a:bodyPr/>
          <a:lstStyle/>
          <a:p>
            <a:r>
              <a:rPr lang="en-US" dirty="0"/>
              <a:t>What does K stands for in KNN Algorithm </a:t>
            </a:r>
          </a:p>
          <a:p>
            <a:endParaRPr lang="en-US" dirty="0"/>
          </a:p>
          <a:p>
            <a:r>
              <a:rPr lang="en-IN" b="0" i="0" dirty="0">
                <a:solidFill>
                  <a:srgbClr val="272C37"/>
                </a:solidFill>
                <a:effectLst/>
                <a:latin typeface="Roboto" panose="02000000000000000000" pitchFamily="2" charset="0"/>
              </a:rPr>
              <a:t>What Is ‘naive’ in the Naive Bayes Classifier?</a:t>
            </a:r>
          </a:p>
          <a:p>
            <a:endParaRPr lang="en-US" dirty="0"/>
          </a:p>
          <a:p>
            <a:r>
              <a:rPr lang="en-IN" b="0" i="0" dirty="0">
                <a:solidFill>
                  <a:srgbClr val="272C37"/>
                </a:solidFill>
                <a:effectLst/>
                <a:latin typeface="Roboto" panose="02000000000000000000" pitchFamily="2" charset="0"/>
              </a:rPr>
              <a:t>When Will You Use Classification over Regression?</a:t>
            </a:r>
          </a:p>
          <a:p>
            <a:endParaRPr lang="en-US" dirty="0"/>
          </a:p>
          <a:p>
            <a:r>
              <a:rPr lang="en-IN" b="0" i="0" dirty="0">
                <a:solidFill>
                  <a:srgbClr val="272C37"/>
                </a:solidFill>
                <a:effectLst/>
                <a:latin typeface="Roboto" panose="02000000000000000000" pitchFamily="2" charset="0"/>
              </a:rPr>
              <a:t>Explain the K Nearest </a:t>
            </a:r>
            <a:r>
              <a:rPr lang="en-IN" b="0" i="0" dirty="0" err="1">
                <a:solidFill>
                  <a:srgbClr val="272C37"/>
                </a:solidFill>
                <a:effectLst/>
                <a:latin typeface="Roboto" panose="02000000000000000000" pitchFamily="2" charset="0"/>
              </a:rPr>
              <a:t>Neighbor</a:t>
            </a:r>
            <a:r>
              <a:rPr lang="en-IN" b="0" i="0" dirty="0">
                <a:solidFill>
                  <a:srgbClr val="272C37"/>
                </a:solidFill>
                <a:effectLst/>
                <a:latin typeface="Roboto" panose="02000000000000000000" pitchFamily="2" charset="0"/>
              </a:rPr>
              <a:t> Algorithm. </a:t>
            </a:r>
          </a:p>
          <a:p>
            <a:endParaRPr lang="en-IN" dirty="0"/>
          </a:p>
        </p:txBody>
      </p:sp>
    </p:spTree>
    <p:extLst>
      <p:ext uri="{BB962C8B-B14F-4D97-AF65-F5344CB8AC3E}">
        <p14:creationId xmlns:p14="http://schemas.microsoft.com/office/powerpoint/2010/main" val="1345895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D9587-B38F-CA00-7C3A-0F38A3F21DCF}"/>
              </a:ext>
            </a:extLst>
          </p:cNvPr>
          <p:cNvSpPr>
            <a:spLocks noGrp="1"/>
          </p:cNvSpPr>
          <p:nvPr>
            <p:ph type="title"/>
          </p:nvPr>
        </p:nvSpPr>
        <p:spPr/>
        <p:txBody>
          <a:bodyPr/>
          <a:lstStyle/>
          <a:p>
            <a:r>
              <a:rPr lang="en-US" dirty="0"/>
              <a:t>Random Forest Algorithm</a:t>
            </a:r>
            <a:endParaRPr lang="en-IN" dirty="0"/>
          </a:p>
        </p:txBody>
      </p:sp>
      <p:sp>
        <p:nvSpPr>
          <p:cNvPr id="3" name="Content Placeholder 2">
            <a:extLst>
              <a:ext uri="{FF2B5EF4-FFF2-40B4-BE49-F238E27FC236}">
                <a16:creationId xmlns:a16="http://schemas.microsoft.com/office/drawing/2014/main" id="{3FAC49D9-1B04-56FD-23DF-99A5905275CB}"/>
              </a:ext>
            </a:extLst>
          </p:cNvPr>
          <p:cNvSpPr>
            <a:spLocks noGrp="1"/>
          </p:cNvSpPr>
          <p:nvPr>
            <p:ph idx="1"/>
          </p:nvPr>
        </p:nvSpPr>
        <p:spPr/>
        <p:txBody>
          <a:bodyPr/>
          <a:lstStyle/>
          <a:p>
            <a:r>
              <a:rPr lang="en-US" dirty="0"/>
              <a:t>Random Forest or Random Decision Tree</a:t>
            </a:r>
          </a:p>
          <a:p>
            <a:endParaRPr lang="en-US" dirty="0"/>
          </a:p>
          <a:p>
            <a:r>
              <a:rPr lang="en-IN" b="0" i="0" dirty="0">
                <a:solidFill>
                  <a:srgbClr val="273239"/>
                </a:solidFill>
                <a:effectLst/>
                <a:latin typeface="Nunito" pitchFamily="2" charset="0"/>
              </a:rPr>
              <a:t>Random Forest algorithm is a powerful tree-learning technique in </a:t>
            </a:r>
            <a:r>
              <a:rPr lang="en-IN" dirty="0">
                <a:solidFill>
                  <a:srgbClr val="273239"/>
                </a:solidFill>
                <a:latin typeface="Nunito" pitchFamily="2" charset="0"/>
              </a:rPr>
              <a:t>Machine Learning. </a:t>
            </a:r>
            <a:r>
              <a:rPr lang="en-IN" b="0" i="0" dirty="0">
                <a:solidFill>
                  <a:srgbClr val="273239"/>
                </a:solidFill>
                <a:effectLst/>
                <a:latin typeface="Nunito" pitchFamily="2" charset="0"/>
              </a:rPr>
              <a:t>It works by creating a number of </a:t>
            </a:r>
            <a:r>
              <a:rPr lang="en-IN" dirty="0">
                <a:solidFill>
                  <a:srgbClr val="273239"/>
                </a:solidFill>
                <a:latin typeface="Nunito" pitchFamily="2" charset="0"/>
              </a:rPr>
              <a:t>Decision Trees </a:t>
            </a:r>
            <a:r>
              <a:rPr lang="en-IN" b="0" i="0" dirty="0">
                <a:solidFill>
                  <a:srgbClr val="273239"/>
                </a:solidFill>
                <a:effectLst/>
                <a:latin typeface="Nunito" pitchFamily="2" charset="0"/>
              </a:rPr>
              <a:t>during the training phase. </a:t>
            </a:r>
          </a:p>
          <a:p>
            <a:endParaRPr lang="en-IN" dirty="0">
              <a:solidFill>
                <a:srgbClr val="273239"/>
              </a:solidFill>
              <a:latin typeface="Nunito" pitchFamily="2" charset="0"/>
            </a:endParaRPr>
          </a:p>
          <a:p>
            <a:r>
              <a:rPr lang="en-IN" b="0" i="0" dirty="0">
                <a:solidFill>
                  <a:srgbClr val="273239"/>
                </a:solidFill>
                <a:effectLst/>
                <a:latin typeface="Nunito" pitchFamily="2" charset="0"/>
              </a:rPr>
              <a:t>Each tree is constructed using a random subset of the data set to measure a random subset of features.</a:t>
            </a:r>
          </a:p>
          <a:p>
            <a:endParaRPr lang="en-IN" dirty="0">
              <a:solidFill>
                <a:srgbClr val="273239"/>
              </a:solidFill>
              <a:latin typeface="Nunito" pitchFamily="2" charset="0"/>
            </a:endParaRPr>
          </a:p>
          <a:p>
            <a:endParaRPr lang="en-IN" dirty="0"/>
          </a:p>
        </p:txBody>
      </p:sp>
    </p:spTree>
    <p:extLst>
      <p:ext uri="{BB962C8B-B14F-4D97-AF65-F5344CB8AC3E}">
        <p14:creationId xmlns:p14="http://schemas.microsoft.com/office/powerpoint/2010/main" val="1837939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C3C8-A43F-4DEF-8B8C-FDB38EB1D7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8587487-770A-7A7E-CC86-95591D35401B}"/>
              </a:ext>
            </a:extLst>
          </p:cNvPr>
          <p:cNvSpPr>
            <a:spLocks noGrp="1"/>
          </p:cNvSpPr>
          <p:nvPr>
            <p:ph idx="1"/>
          </p:nvPr>
        </p:nvSpPr>
        <p:spPr/>
        <p:txBody>
          <a:bodyPr/>
          <a:lstStyle/>
          <a:p>
            <a:r>
              <a:rPr lang="en-IN" b="0" i="0" dirty="0">
                <a:solidFill>
                  <a:srgbClr val="273239"/>
                </a:solidFill>
                <a:effectLst/>
                <a:latin typeface="Nunito" pitchFamily="2" charset="0"/>
              </a:rPr>
              <a:t>This reduces the risk of </a:t>
            </a:r>
            <a:r>
              <a:rPr lang="en-IN" dirty="0">
                <a:solidFill>
                  <a:srgbClr val="273239"/>
                </a:solidFill>
                <a:latin typeface="Nunito" pitchFamily="2" charset="0"/>
              </a:rPr>
              <a:t>overfitting</a:t>
            </a:r>
            <a:r>
              <a:rPr lang="en-IN" b="0" i="0" dirty="0">
                <a:solidFill>
                  <a:srgbClr val="273239"/>
                </a:solidFill>
                <a:effectLst/>
                <a:latin typeface="Nunito" pitchFamily="2" charset="0"/>
              </a:rPr>
              <a:t> and improving overall prediction performance.</a:t>
            </a:r>
          </a:p>
          <a:p>
            <a:endParaRPr lang="en-IN" dirty="0">
              <a:solidFill>
                <a:srgbClr val="273239"/>
              </a:solidFill>
              <a:latin typeface="Nunito" pitchFamily="2" charset="0"/>
            </a:endParaRPr>
          </a:p>
          <a:p>
            <a:r>
              <a:rPr lang="en-IN" b="0" i="0" dirty="0">
                <a:solidFill>
                  <a:srgbClr val="273239"/>
                </a:solidFill>
                <a:effectLst/>
                <a:latin typeface="Nunito" pitchFamily="2" charset="0"/>
              </a:rPr>
              <a:t>In prediction, the algorithm aggregates the results of all trees, either by voting (for classification tasks) or by averaging (for regression tasks).</a:t>
            </a:r>
          </a:p>
          <a:p>
            <a:endParaRPr lang="en-IN" dirty="0">
              <a:solidFill>
                <a:srgbClr val="273239"/>
              </a:solidFill>
              <a:latin typeface="Nunito" pitchFamily="2" charset="0"/>
            </a:endParaRPr>
          </a:p>
          <a:p>
            <a:r>
              <a:rPr lang="en-IN" b="0" i="0" dirty="0">
                <a:solidFill>
                  <a:srgbClr val="273239"/>
                </a:solidFill>
                <a:effectLst/>
                <a:latin typeface="Nunito" pitchFamily="2" charset="0"/>
              </a:rPr>
              <a:t>Random Forest is known for their ability to handle complex data, reduce overfitting, and provide reliable forecasts in different environments.</a:t>
            </a:r>
            <a:endParaRPr lang="en-IN" dirty="0"/>
          </a:p>
        </p:txBody>
      </p:sp>
    </p:spTree>
    <p:extLst>
      <p:ext uri="{BB962C8B-B14F-4D97-AF65-F5344CB8AC3E}">
        <p14:creationId xmlns:p14="http://schemas.microsoft.com/office/powerpoint/2010/main" val="31292826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AEB8A-B004-26A3-B355-551FD9475FD1}"/>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0249C352-5D67-C6B8-C1B1-2169E1C03202}"/>
              </a:ext>
            </a:extLst>
          </p:cNvPr>
          <p:cNvPicPr>
            <a:picLocks noGrp="1" noChangeAspect="1"/>
          </p:cNvPicPr>
          <p:nvPr>
            <p:ph idx="1"/>
          </p:nvPr>
        </p:nvPicPr>
        <p:blipFill>
          <a:blip r:embed="rId2"/>
          <a:stretch>
            <a:fillRect/>
          </a:stretch>
        </p:blipFill>
        <p:spPr>
          <a:xfrm>
            <a:off x="1651519" y="1920370"/>
            <a:ext cx="6282824" cy="4121656"/>
          </a:xfrm>
        </p:spPr>
      </p:pic>
    </p:spTree>
    <p:extLst>
      <p:ext uri="{BB962C8B-B14F-4D97-AF65-F5344CB8AC3E}">
        <p14:creationId xmlns:p14="http://schemas.microsoft.com/office/powerpoint/2010/main" val="2679319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BB7C-7532-9608-E3EB-E701AA0DDF33}"/>
              </a:ext>
            </a:extLst>
          </p:cNvPr>
          <p:cNvSpPr>
            <a:spLocks noGrp="1"/>
          </p:cNvSpPr>
          <p:nvPr>
            <p:ph type="title"/>
          </p:nvPr>
        </p:nvSpPr>
        <p:spPr/>
        <p:txBody>
          <a:bodyPr/>
          <a:lstStyle/>
          <a:p>
            <a:r>
              <a:rPr lang="en-IN" dirty="0"/>
              <a:t>Why use Random Forest?</a:t>
            </a:r>
          </a:p>
        </p:txBody>
      </p:sp>
      <p:sp>
        <p:nvSpPr>
          <p:cNvPr id="3" name="Content Placeholder 2">
            <a:extLst>
              <a:ext uri="{FF2B5EF4-FFF2-40B4-BE49-F238E27FC236}">
                <a16:creationId xmlns:a16="http://schemas.microsoft.com/office/drawing/2014/main" id="{03CABDB7-1E95-7FC8-9366-B6E3CCE6B38E}"/>
              </a:ext>
            </a:extLst>
          </p:cNvPr>
          <p:cNvSpPr>
            <a:spLocks noGrp="1"/>
          </p:cNvSpPr>
          <p:nvPr>
            <p:ph idx="1"/>
          </p:nvPr>
        </p:nvSpPr>
        <p:spPr/>
        <p:txBody>
          <a:bodyPr/>
          <a:lstStyle/>
          <a:p>
            <a:r>
              <a:rPr lang="en-IN" b="0" i="0" dirty="0">
                <a:solidFill>
                  <a:srgbClr val="000000"/>
                </a:solidFill>
                <a:effectLst/>
                <a:latin typeface="inter-regular"/>
              </a:rPr>
              <a:t>It takes less training time as compared to other algorithms.</a:t>
            </a:r>
          </a:p>
          <a:p>
            <a:endParaRPr lang="en-IN" dirty="0">
              <a:solidFill>
                <a:srgbClr val="000000"/>
              </a:solidFill>
              <a:latin typeface="inter-regular"/>
            </a:endParaRPr>
          </a:p>
          <a:p>
            <a:r>
              <a:rPr lang="en-IN" dirty="0">
                <a:solidFill>
                  <a:srgbClr val="000000"/>
                </a:solidFill>
                <a:latin typeface="inter-regular"/>
              </a:rPr>
              <a:t>It predicts output with high accuracy, even for the large dataset it runs efficiently</a:t>
            </a:r>
            <a:r>
              <a:rPr lang="en-IN" b="0" i="0" dirty="0">
                <a:solidFill>
                  <a:srgbClr val="000000"/>
                </a:solidFill>
                <a:effectLst/>
                <a:latin typeface="inter-regular"/>
              </a:rPr>
              <a:t>.</a:t>
            </a:r>
          </a:p>
          <a:p>
            <a:endParaRPr lang="en-IN" dirty="0">
              <a:solidFill>
                <a:srgbClr val="000000"/>
              </a:solidFill>
              <a:latin typeface="inter-regular"/>
            </a:endParaRPr>
          </a:p>
          <a:p>
            <a:r>
              <a:rPr lang="en-IN" b="0" i="0" dirty="0">
                <a:solidFill>
                  <a:srgbClr val="000000"/>
                </a:solidFill>
                <a:effectLst/>
                <a:latin typeface="inter-regular"/>
              </a:rPr>
              <a:t>It can also maintain accuracy when a large proportion of data is missing.</a:t>
            </a:r>
          </a:p>
          <a:p>
            <a:endParaRPr lang="en-IN" b="0" i="0" dirty="0">
              <a:solidFill>
                <a:srgbClr val="000000"/>
              </a:solidFill>
              <a:effectLst/>
              <a:latin typeface="inter-regular"/>
            </a:endParaRPr>
          </a:p>
          <a:p>
            <a:endParaRPr lang="en-IN" b="0" i="0" dirty="0">
              <a:solidFill>
                <a:srgbClr val="000000"/>
              </a:solidFill>
              <a:effectLst/>
              <a:latin typeface="inter-regular"/>
            </a:endParaRPr>
          </a:p>
          <a:p>
            <a:endParaRPr lang="en-IN" dirty="0"/>
          </a:p>
        </p:txBody>
      </p:sp>
    </p:spTree>
    <p:extLst>
      <p:ext uri="{BB962C8B-B14F-4D97-AF65-F5344CB8AC3E}">
        <p14:creationId xmlns:p14="http://schemas.microsoft.com/office/powerpoint/2010/main" val="1222751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903B-DA99-8B0A-636D-F25E6A2D64A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420FB03-CB63-78E1-44C8-7A37B7B1036A}"/>
              </a:ext>
            </a:extLst>
          </p:cNvPr>
          <p:cNvPicPr>
            <a:picLocks noGrp="1" noChangeAspect="1"/>
          </p:cNvPicPr>
          <p:nvPr>
            <p:ph idx="1"/>
          </p:nvPr>
        </p:nvPicPr>
        <p:blipFill>
          <a:blip r:embed="rId2"/>
          <a:stretch>
            <a:fillRect/>
          </a:stretch>
        </p:blipFill>
        <p:spPr>
          <a:xfrm>
            <a:off x="1558212" y="737290"/>
            <a:ext cx="6540759" cy="5392822"/>
          </a:xfrm>
        </p:spPr>
      </p:pic>
    </p:spTree>
    <p:extLst>
      <p:ext uri="{BB962C8B-B14F-4D97-AF65-F5344CB8AC3E}">
        <p14:creationId xmlns:p14="http://schemas.microsoft.com/office/powerpoint/2010/main" val="840931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B2D90-85B6-FAB1-10A7-6B74F73ED28D}"/>
              </a:ext>
            </a:extLst>
          </p:cNvPr>
          <p:cNvSpPr>
            <a:spLocks noGrp="1"/>
          </p:cNvSpPr>
          <p:nvPr>
            <p:ph type="title"/>
          </p:nvPr>
        </p:nvSpPr>
        <p:spPr/>
        <p:txBody>
          <a:bodyPr/>
          <a:lstStyle/>
          <a:p>
            <a:r>
              <a:rPr lang="en-US" dirty="0"/>
              <a:t>Support Vector Machine(SVM)</a:t>
            </a:r>
            <a:endParaRPr lang="en-IN" dirty="0"/>
          </a:p>
        </p:txBody>
      </p:sp>
      <p:sp>
        <p:nvSpPr>
          <p:cNvPr id="3" name="Content Placeholder 2">
            <a:extLst>
              <a:ext uri="{FF2B5EF4-FFF2-40B4-BE49-F238E27FC236}">
                <a16:creationId xmlns:a16="http://schemas.microsoft.com/office/drawing/2014/main" id="{C9937986-BDD0-20AA-E79D-EF880378FB3F}"/>
              </a:ext>
            </a:extLst>
          </p:cNvPr>
          <p:cNvSpPr>
            <a:spLocks noGrp="1"/>
          </p:cNvSpPr>
          <p:nvPr>
            <p:ph idx="1"/>
          </p:nvPr>
        </p:nvSpPr>
        <p:spPr/>
        <p:txBody>
          <a:bodyPr/>
          <a:lstStyle/>
          <a:p>
            <a:r>
              <a:rPr lang="en-IN" b="0" i="0" dirty="0">
                <a:solidFill>
                  <a:srgbClr val="273239"/>
                </a:solidFill>
                <a:effectLst/>
                <a:latin typeface="Nunito" pitchFamily="2" charset="0"/>
              </a:rPr>
              <a:t>Support Vector Machine (SVM) is a powerful machine learning algorithm used for classification, regression, and even outlier detection tasks.</a:t>
            </a:r>
          </a:p>
          <a:p>
            <a:endParaRPr lang="en-IN" dirty="0">
              <a:solidFill>
                <a:srgbClr val="273239"/>
              </a:solidFill>
              <a:latin typeface="Nunito" pitchFamily="2" charset="0"/>
            </a:endParaRPr>
          </a:p>
          <a:p>
            <a:r>
              <a:rPr lang="en-IN" b="0" i="0" dirty="0">
                <a:solidFill>
                  <a:srgbClr val="273239"/>
                </a:solidFill>
                <a:effectLst/>
                <a:latin typeface="Nunito" pitchFamily="2" charset="0"/>
              </a:rPr>
              <a:t>SVMs can be used for a variety of tasks, such as text classification, image classification, spam detection, handwriting identification, gene expression analysis, face detection, and anomaly detection. </a:t>
            </a:r>
          </a:p>
          <a:p>
            <a:endParaRPr lang="en-IN">
              <a:solidFill>
                <a:srgbClr val="273239"/>
              </a:solidFill>
              <a:latin typeface="Nunito" pitchFamily="2" charset="0"/>
            </a:endParaRPr>
          </a:p>
          <a:p>
            <a:endParaRPr lang="en-IN" dirty="0"/>
          </a:p>
        </p:txBody>
      </p:sp>
    </p:spTree>
    <p:extLst>
      <p:ext uri="{BB962C8B-B14F-4D97-AF65-F5344CB8AC3E}">
        <p14:creationId xmlns:p14="http://schemas.microsoft.com/office/powerpoint/2010/main" val="18854597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7A530-88FB-E2D5-F63A-694AE07531F4}"/>
              </a:ext>
            </a:extLst>
          </p:cNvPr>
          <p:cNvSpPr>
            <a:spLocks noGrp="1"/>
          </p:cNvSpPr>
          <p:nvPr>
            <p:ph type="title"/>
          </p:nvPr>
        </p:nvSpPr>
        <p:spPr/>
        <p:txBody>
          <a:bodyPr/>
          <a:lstStyle/>
          <a:p>
            <a:r>
              <a:rPr lang="en-US" dirty="0"/>
              <a:t>SVM</a:t>
            </a:r>
            <a:endParaRPr lang="en-IN" dirty="0"/>
          </a:p>
        </p:txBody>
      </p:sp>
      <p:sp>
        <p:nvSpPr>
          <p:cNvPr id="3" name="Content Placeholder 2">
            <a:extLst>
              <a:ext uri="{FF2B5EF4-FFF2-40B4-BE49-F238E27FC236}">
                <a16:creationId xmlns:a16="http://schemas.microsoft.com/office/drawing/2014/main" id="{7BEBB79F-F384-8DB8-E1B8-07484748990E}"/>
              </a:ext>
            </a:extLst>
          </p:cNvPr>
          <p:cNvSpPr>
            <a:spLocks noGrp="1"/>
          </p:cNvSpPr>
          <p:nvPr>
            <p:ph idx="1"/>
          </p:nvPr>
        </p:nvSpPr>
        <p:spPr/>
        <p:txBody>
          <a:bodyPr/>
          <a:lstStyle/>
          <a:p>
            <a:r>
              <a:rPr lang="en-IN" b="0" i="0" dirty="0">
                <a:solidFill>
                  <a:srgbClr val="333333"/>
                </a:solidFill>
                <a:effectLst/>
                <a:latin typeface="inter-regular"/>
              </a:rPr>
              <a:t>The goal of the SVM algorithm is to create the best line or decision boundary that can segregate n-dimensional space into classes so that we can easily put the new data point in the correct category in the future. </a:t>
            </a:r>
          </a:p>
          <a:p>
            <a:endParaRPr lang="en-IN" dirty="0">
              <a:solidFill>
                <a:srgbClr val="333333"/>
              </a:solidFill>
              <a:latin typeface="inter-regular"/>
            </a:endParaRPr>
          </a:p>
          <a:p>
            <a:r>
              <a:rPr lang="en-IN" b="0" i="0" dirty="0">
                <a:solidFill>
                  <a:srgbClr val="333333"/>
                </a:solidFill>
                <a:effectLst/>
                <a:latin typeface="inter-regular"/>
              </a:rPr>
              <a:t>This best decision boundary is called a hyperplane.</a:t>
            </a:r>
            <a:endParaRPr lang="en-IN" dirty="0"/>
          </a:p>
        </p:txBody>
      </p:sp>
    </p:spTree>
    <p:extLst>
      <p:ext uri="{BB962C8B-B14F-4D97-AF65-F5344CB8AC3E}">
        <p14:creationId xmlns:p14="http://schemas.microsoft.com/office/powerpoint/2010/main" val="3272973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027E5-7EDF-F2EE-A59F-38D008E66F6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7C4A875-8A72-A730-EF86-00894D002CAB}"/>
              </a:ext>
            </a:extLst>
          </p:cNvPr>
          <p:cNvPicPr>
            <a:picLocks noGrp="1" noChangeAspect="1"/>
          </p:cNvPicPr>
          <p:nvPr>
            <p:ph idx="1"/>
          </p:nvPr>
        </p:nvPicPr>
        <p:blipFill>
          <a:blip r:embed="rId2"/>
          <a:stretch>
            <a:fillRect/>
          </a:stretch>
        </p:blipFill>
        <p:spPr>
          <a:xfrm>
            <a:off x="1455576" y="2014408"/>
            <a:ext cx="5859624" cy="4188519"/>
          </a:xfrm>
        </p:spPr>
      </p:pic>
    </p:spTree>
    <p:extLst>
      <p:ext uri="{BB962C8B-B14F-4D97-AF65-F5344CB8AC3E}">
        <p14:creationId xmlns:p14="http://schemas.microsoft.com/office/powerpoint/2010/main" val="1918597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3347B-8432-7D43-B759-C533824181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799965B-0F9F-F332-9773-19276524BD31}"/>
              </a:ext>
            </a:extLst>
          </p:cNvPr>
          <p:cNvSpPr>
            <a:spLocks noGrp="1"/>
          </p:cNvSpPr>
          <p:nvPr>
            <p:ph idx="1"/>
          </p:nvPr>
        </p:nvSpPr>
        <p:spPr/>
        <p:txBody>
          <a:bodyPr/>
          <a:lstStyle/>
          <a:p>
            <a:r>
              <a:rPr lang="en-IN" b="0" i="0" dirty="0">
                <a:solidFill>
                  <a:srgbClr val="333333"/>
                </a:solidFill>
                <a:effectLst/>
                <a:latin typeface="inter-regular"/>
              </a:rPr>
              <a:t>SVM chooses the extreme points/vectors that help in creating the hyperplane. These extreme cases are called as support vectors, and hence algorithm is termed as Support Vector Machine. </a:t>
            </a:r>
            <a:endParaRPr lang="en-IN" dirty="0"/>
          </a:p>
        </p:txBody>
      </p:sp>
    </p:spTree>
    <p:extLst>
      <p:ext uri="{BB962C8B-B14F-4D97-AF65-F5344CB8AC3E}">
        <p14:creationId xmlns:p14="http://schemas.microsoft.com/office/powerpoint/2010/main" val="1184007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4738D-17FF-7C81-5F3C-8F2076FF9DAF}"/>
              </a:ext>
            </a:extLst>
          </p:cNvPr>
          <p:cNvSpPr>
            <a:spLocks noGrp="1"/>
          </p:cNvSpPr>
          <p:nvPr>
            <p:ph type="title"/>
          </p:nvPr>
        </p:nvSpPr>
        <p:spPr/>
        <p:txBody>
          <a:bodyPr/>
          <a:lstStyle/>
          <a:p>
            <a:r>
              <a:rPr lang="en-US" dirty="0"/>
              <a:t>Hyperplane</a:t>
            </a:r>
            <a:endParaRPr lang="en-IN" dirty="0"/>
          </a:p>
        </p:txBody>
      </p:sp>
      <p:sp>
        <p:nvSpPr>
          <p:cNvPr id="3" name="Content Placeholder 2">
            <a:extLst>
              <a:ext uri="{FF2B5EF4-FFF2-40B4-BE49-F238E27FC236}">
                <a16:creationId xmlns:a16="http://schemas.microsoft.com/office/drawing/2014/main" id="{3E10187F-135C-E985-11E2-2A8132BB7924}"/>
              </a:ext>
            </a:extLst>
          </p:cNvPr>
          <p:cNvSpPr>
            <a:spLocks noGrp="1"/>
          </p:cNvSpPr>
          <p:nvPr>
            <p:ph idx="1"/>
          </p:nvPr>
        </p:nvSpPr>
        <p:spPr/>
        <p:txBody>
          <a:bodyPr/>
          <a:lstStyle/>
          <a:p>
            <a:r>
              <a:rPr lang="en-IN" b="0" i="0" dirty="0">
                <a:solidFill>
                  <a:srgbClr val="333333"/>
                </a:solidFill>
                <a:effectLst/>
                <a:latin typeface="inter-regular"/>
              </a:rPr>
              <a:t>There can be multiple lines/decision boundaries to segregate the classes in n-dimensional space, but we need to find out the best decision boundary that helps to classify the data points. This best boundary is known as the hyperplane of SVM.</a:t>
            </a:r>
          </a:p>
          <a:p>
            <a:endParaRPr lang="en-IN" dirty="0">
              <a:solidFill>
                <a:srgbClr val="333333"/>
              </a:solidFill>
              <a:latin typeface="inter-regular"/>
            </a:endParaRPr>
          </a:p>
          <a:p>
            <a:r>
              <a:rPr lang="en-IN" b="0" i="0" dirty="0">
                <a:solidFill>
                  <a:srgbClr val="333333"/>
                </a:solidFill>
                <a:effectLst/>
                <a:latin typeface="inter-regular"/>
              </a:rPr>
              <a:t>The dimensions of the hyperplane depend on the features present in the dataset, which means if there are 2 features , then the hyperplane will be a straight line. And if there are 3 features, then the hyperplane will be a 2-dimension plane.</a:t>
            </a:r>
            <a:endParaRPr lang="en-IN" dirty="0"/>
          </a:p>
        </p:txBody>
      </p:sp>
    </p:spTree>
    <p:extLst>
      <p:ext uri="{BB962C8B-B14F-4D97-AF65-F5344CB8AC3E}">
        <p14:creationId xmlns:p14="http://schemas.microsoft.com/office/powerpoint/2010/main" val="15500053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211CB-CE25-C99F-D5A5-BD9FD4056CD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577790A-619C-C1C4-10C0-1908E7A5A3B6}"/>
              </a:ext>
            </a:extLst>
          </p:cNvPr>
          <p:cNvSpPr>
            <a:spLocks noGrp="1"/>
          </p:cNvSpPr>
          <p:nvPr>
            <p:ph idx="1"/>
          </p:nvPr>
        </p:nvSpPr>
        <p:spPr>
          <a:xfrm>
            <a:off x="677334" y="1250303"/>
            <a:ext cx="8596668" cy="4791060"/>
          </a:xfrm>
        </p:spPr>
        <p:txBody>
          <a:bodyPr/>
          <a:lstStyle/>
          <a:p>
            <a:r>
              <a:rPr lang="en-IN" b="0" i="0" dirty="0">
                <a:solidFill>
                  <a:srgbClr val="333333"/>
                </a:solidFill>
                <a:effectLst/>
                <a:latin typeface="inter-regular"/>
              </a:rPr>
              <a:t>The working of the SVM algorithm can be understood by using an example. Suppose we have a dataset that has two tags (green and blue), and the dataset has two features x1 and x2. We want a classifier that can classify the pair(x1, x2) of coordinates in either green or blue. </a:t>
            </a:r>
          </a:p>
          <a:p>
            <a:endParaRPr lang="en-IN" dirty="0">
              <a:solidFill>
                <a:srgbClr val="333333"/>
              </a:solidFill>
              <a:latin typeface="inter-regular"/>
            </a:endParaRPr>
          </a:p>
          <a:p>
            <a:endParaRPr lang="en-IN" dirty="0">
              <a:solidFill>
                <a:srgbClr val="333333"/>
              </a:solidFill>
              <a:latin typeface="inter-regular"/>
            </a:endParaRPr>
          </a:p>
          <a:p>
            <a:endParaRPr lang="en-IN" dirty="0">
              <a:solidFill>
                <a:srgbClr val="333333"/>
              </a:solidFill>
              <a:latin typeface="inter-regular"/>
            </a:endParaRPr>
          </a:p>
          <a:p>
            <a:endParaRPr lang="en-IN" dirty="0"/>
          </a:p>
        </p:txBody>
      </p:sp>
      <p:pic>
        <p:nvPicPr>
          <p:cNvPr id="5" name="Picture 4">
            <a:extLst>
              <a:ext uri="{FF2B5EF4-FFF2-40B4-BE49-F238E27FC236}">
                <a16:creationId xmlns:a16="http://schemas.microsoft.com/office/drawing/2014/main" id="{4C979536-5239-F237-B210-9708138C3ED9}"/>
              </a:ext>
            </a:extLst>
          </p:cNvPr>
          <p:cNvPicPr>
            <a:picLocks noChangeAspect="1"/>
          </p:cNvPicPr>
          <p:nvPr/>
        </p:nvPicPr>
        <p:blipFill>
          <a:blip r:embed="rId2"/>
          <a:stretch>
            <a:fillRect/>
          </a:stretch>
        </p:blipFill>
        <p:spPr>
          <a:xfrm>
            <a:off x="2917999" y="2892490"/>
            <a:ext cx="3632310" cy="3148873"/>
          </a:xfrm>
          <a:prstGeom prst="rect">
            <a:avLst/>
          </a:prstGeom>
        </p:spPr>
      </p:pic>
    </p:spTree>
    <p:extLst>
      <p:ext uri="{BB962C8B-B14F-4D97-AF65-F5344CB8AC3E}">
        <p14:creationId xmlns:p14="http://schemas.microsoft.com/office/powerpoint/2010/main" val="21945955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4FD95-F749-96AC-AE56-526492A183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39DC7FB-2525-6C36-10B5-DDC8C63B296D}"/>
              </a:ext>
            </a:extLst>
          </p:cNvPr>
          <p:cNvSpPr>
            <a:spLocks noGrp="1"/>
          </p:cNvSpPr>
          <p:nvPr>
            <p:ph idx="1"/>
          </p:nvPr>
        </p:nvSpPr>
        <p:spPr>
          <a:xfrm>
            <a:off x="677334" y="1212981"/>
            <a:ext cx="8596668" cy="4828382"/>
          </a:xfrm>
        </p:spPr>
        <p:txBody>
          <a:bodyPr/>
          <a:lstStyle/>
          <a:p>
            <a:r>
              <a:rPr lang="en-IN" b="0" i="0" dirty="0">
                <a:solidFill>
                  <a:srgbClr val="333333"/>
                </a:solidFill>
                <a:effectLst/>
                <a:latin typeface="inter-regular"/>
              </a:rPr>
              <a:t>So as it is 2-d space so by just using a straight line, we can easily separate these two classes. But there can be multiple lines that can separate these classes. </a:t>
            </a:r>
          </a:p>
          <a:p>
            <a:endParaRPr lang="en-IN" dirty="0">
              <a:solidFill>
                <a:srgbClr val="333333"/>
              </a:solidFill>
              <a:latin typeface="inter-regular"/>
            </a:endParaRPr>
          </a:p>
          <a:p>
            <a:endParaRPr lang="en-IN" dirty="0"/>
          </a:p>
        </p:txBody>
      </p:sp>
      <p:pic>
        <p:nvPicPr>
          <p:cNvPr id="5" name="Picture 4">
            <a:extLst>
              <a:ext uri="{FF2B5EF4-FFF2-40B4-BE49-F238E27FC236}">
                <a16:creationId xmlns:a16="http://schemas.microsoft.com/office/drawing/2014/main" id="{9FC6ABF0-5F63-9496-938D-6CD1AA224A46}"/>
              </a:ext>
            </a:extLst>
          </p:cNvPr>
          <p:cNvPicPr>
            <a:picLocks noChangeAspect="1"/>
          </p:cNvPicPr>
          <p:nvPr/>
        </p:nvPicPr>
        <p:blipFill>
          <a:blip r:embed="rId2"/>
          <a:stretch>
            <a:fillRect/>
          </a:stretch>
        </p:blipFill>
        <p:spPr>
          <a:xfrm>
            <a:off x="1906749" y="2067717"/>
            <a:ext cx="4074173" cy="3513441"/>
          </a:xfrm>
          <a:prstGeom prst="rect">
            <a:avLst/>
          </a:prstGeom>
        </p:spPr>
      </p:pic>
    </p:spTree>
    <p:extLst>
      <p:ext uri="{BB962C8B-B14F-4D97-AF65-F5344CB8AC3E}">
        <p14:creationId xmlns:p14="http://schemas.microsoft.com/office/powerpoint/2010/main" val="2481550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11FC2-2041-E986-B0F6-8B9966BBE8E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B49878B-4FA6-5611-8D09-F6A2A7ED2E56}"/>
              </a:ext>
            </a:extLst>
          </p:cNvPr>
          <p:cNvPicPr>
            <a:picLocks noGrp="1" noChangeAspect="1"/>
          </p:cNvPicPr>
          <p:nvPr>
            <p:ph idx="1"/>
          </p:nvPr>
        </p:nvPicPr>
        <p:blipFill>
          <a:blip r:embed="rId3"/>
          <a:stretch>
            <a:fillRect/>
          </a:stretch>
        </p:blipFill>
        <p:spPr>
          <a:xfrm>
            <a:off x="1511349" y="609600"/>
            <a:ext cx="4764638" cy="3881437"/>
          </a:xfrm>
        </p:spPr>
      </p:pic>
      <p:sp>
        <p:nvSpPr>
          <p:cNvPr id="7" name="TextBox 6">
            <a:extLst>
              <a:ext uri="{FF2B5EF4-FFF2-40B4-BE49-F238E27FC236}">
                <a16:creationId xmlns:a16="http://schemas.microsoft.com/office/drawing/2014/main" id="{87AF5D0D-8E75-8982-1FF1-9B9620B4C46E}"/>
              </a:ext>
            </a:extLst>
          </p:cNvPr>
          <p:cNvSpPr txBox="1"/>
          <p:nvPr/>
        </p:nvSpPr>
        <p:spPr>
          <a:xfrm>
            <a:off x="942391" y="4403963"/>
            <a:ext cx="7977673" cy="1200329"/>
          </a:xfrm>
          <a:prstGeom prst="rect">
            <a:avLst/>
          </a:prstGeom>
          <a:noFill/>
        </p:spPr>
        <p:txBody>
          <a:bodyPr wrap="square">
            <a:spAutoFit/>
          </a:bodyPr>
          <a:lstStyle/>
          <a:p>
            <a:r>
              <a:rPr lang="en-IN" dirty="0">
                <a:solidFill>
                  <a:srgbClr val="333333"/>
                </a:solidFill>
                <a:latin typeface="inter-regular"/>
              </a:rPr>
              <a:t>T</a:t>
            </a:r>
            <a:r>
              <a:rPr lang="en-IN" b="0" i="0" dirty="0">
                <a:solidFill>
                  <a:srgbClr val="333333"/>
                </a:solidFill>
                <a:effectLst/>
                <a:latin typeface="inter-regular"/>
              </a:rPr>
              <a:t>he SVM algorithm helps to find the best line or decision boundary; this best boundary or region is called as a </a:t>
            </a:r>
            <a:r>
              <a:rPr lang="en-IN" b="1" i="0" dirty="0">
                <a:solidFill>
                  <a:srgbClr val="333333"/>
                </a:solidFill>
                <a:effectLst/>
                <a:latin typeface="inter-bold"/>
              </a:rPr>
              <a:t>hyperplane</a:t>
            </a:r>
            <a:r>
              <a:rPr lang="en-IN" b="0" i="0" dirty="0">
                <a:solidFill>
                  <a:srgbClr val="333333"/>
                </a:solidFill>
                <a:effectLst/>
                <a:latin typeface="inter-regular"/>
              </a:rPr>
              <a:t>. SVM algorithm finds the closest point of the lines from both the classes. These points are called support vectors. The distance between the vectors and the hyperplane is called as </a:t>
            </a:r>
            <a:r>
              <a:rPr lang="en-IN" b="1" i="0" dirty="0">
                <a:solidFill>
                  <a:srgbClr val="333333"/>
                </a:solidFill>
                <a:effectLst/>
                <a:latin typeface="inter-bold"/>
              </a:rPr>
              <a:t>margin</a:t>
            </a:r>
            <a:r>
              <a:rPr lang="en-IN" b="0" i="0" dirty="0">
                <a:solidFill>
                  <a:srgbClr val="333333"/>
                </a:solidFill>
                <a:effectLst/>
                <a:latin typeface="inter-regular"/>
              </a:rPr>
              <a:t>.</a:t>
            </a:r>
            <a:endParaRPr lang="en-IN" dirty="0"/>
          </a:p>
        </p:txBody>
      </p:sp>
    </p:spTree>
    <p:extLst>
      <p:ext uri="{BB962C8B-B14F-4D97-AF65-F5344CB8AC3E}">
        <p14:creationId xmlns:p14="http://schemas.microsoft.com/office/powerpoint/2010/main" val="28732223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0B818-1FD4-08BA-F960-FB5C8A548E16}"/>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322E4BC-EABB-DBC0-726F-65A35DDFF52C}"/>
              </a:ext>
            </a:extLst>
          </p:cNvPr>
          <p:cNvSpPr>
            <a:spLocks noGrp="1"/>
          </p:cNvSpPr>
          <p:nvPr>
            <p:ph idx="1"/>
          </p:nvPr>
        </p:nvSpPr>
        <p:spPr>
          <a:xfrm>
            <a:off x="677334" y="1380931"/>
            <a:ext cx="8596668" cy="4660431"/>
          </a:xfrm>
        </p:spPr>
        <p:txBody>
          <a:bodyPr/>
          <a:lstStyle/>
          <a:p>
            <a:r>
              <a:rPr lang="en-IN" b="0" i="0" dirty="0">
                <a:solidFill>
                  <a:srgbClr val="273239"/>
                </a:solidFill>
                <a:effectLst/>
                <a:latin typeface="Nunito" pitchFamily="2" charset="0"/>
              </a:rPr>
              <a:t>One reasonable choice as the best hyperplane is the one that represents the largest separation or margin between the two classes.</a:t>
            </a:r>
          </a:p>
          <a:p>
            <a:endParaRPr lang="en-IN" dirty="0">
              <a:solidFill>
                <a:srgbClr val="273239"/>
              </a:solidFill>
              <a:latin typeface="Nunito" pitchFamily="2" charset="0"/>
            </a:endParaRPr>
          </a:p>
          <a:p>
            <a:endParaRPr lang="en-IN" dirty="0"/>
          </a:p>
        </p:txBody>
      </p:sp>
      <p:pic>
        <p:nvPicPr>
          <p:cNvPr id="5" name="Picture 4">
            <a:extLst>
              <a:ext uri="{FF2B5EF4-FFF2-40B4-BE49-F238E27FC236}">
                <a16:creationId xmlns:a16="http://schemas.microsoft.com/office/drawing/2014/main" id="{F1F54BAF-AA84-F3E6-8B96-CC606977EC04}"/>
              </a:ext>
            </a:extLst>
          </p:cNvPr>
          <p:cNvPicPr>
            <a:picLocks noChangeAspect="1"/>
          </p:cNvPicPr>
          <p:nvPr/>
        </p:nvPicPr>
        <p:blipFill>
          <a:blip r:embed="rId2"/>
          <a:stretch>
            <a:fillRect/>
          </a:stretch>
        </p:blipFill>
        <p:spPr>
          <a:xfrm>
            <a:off x="2311659" y="2248921"/>
            <a:ext cx="4443704" cy="2847627"/>
          </a:xfrm>
          <a:prstGeom prst="rect">
            <a:avLst/>
          </a:prstGeom>
        </p:spPr>
      </p:pic>
      <p:sp>
        <p:nvSpPr>
          <p:cNvPr id="7" name="TextBox 6">
            <a:extLst>
              <a:ext uri="{FF2B5EF4-FFF2-40B4-BE49-F238E27FC236}">
                <a16:creationId xmlns:a16="http://schemas.microsoft.com/office/drawing/2014/main" id="{0EFD2254-AC68-9964-0510-C38D2AEDE6F5}"/>
              </a:ext>
            </a:extLst>
          </p:cNvPr>
          <p:cNvSpPr txBox="1"/>
          <p:nvPr/>
        </p:nvSpPr>
        <p:spPr>
          <a:xfrm>
            <a:off x="989044" y="5245789"/>
            <a:ext cx="7539135" cy="923330"/>
          </a:xfrm>
          <a:prstGeom prst="rect">
            <a:avLst/>
          </a:prstGeom>
          <a:noFill/>
        </p:spPr>
        <p:txBody>
          <a:bodyPr wrap="square">
            <a:spAutoFit/>
          </a:bodyPr>
          <a:lstStyle/>
          <a:p>
            <a:r>
              <a:rPr lang="en-IN" b="0" i="0" dirty="0">
                <a:solidFill>
                  <a:srgbClr val="273239"/>
                </a:solidFill>
                <a:effectLst/>
                <a:latin typeface="Nunito" pitchFamily="2" charset="0"/>
              </a:rPr>
              <a:t>So we choose the hyperplane whose distance from it to the nearest data point on each side is maximized.  If such a hyperplane exists it is known as the </a:t>
            </a:r>
            <a:r>
              <a:rPr lang="en-IN" b="1" i="0" dirty="0">
                <a:solidFill>
                  <a:srgbClr val="273239"/>
                </a:solidFill>
                <a:effectLst/>
                <a:latin typeface="Nunito" pitchFamily="2" charset="0"/>
              </a:rPr>
              <a:t>maximum-margin hyperplane/hard margin</a:t>
            </a:r>
            <a:r>
              <a:rPr lang="en-IN" b="0" i="0" dirty="0">
                <a:solidFill>
                  <a:srgbClr val="273239"/>
                </a:solidFill>
                <a:effectLst/>
                <a:latin typeface="Nunito" pitchFamily="2" charset="0"/>
              </a:rPr>
              <a:t>.</a:t>
            </a:r>
            <a:endParaRPr lang="en-IN" dirty="0"/>
          </a:p>
        </p:txBody>
      </p:sp>
    </p:spTree>
    <p:extLst>
      <p:ext uri="{BB962C8B-B14F-4D97-AF65-F5344CB8AC3E}">
        <p14:creationId xmlns:p14="http://schemas.microsoft.com/office/powerpoint/2010/main" val="23478364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B9461-6671-2BC7-5AD0-F7EBB079A94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C8AFE5-F02E-6FC7-DA41-38AA56AF14F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92345357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14695</TotalTime>
  <Words>2999</Words>
  <Application>Microsoft Office PowerPoint</Application>
  <PresentationFormat>Widescreen</PresentationFormat>
  <Paragraphs>263</Paragraphs>
  <Slides>64</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64</vt:i4>
      </vt:variant>
    </vt:vector>
  </HeadingPairs>
  <TitlesOfParts>
    <vt:vector size="78" baseType="lpstr">
      <vt:lpstr>Arial</vt:lpstr>
      <vt:lpstr>Arial</vt:lpstr>
      <vt:lpstr>Calibri</vt:lpstr>
      <vt:lpstr>Google Sans</vt:lpstr>
      <vt:lpstr>Helvetica Neue</vt:lpstr>
      <vt:lpstr>inter-bold</vt:lpstr>
      <vt:lpstr>inter-regular</vt:lpstr>
      <vt:lpstr>Lato</vt:lpstr>
      <vt:lpstr>Nunito</vt:lpstr>
      <vt:lpstr>Roboto</vt:lpstr>
      <vt:lpstr>Söhne</vt:lpstr>
      <vt:lpstr>Trebuchet MS</vt:lpstr>
      <vt:lpstr>Wingdings 3</vt:lpstr>
      <vt:lpstr>Facet</vt:lpstr>
      <vt:lpstr>Supervised Learning</vt:lpstr>
      <vt:lpstr>Machine Learning </vt:lpstr>
      <vt:lpstr>Application of ML</vt:lpstr>
      <vt:lpstr>Supervised Learning</vt:lpstr>
      <vt:lpstr>PowerPoint Presentation</vt:lpstr>
      <vt:lpstr>Types of supervised Machine learning Algorithms</vt:lpstr>
      <vt:lpstr>Regression</vt:lpstr>
      <vt:lpstr>Classification</vt:lpstr>
      <vt:lpstr>Advantages of Supervised learning:</vt:lpstr>
      <vt:lpstr>Disadvantages of supervised learning:</vt:lpstr>
      <vt:lpstr>Linear Regression</vt:lpstr>
      <vt:lpstr>PowerPoint Presentation</vt:lpstr>
      <vt:lpstr>PowerPoint Presentation</vt:lpstr>
      <vt:lpstr>Naive Bayes Classifier</vt:lpstr>
      <vt:lpstr>Why is it called Naïve Bayes?</vt:lpstr>
      <vt:lpstr>Baye’s Theorem </vt:lpstr>
      <vt:lpstr>Problem</vt:lpstr>
      <vt:lpstr>PowerPoint Presentation</vt:lpstr>
      <vt:lpstr>PowerPoint Presentation</vt:lpstr>
      <vt:lpstr>PowerPoint Presentation</vt:lpstr>
      <vt:lpstr>PowerPoint Presentation</vt:lpstr>
      <vt:lpstr>PowerPoint Presentation</vt:lpstr>
      <vt:lpstr>KNN( K–Nearest Neighbor)</vt:lpstr>
      <vt:lpstr>PowerPoint Presentation</vt:lpstr>
      <vt:lpstr>Example</vt:lpstr>
      <vt:lpstr>Why do we need a K-NN Algorithm?</vt:lpstr>
      <vt:lpstr>Problem</vt:lpstr>
      <vt:lpstr>PowerPoint Presentation</vt:lpstr>
      <vt:lpstr>PowerPoint Presentation</vt:lpstr>
      <vt:lpstr>PowerPoint Presentation</vt:lpstr>
      <vt:lpstr>How to select the value of K in the K-NN Algorithm?</vt:lpstr>
      <vt:lpstr>Logistic Regression </vt:lpstr>
      <vt:lpstr>PowerPoint Presentation</vt:lpstr>
      <vt:lpstr>PowerPoint Presentation</vt:lpstr>
      <vt:lpstr>PowerPoint Presentation</vt:lpstr>
      <vt:lpstr>Function </vt:lpstr>
      <vt:lpstr>Assumptions of Logistic Regression</vt:lpstr>
      <vt:lpstr>Type of Logistic Regression:</vt:lpstr>
      <vt:lpstr>Application of Logistic Regression</vt:lpstr>
      <vt:lpstr>Decision Tree</vt:lpstr>
      <vt:lpstr>PowerPoint Presentation</vt:lpstr>
      <vt:lpstr>PowerPoint Presentation</vt:lpstr>
      <vt:lpstr>Why use Decision Trees?</vt:lpstr>
      <vt:lpstr>Example</vt:lpstr>
      <vt:lpstr>PowerPoint Presentation</vt:lpstr>
      <vt:lpstr>Quiz</vt:lpstr>
      <vt:lpstr>Question </vt:lpstr>
      <vt:lpstr>PowerPoint Presentation</vt:lpstr>
      <vt:lpstr>Question</vt:lpstr>
      <vt:lpstr>Random Forest Algorithm</vt:lpstr>
      <vt:lpstr>PowerPoint Presentation</vt:lpstr>
      <vt:lpstr>PowerPoint Presentation</vt:lpstr>
      <vt:lpstr>Why use Random Forest?</vt:lpstr>
      <vt:lpstr>PowerPoint Presentation</vt:lpstr>
      <vt:lpstr>Support Vector Machine(SVM)</vt:lpstr>
      <vt:lpstr>SVM</vt:lpstr>
      <vt:lpstr>PowerPoint Presentation</vt:lpstr>
      <vt:lpstr>PowerPoint Presentation</vt:lpstr>
      <vt:lpstr>Hyperplane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dc:title>
  <dc:creator>ankit taneja</dc:creator>
  <cp:lastModifiedBy>ankit taneja</cp:lastModifiedBy>
  <cp:revision>157</cp:revision>
  <dcterms:created xsi:type="dcterms:W3CDTF">2024-02-09T08:13:38Z</dcterms:created>
  <dcterms:modified xsi:type="dcterms:W3CDTF">2024-03-12T13:44:48Z</dcterms:modified>
</cp:coreProperties>
</file>