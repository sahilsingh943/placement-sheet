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51"/>
  </p:notesMasterIdLst>
  <p:sldIdLst>
    <p:sldId id="256" r:id="rId2"/>
    <p:sldId id="257" r:id="rId3"/>
    <p:sldId id="259" r:id="rId4"/>
    <p:sldId id="258" r:id="rId5"/>
    <p:sldId id="267" r:id="rId6"/>
    <p:sldId id="260" r:id="rId7"/>
    <p:sldId id="261" r:id="rId8"/>
    <p:sldId id="266" r:id="rId9"/>
    <p:sldId id="268" r:id="rId10"/>
    <p:sldId id="262" r:id="rId11"/>
    <p:sldId id="265"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1" r:id="rId34"/>
    <p:sldId id="296" r:id="rId35"/>
    <p:sldId id="292" r:id="rId36"/>
    <p:sldId id="293" r:id="rId37"/>
    <p:sldId id="297" r:id="rId38"/>
    <p:sldId id="294" r:id="rId39"/>
    <p:sldId id="295" r:id="rId40"/>
    <p:sldId id="298" r:id="rId41"/>
    <p:sldId id="301" r:id="rId42"/>
    <p:sldId id="302" r:id="rId43"/>
    <p:sldId id="299" r:id="rId44"/>
    <p:sldId id="300" r:id="rId45"/>
    <p:sldId id="303" r:id="rId46"/>
    <p:sldId id="304" r:id="rId47"/>
    <p:sldId id="305" r:id="rId48"/>
    <p:sldId id="306" r:id="rId49"/>
    <p:sldId id="30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65E33-25DE-4B3E-8EC6-A63C42E66DBF}" type="datetimeFigureOut">
              <a:rPr lang="en-IN" smtClean="0"/>
              <a:t>21-05-2024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98A796-5997-43EB-A418-0D1B3D956BA6}" type="slidenum">
              <a:rPr lang="en-IN" smtClean="0"/>
              <a:t>‹#›</a:t>
            </a:fld>
            <a:endParaRPr lang="en-IN"/>
          </a:p>
        </p:txBody>
      </p:sp>
    </p:spTree>
    <p:extLst>
      <p:ext uri="{BB962C8B-B14F-4D97-AF65-F5344CB8AC3E}">
        <p14:creationId xmlns:p14="http://schemas.microsoft.com/office/powerpoint/2010/main" val="76968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98A796-5997-43EB-A418-0D1B3D956BA6}" type="slidenum">
              <a:rPr lang="en-IN" smtClean="0"/>
              <a:t>27</a:t>
            </a:fld>
            <a:endParaRPr lang="en-IN"/>
          </a:p>
        </p:txBody>
      </p:sp>
    </p:spTree>
    <p:extLst>
      <p:ext uri="{BB962C8B-B14F-4D97-AF65-F5344CB8AC3E}">
        <p14:creationId xmlns:p14="http://schemas.microsoft.com/office/powerpoint/2010/main" val="2570928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https://www.geeksforgeeks.org/monte-carlo-policy-evaluation/</a:t>
            </a:r>
          </a:p>
        </p:txBody>
      </p:sp>
      <p:sp>
        <p:nvSpPr>
          <p:cNvPr id="4" name="Slide Number Placeholder 3"/>
          <p:cNvSpPr>
            <a:spLocks noGrp="1"/>
          </p:cNvSpPr>
          <p:nvPr>
            <p:ph type="sldNum" sz="quarter" idx="5"/>
          </p:nvPr>
        </p:nvSpPr>
        <p:spPr/>
        <p:txBody>
          <a:bodyPr/>
          <a:lstStyle/>
          <a:p>
            <a:fld id="{C798A796-5997-43EB-A418-0D1B3D956BA6}" type="slidenum">
              <a:rPr lang="en-IN" smtClean="0"/>
              <a:t>32</a:t>
            </a:fld>
            <a:endParaRPr lang="en-IN"/>
          </a:p>
        </p:txBody>
      </p:sp>
    </p:spTree>
    <p:extLst>
      <p:ext uri="{BB962C8B-B14F-4D97-AF65-F5344CB8AC3E}">
        <p14:creationId xmlns:p14="http://schemas.microsoft.com/office/powerpoint/2010/main" val="1609510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Reference:  https://www.geeksforgeeks.org/q-learning-in-python/</a:t>
            </a:r>
            <a:endParaRPr lang="en-IN" dirty="0"/>
          </a:p>
        </p:txBody>
      </p:sp>
      <p:sp>
        <p:nvSpPr>
          <p:cNvPr id="4" name="Slide Number Placeholder 3"/>
          <p:cNvSpPr>
            <a:spLocks noGrp="1"/>
          </p:cNvSpPr>
          <p:nvPr>
            <p:ph type="sldNum" sz="quarter" idx="5"/>
          </p:nvPr>
        </p:nvSpPr>
        <p:spPr/>
        <p:txBody>
          <a:bodyPr/>
          <a:lstStyle/>
          <a:p>
            <a:fld id="{C798A796-5997-43EB-A418-0D1B3D956BA6}" type="slidenum">
              <a:rPr lang="en-IN" smtClean="0"/>
              <a:t>38</a:t>
            </a:fld>
            <a:endParaRPr lang="en-IN"/>
          </a:p>
        </p:txBody>
      </p:sp>
    </p:spTree>
    <p:extLst>
      <p:ext uri="{BB962C8B-B14F-4D97-AF65-F5344CB8AC3E}">
        <p14:creationId xmlns:p14="http://schemas.microsoft.com/office/powerpoint/2010/main" val="2070828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411300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1671982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521564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EA3BCC-EE65-45E3-B974-31C55F682760}" type="datetimeFigureOut">
              <a:rPr lang="en-IN" smtClean="0"/>
              <a:t>21-05-2024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3162590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EA3BCC-EE65-45E3-B974-31C55F682760}" type="datetimeFigureOut">
              <a:rPr lang="en-IN" smtClean="0"/>
              <a:t>21-05-2024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1267119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EA3BCC-EE65-45E3-B974-31C55F682760}" type="datetimeFigureOut">
              <a:rPr lang="en-IN" smtClean="0"/>
              <a:t>21-05-2024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393037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A3BCC-EE65-45E3-B974-31C55F682760}" type="datetimeFigureOut">
              <a:rPr lang="en-IN" smtClean="0"/>
              <a:t>21-05-2024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25622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EA3BCC-EE65-45E3-B974-31C55F682760}" type="datetimeFigureOut">
              <a:rPr lang="en-IN" smtClean="0"/>
              <a:t>21-05-2024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2233087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D120F2-858B-4EDA-BFDF-ADD46F0E5A15}" type="slidenum">
              <a:rPr lang="en-IN" smtClean="0"/>
              <a:t>‹#›</a:t>
            </a:fld>
            <a:endParaRPr lang="en-IN"/>
          </a:p>
        </p:txBody>
      </p:sp>
      <p:sp>
        <p:nvSpPr>
          <p:cNvPr id="5" name="Date Placeholder 4"/>
          <p:cNvSpPr>
            <a:spLocks noGrp="1"/>
          </p:cNvSpPr>
          <p:nvPr>
            <p:ph type="dt" sz="half" idx="10"/>
          </p:nvPr>
        </p:nvSpPr>
        <p:spPr/>
        <p:txBody>
          <a:bodyPr/>
          <a:lstStyle/>
          <a:p>
            <a:fld id="{06EA3BCC-EE65-45E3-B974-31C55F682760}" type="datetimeFigureOut">
              <a:rPr lang="en-IN" smtClean="0"/>
              <a:t>21-05-2024</a:t>
            </a:fld>
            <a:endParaRPr lang="en-IN"/>
          </a:p>
        </p:txBody>
      </p:sp>
    </p:spTree>
    <p:extLst>
      <p:ext uri="{BB962C8B-B14F-4D97-AF65-F5344CB8AC3E}">
        <p14:creationId xmlns:p14="http://schemas.microsoft.com/office/powerpoint/2010/main" val="373160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4090171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26325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21098738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952872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8041891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4120483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EA3BCC-EE65-45E3-B974-31C55F682760}" type="datetimeFigureOut">
              <a:rPr lang="en-IN" smtClean="0"/>
              <a:t>21-05-2024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120F2-858B-4EDA-BFDF-ADD46F0E5A15}" type="slidenum">
              <a:rPr lang="en-IN" smtClean="0"/>
              <a:t>‹#›</a:t>
            </a:fld>
            <a:endParaRPr lang="en-IN"/>
          </a:p>
        </p:txBody>
      </p:sp>
    </p:spTree>
    <p:extLst>
      <p:ext uri="{BB962C8B-B14F-4D97-AF65-F5344CB8AC3E}">
        <p14:creationId xmlns:p14="http://schemas.microsoft.com/office/powerpoint/2010/main" val="1648230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6EA3BCC-EE65-45E3-B974-31C55F682760}" type="datetimeFigureOut">
              <a:rPr lang="en-IN" smtClean="0"/>
              <a:t>21-05-2024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CD120F2-858B-4EDA-BFDF-ADD46F0E5A15}" type="slidenum">
              <a:rPr lang="en-IN" smtClean="0"/>
              <a:t>‹#›</a:t>
            </a:fld>
            <a:endParaRPr lang="en-IN"/>
          </a:p>
        </p:txBody>
      </p:sp>
    </p:spTree>
    <p:extLst>
      <p:ext uri="{BB962C8B-B14F-4D97-AF65-F5344CB8AC3E}">
        <p14:creationId xmlns:p14="http://schemas.microsoft.com/office/powerpoint/2010/main" val="153073623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E1DA8-9540-DD9C-96A0-4920BAAE65E1}"/>
              </a:ext>
            </a:extLst>
          </p:cNvPr>
          <p:cNvSpPr>
            <a:spLocks noGrp="1"/>
          </p:cNvSpPr>
          <p:nvPr>
            <p:ph type="ctrTitle"/>
          </p:nvPr>
        </p:nvSpPr>
        <p:spPr/>
        <p:txBody>
          <a:bodyPr/>
          <a:lstStyle/>
          <a:p>
            <a:r>
              <a:rPr lang="en-US" dirty="0"/>
              <a:t>Semi Supervised Learning,</a:t>
            </a:r>
            <a:endParaRPr lang="en-IN" dirty="0"/>
          </a:p>
        </p:txBody>
      </p:sp>
      <p:sp>
        <p:nvSpPr>
          <p:cNvPr id="3" name="Subtitle 2">
            <a:extLst>
              <a:ext uri="{FF2B5EF4-FFF2-40B4-BE49-F238E27FC236}">
                <a16:creationId xmlns:a16="http://schemas.microsoft.com/office/drawing/2014/main" id="{886C9442-5F60-777F-AE87-E86A17D0019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46881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733C0-841C-BAD7-AAF6-045BDE62595A}"/>
              </a:ext>
            </a:extLst>
          </p:cNvPr>
          <p:cNvSpPr>
            <a:spLocks noGrp="1"/>
          </p:cNvSpPr>
          <p:nvPr>
            <p:ph type="title"/>
          </p:nvPr>
        </p:nvSpPr>
        <p:spPr/>
        <p:txBody>
          <a:bodyPr/>
          <a:lstStyle/>
          <a:p>
            <a:r>
              <a:rPr lang="en-US" dirty="0"/>
              <a:t>Semi Supervised Learning</a:t>
            </a:r>
            <a:endParaRPr lang="en-IN" dirty="0"/>
          </a:p>
        </p:txBody>
      </p:sp>
      <p:sp>
        <p:nvSpPr>
          <p:cNvPr id="3" name="Content Placeholder 2">
            <a:extLst>
              <a:ext uri="{FF2B5EF4-FFF2-40B4-BE49-F238E27FC236}">
                <a16:creationId xmlns:a16="http://schemas.microsoft.com/office/drawing/2014/main" id="{D1EFFECB-8253-4D48-6DEA-F62950632230}"/>
              </a:ext>
            </a:extLst>
          </p:cNvPr>
          <p:cNvSpPr>
            <a:spLocks noGrp="1"/>
          </p:cNvSpPr>
          <p:nvPr>
            <p:ph idx="1"/>
          </p:nvPr>
        </p:nvSpPr>
        <p:spPr/>
        <p:txBody>
          <a:bodyPr/>
          <a:lstStyle/>
          <a:p>
            <a:r>
              <a:rPr lang="en-IN" b="0" i="0" dirty="0">
                <a:solidFill>
                  <a:srgbClr val="410007"/>
                </a:solidFill>
                <a:effectLst/>
                <a:highlight>
                  <a:srgbClr val="FFFFFF"/>
                </a:highlight>
                <a:latin typeface="Google Sans"/>
              </a:rPr>
              <a:t>Semi-supervised learning (SSL) is </a:t>
            </a:r>
            <a:r>
              <a:rPr lang="en-IN" dirty="0"/>
              <a:t>a machine learning technique that uses both </a:t>
            </a:r>
            <a:r>
              <a:rPr lang="en-IN" dirty="0" err="1"/>
              <a:t>labeled</a:t>
            </a:r>
            <a:r>
              <a:rPr lang="en-IN" dirty="0"/>
              <a:t> and </a:t>
            </a:r>
            <a:r>
              <a:rPr lang="en-IN" dirty="0" err="1"/>
              <a:t>unlabeled</a:t>
            </a:r>
            <a:r>
              <a:rPr lang="en-IN" dirty="0"/>
              <a:t> data to train AI models for classification and regression</a:t>
            </a:r>
            <a:r>
              <a:rPr lang="en-IN" b="0" i="0" dirty="0">
                <a:solidFill>
                  <a:srgbClr val="410007"/>
                </a:solidFill>
                <a:effectLst/>
                <a:highlight>
                  <a:srgbClr val="FFFFFF"/>
                </a:highlight>
                <a:latin typeface="Google Sans"/>
              </a:rPr>
              <a:t>.</a:t>
            </a:r>
          </a:p>
          <a:p>
            <a:endParaRPr lang="en-IN" dirty="0">
              <a:solidFill>
                <a:srgbClr val="410007"/>
              </a:solidFill>
              <a:highlight>
                <a:srgbClr val="FFFFFF"/>
              </a:highlight>
              <a:latin typeface="Google Sans"/>
            </a:endParaRPr>
          </a:p>
          <a:p>
            <a:r>
              <a:rPr lang="en-IN" b="0" i="0" dirty="0">
                <a:solidFill>
                  <a:srgbClr val="410007"/>
                </a:solidFill>
                <a:effectLst/>
                <a:highlight>
                  <a:srgbClr val="FFFFFF"/>
                </a:highlight>
                <a:latin typeface="Google Sans"/>
              </a:rPr>
              <a:t>SSL is a combination of supervised and unsupervised learning, and it uses techniques that incorporate </a:t>
            </a:r>
            <a:r>
              <a:rPr lang="en-IN" b="0" i="0" dirty="0" err="1">
                <a:solidFill>
                  <a:srgbClr val="410007"/>
                </a:solidFill>
                <a:effectLst/>
                <a:highlight>
                  <a:srgbClr val="FFFFFF"/>
                </a:highlight>
                <a:latin typeface="Google Sans"/>
              </a:rPr>
              <a:t>unlabeled</a:t>
            </a:r>
            <a:r>
              <a:rPr lang="en-IN" b="0" i="0" dirty="0">
                <a:solidFill>
                  <a:srgbClr val="410007"/>
                </a:solidFill>
                <a:effectLst/>
                <a:highlight>
                  <a:srgbClr val="FFFFFF"/>
                </a:highlight>
                <a:latin typeface="Google Sans"/>
              </a:rPr>
              <a:t> data into model training.</a:t>
            </a:r>
          </a:p>
          <a:p>
            <a:endParaRPr lang="en-IN">
              <a:solidFill>
                <a:srgbClr val="410007"/>
              </a:solidFill>
              <a:highlight>
                <a:srgbClr val="FFFFFF"/>
              </a:highlight>
              <a:latin typeface="Google Sans"/>
            </a:endParaRPr>
          </a:p>
          <a:p>
            <a:endParaRPr lang="en-IN" dirty="0"/>
          </a:p>
        </p:txBody>
      </p:sp>
    </p:spTree>
    <p:extLst>
      <p:ext uri="{BB962C8B-B14F-4D97-AF65-F5344CB8AC3E}">
        <p14:creationId xmlns:p14="http://schemas.microsoft.com/office/powerpoint/2010/main" val="1756788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9B274-6A35-E852-1B3F-E331CA90CD31}"/>
              </a:ext>
            </a:extLst>
          </p:cNvPr>
          <p:cNvSpPr>
            <a:spLocks noGrp="1"/>
          </p:cNvSpPr>
          <p:nvPr>
            <p:ph type="title"/>
          </p:nvPr>
        </p:nvSpPr>
        <p:spPr/>
        <p:txBody>
          <a:bodyPr/>
          <a:lstStyle/>
          <a:p>
            <a:r>
              <a:rPr lang="en-US" dirty="0"/>
              <a:t>Examples of Semi-Supervised Learning</a:t>
            </a:r>
            <a:endParaRPr lang="en-IN" dirty="0"/>
          </a:p>
        </p:txBody>
      </p:sp>
      <p:sp>
        <p:nvSpPr>
          <p:cNvPr id="3" name="Content Placeholder 2">
            <a:extLst>
              <a:ext uri="{FF2B5EF4-FFF2-40B4-BE49-F238E27FC236}">
                <a16:creationId xmlns:a16="http://schemas.microsoft.com/office/drawing/2014/main" id="{5C9547F5-6EC6-B435-9489-A4A3E5C14FCD}"/>
              </a:ext>
            </a:extLst>
          </p:cNvPr>
          <p:cNvSpPr>
            <a:spLocks noGrp="1"/>
          </p:cNvSpPr>
          <p:nvPr>
            <p:ph idx="1"/>
          </p:nvPr>
        </p:nvSpPr>
        <p:spPr/>
        <p:txBody>
          <a:bodyPr/>
          <a:lstStyle/>
          <a:p>
            <a:r>
              <a:rPr lang="en-US" dirty="0"/>
              <a:t>Text Classification</a:t>
            </a:r>
          </a:p>
          <a:p>
            <a:endParaRPr lang="en-US" dirty="0"/>
          </a:p>
          <a:p>
            <a:r>
              <a:rPr lang="en-US" dirty="0"/>
              <a:t>Image Classification</a:t>
            </a:r>
          </a:p>
          <a:p>
            <a:endParaRPr lang="en-US" dirty="0"/>
          </a:p>
          <a:p>
            <a:r>
              <a:rPr lang="en-US" dirty="0"/>
              <a:t>Anomaly Detection</a:t>
            </a:r>
            <a:endParaRPr lang="en-IN" dirty="0"/>
          </a:p>
        </p:txBody>
      </p:sp>
    </p:spTree>
    <p:extLst>
      <p:ext uri="{BB962C8B-B14F-4D97-AF65-F5344CB8AC3E}">
        <p14:creationId xmlns:p14="http://schemas.microsoft.com/office/powerpoint/2010/main" val="2193794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44F9-174F-9C17-7CE5-158D6B03775C}"/>
              </a:ext>
            </a:extLst>
          </p:cNvPr>
          <p:cNvSpPr>
            <a:spLocks noGrp="1"/>
          </p:cNvSpPr>
          <p:nvPr>
            <p:ph type="title"/>
          </p:nvPr>
        </p:nvSpPr>
        <p:spPr/>
        <p:txBody>
          <a:bodyPr/>
          <a:lstStyle/>
          <a:p>
            <a:r>
              <a:rPr lang="en-US" dirty="0"/>
              <a:t>Reinforcement Learning</a:t>
            </a:r>
            <a:endParaRPr lang="en-IN" dirty="0"/>
          </a:p>
        </p:txBody>
      </p:sp>
      <p:sp>
        <p:nvSpPr>
          <p:cNvPr id="3" name="Content Placeholder 2">
            <a:extLst>
              <a:ext uri="{FF2B5EF4-FFF2-40B4-BE49-F238E27FC236}">
                <a16:creationId xmlns:a16="http://schemas.microsoft.com/office/drawing/2014/main" id="{78FF7223-D83E-7F3F-A060-4C6E831E963D}"/>
              </a:ext>
            </a:extLst>
          </p:cNvPr>
          <p:cNvSpPr>
            <a:spLocks noGrp="1"/>
          </p:cNvSpPr>
          <p:nvPr>
            <p:ph idx="1"/>
          </p:nvPr>
        </p:nvSpPr>
        <p:spPr/>
        <p:txBody>
          <a:bodyPr>
            <a:normAutofit fontScale="85000" lnSpcReduction="10000"/>
          </a:bodyPr>
          <a:lstStyle/>
          <a:p>
            <a:r>
              <a:rPr lang="en-IN" b="0" i="0" dirty="0">
                <a:solidFill>
                  <a:srgbClr val="333333"/>
                </a:solidFill>
                <a:effectLst/>
                <a:latin typeface="AmazonEmber"/>
              </a:rPr>
              <a:t>Reinforcement learning (RL) is a machine learning (ML) technique that trains software to make decisions to achieve the most optimal results. </a:t>
            </a:r>
          </a:p>
          <a:p>
            <a:endParaRPr lang="en-IN" b="0" i="0" dirty="0">
              <a:solidFill>
                <a:srgbClr val="333333"/>
              </a:solidFill>
              <a:effectLst/>
              <a:latin typeface="AmazonEmber"/>
            </a:endParaRPr>
          </a:p>
          <a:p>
            <a:r>
              <a:rPr lang="en-IN" b="0" i="0" dirty="0">
                <a:solidFill>
                  <a:srgbClr val="000000"/>
                </a:solidFill>
                <a:effectLst/>
                <a:highlight>
                  <a:srgbClr val="FFFFFF"/>
                </a:highlight>
                <a:latin typeface="inter-regular"/>
              </a:rPr>
              <a:t>Reinforcement Learning is a feedback-based Machine learning technique in which an agent learns to behave in an environment by performing the actions and seeing the results of actions.</a:t>
            </a:r>
            <a:endParaRPr lang="en-IN" b="0" i="0" dirty="0">
              <a:solidFill>
                <a:srgbClr val="333333"/>
              </a:solidFill>
              <a:effectLst/>
              <a:latin typeface="AmazonEmber"/>
            </a:endParaRPr>
          </a:p>
          <a:p>
            <a:endParaRPr lang="en-IN" dirty="0">
              <a:solidFill>
                <a:srgbClr val="333333"/>
              </a:solidFill>
              <a:latin typeface="AmazonEmber"/>
            </a:endParaRPr>
          </a:p>
          <a:p>
            <a:r>
              <a:rPr lang="en-IN" dirty="0">
                <a:solidFill>
                  <a:srgbClr val="333333"/>
                </a:solidFill>
                <a:latin typeface="AmazonEmber"/>
              </a:rPr>
              <a:t>Reinforcement learning is a form of machine learning that teaches a model to choose the best course of action while solving a problem</a:t>
            </a:r>
          </a:p>
          <a:p>
            <a:endParaRPr lang="en-IN" dirty="0">
              <a:solidFill>
                <a:srgbClr val="333333"/>
              </a:solidFill>
              <a:latin typeface="AmazonEmber"/>
            </a:endParaRPr>
          </a:p>
          <a:p>
            <a:r>
              <a:rPr lang="en-IN" b="0" i="0" dirty="0">
                <a:solidFill>
                  <a:srgbClr val="333333"/>
                </a:solidFill>
                <a:effectLst/>
                <a:latin typeface="AmazonEmber"/>
              </a:rPr>
              <a:t> It mimics the trial-and-error learning process that humans use to achieve their goals.</a:t>
            </a:r>
          </a:p>
          <a:p>
            <a:endParaRPr lang="en-IN" dirty="0">
              <a:solidFill>
                <a:srgbClr val="333333"/>
              </a:solidFill>
              <a:latin typeface="AmazonEmber"/>
            </a:endParaRPr>
          </a:p>
          <a:p>
            <a:r>
              <a:rPr lang="en-IN" b="0" i="0" dirty="0">
                <a:solidFill>
                  <a:srgbClr val="273239"/>
                </a:solidFill>
                <a:effectLst/>
                <a:highlight>
                  <a:srgbClr val="FFFFFF"/>
                </a:highlight>
                <a:latin typeface="Nunito" pitchFamily="2" charset="0"/>
              </a:rPr>
              <a:t>Reinforcement Learning (RL) is the science of decision making. It is about learning the optimal </a:t>
            </a:r>
            <a:r>
              <a:rPr lang="en-IN" b="0" i="0" dirty="0" err="1">
                <a:solidFill>
                  <a:srgbClr val="273239"/>
                </a:solidFill>
                <a:effectLst/>
                <a:highlight>
                  <a:srgbClr val="FFFFFF"/>
                </a:highlight>
                <a:latin typeface="Nunito" pitchFamily="2" charset="0"/>
              </a:rPr>
              <a:t>behavior</a:t>
            </a:r>
            <a:r>
              <a:rPr lang="en-IN" b="0" i="0" dirty="0">
                <a:solidFill>
                  <a:srgbClr val="273239"/>
                </a:solidFill>
                <a:effectLst/>
                <a:highlight>
                  <a:srgbClr val="FFFFFF"/>
                </a:highlight>
                <a:latin typeface="Nunito" pitchFamily="2" charset="0"/>
              </a:rPr>
              <a:t> in an environment to obtain maximum reward.</a:t>
            </a:r>
            <a:endParaRPr lang="en-IN" dirty="0"/>
          </a:p>
        </p:txBody>
      </p:sp>
    </p:spTree>
    <p:extLst>
      <p:ext uri="{BB962C8B-B14F-4D97-AF65-F5344CB8AC3E}">
        <p14:creationId xmlns:p14="http://schemas.microsoft.com/office/powerpoint/2010/main" val="6683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A6E3-8378-DEE1-D6E4-73B5834449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143428-71B8-4868-4564-BB713451D18F}"/>
              </a:ext>
            </a:extLst>
          </p:cNvPr>
          <p:cNvSpPr>
            <a:spLocks noGrp="1"/>
          </p:cNvSpPr>
          <p:nvPr>
            <p:ph idx="1"/>
          </p:nvPr>
        </p:nvSpPr>
        <p:spPr/>
        <p:txBody>
          <a:bodyPr/>
          <a:lstStyle/>
          <a:p>
            <a:r>
              <a:rPr lang="en-IN" b="0" i="0" dirty="0">
                <a:solidFill>
                  <a:srgbClr val="000000"/>
                </a:solidFill>
                <a:effectLst/>
                <a:highlight>
                  <a:srgbClr val="FFFFFF"/>
                </a:highlight>
                <a:latin typeface="inter-regular"/>
              </a:rPr>
              <a:t>In Reinforcement Learning, the agent learns automatically using feedbacks without any </a:t>
            </a:r>
            <a:r>
              <a:rPr lang="en-IN" b="0" i="0" dirty="0" err="1">
                <a:solidFill>
                  <a:srgbClr val="000000"/>
                </a:solidFill>
                <a:effectLst/>
                <a:highlight>
                  <a:srgbClr val="FFFFFF"/>
                </a:highlight>
                <a:latin typeface="inter-regular"/>
              </a:rPr>
              <a:t>labeled</a:t>
            </a:r>
            <a:r>
              <a:rPr lang="en-IN" b="0" i="0" dirty="0">
                <a:solidFill>
                  <a:srgbClr val="000000"/>
                </a:solidFill>
                <a:effectLst/>
                <a:highlight>
                  <a:srgbClr val="FFFFFF"/>
                </a:highlight>
                <a:latin typeface="inter-regular"/>
              </a:rPr>
              <a:t> data, unlike </a:t>
            </a:r>
            <a:r>
              <a:rPr lang="en-IN" dirty="0">
                <a:solidFill>
                  <a:srgbClr val="000000"/>
                </a:solidFill>
                <a:highlight>
                  <a:srgbClr val="FFFFFF"/>
                </a:highlight>
                <a:latin typeface="inter-regular"/>
              </a:rPr>
              <a:t>supervised learning.</a:t>
            </a:r>
          </a:p>
          <a:p>
            <a:endParaRPr lang="en-IN" dirty="0"/>
          </a:p>
          <a:p>
            <a:r>
              <a:rPr lang="en-IN" b="0" i="0" dirty="0">
                <a:solidFill>
                  <a:srgbClr val="000000"/>
                </a:solidFill>
                <a:effectLst/>
                <a:highlight>
                  <a:srgbClr val="FFFFFF"/>
                </a:highlight>
                <a:latin typeface="inter-regular"/>
              </a:rPr>
              <a:t>Since there is no </a:t>
            </a:r>
            <a:r>
              <a:rPr lang="en-IN" b="0" i="0" dirty="0" err="1">
                <a:solidFill>
                  <a:srgbClr val="000000"/>
                </a:solidFill>
                <a:effectLst/>
                <a:highlight>
                  <a:srgbClr val="FFFFFF"/>
                </a:highlight>
                <a:latin typeface="inter-regular"/>
              </a:rPr>
              <a:t>labeled</a:t>
            </a:r>
            <a:r>
              <a:rPr lang="en-IN" b="0" i="0" dirty="0">
                <a:solidFill>
                  <a:srgbClr val="000000"/>
                </a:solidFill>
                <a:effectLst/>
                <a:highlight>
                  <a:srgbClr val="FFFFFF"/>
                </a:highlight>
                <a:latin typeface="inter-regular"/>
              </a:rPr>
              <a:t> data, so the agent is bound to learn by its experience only.</a:t>
            </a:r>
          </a:p>
          <a:p>
            <a:endParaRPr lang="en-IN" dirty="0"/>
          </a:p>
          <a:p>
            <a:r>
              <a:rPr lang="en-IN" b="0" i="0" dirty="0">
                <a:solidFill>
                  <a:srgbClr val="000000"/>
                </a:solidFill>
                <a:effectLst/>
                <a:highlight>
                  <a:srgbClr val="FFFFFF"/>
                </a:highlight>
                <a:latin typeface="inter-regular"/>
              </a:rPr>
              <a:t>How a Robotic dog learns the movement of his arms is an example of Reinforcement learning.</a:t>
            </a:r>
            <a:endParaRPr lang="en-IN" dirty="0"/>
          </a:p>
        </p:txBody>
      </p:sp>
    </p:spTree>
    <p:extLst>
      <p:ext uri="{BB962C8B-B14F-4D97-AF65-F5344CB8AC3E}">
        <p14:creationId xmlns:p14="http://schemas.microsoft.com/office/powerpoint/2010/main" val="2386636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BC81B-A6BB-60A9-5B35-4728C3ED4D89}"/>
              </a:ext>
            </a:extLst>
          </p:cNvPr>
          <p:cNvSpPr>
            <a:spLocks noGrp="1"/>
          </p:cNvSpPr>
          <p:nvPr>
            <p:ph type="title"/>
          </p:nvPr>
        </p:nvSpPr>
        <p:spPr/>
        <p:txBody>
          <a:bodyPr/>
          <a:lstStyle/>
          <a:p>
            <a:r>
              <a:rPr lang="en-IN" dirty="0"/>
              <a:t>Types of Reinforcement: </a:t>
            </a:r>
          </a:p>
        </p:txBody>
      </p:sp>
      <p:sp>
        <p:nvSpPr>
          <p:cNvPr id="3" name="Content Placeholder 2">
            <a:extLst>
              <a:ext uri="{FF2B5EF4-FFF2-40B4-BE49-F238E27FC236}">
                <a16:creationId xmlns:a16="http://schemas.microsoft.com/office/drawing/2014/main" id="{36164120-C12A-1884-AB6D-09D9883FAEE5}"/>
              </a:ext>
            </a:extLst>
          </p:cNvPr>
          <p:cNvSpPr>
            <a:spLocks noGrp="1"/>
          </p:cNvSpPr>
          <p:nvPr>
            <p:ph idx="1"/>
          </p:nvPr>
        </p:nvSpPr>
        <p:spPr/>
        <p:txBody>
          <a:bodyPr/>
          <a:lstStyle/>
          <a:p>
            <a:pPr algn="l" fontAlgn="base"/>
            <a:r>
              <a:rPr lang="en-IN" b="0" i="0" dirty="0">
                <a:solidFill>
                  <a:srgbClr val="273239"/>
                </a:solidFill>
                <a:effectLst/>
                <a:highlight>
                  <a:srgbClr val="FFFFFF"/>
                </a:highlight>
                <a:latin typeface="Nunito" pitchFamily="2" charset="0"/>
              </a:rPr>
              <a:t>There are two types of Reinforcement:  </a:t>
            </a:r>
          </a:p>
          <a:p>
            <a:pPr algn="l" fontAlgn="base">
              <a:buFont typeface="+mj-lt"/>
              <a:buAutoNum type="arabicPeriod"/>
            </a:pPr>
            <a:r>
              <a:rPr lang="en-IN" b="1" i="0" dirty="0">
                <a:solidFill>
                  <a:srgbClr val="273239"/>
                </a:solidFill>
                <a:effectLst/>
                <a:highlight>
                  <a:srgbClr val="FFFFFF"/>
                </a:highlight>
                <a:latin typeface="Nunito" pitchFamily="2" charset="0"/>
              </a:rPr>
              <a:t>Positive: </a:t>
            </a:r>
            <a:r>
              <a:rPr lang="en-IN" b="0" i="0" dirty="0">
                <a:solidFill>
                  <a:srgbClr val="273239"/>
                </a:solidFill>
                <a:effectLst/>
                <a:highlight>
                  <a:srgbClr val="FFFFFF"/>
                </a:highlight>
                <a:latin typeface="Nunito" pitchFamily="2" charset="0"/>
              </a:rPr>
              <a:t>Positive Reinforcement is defined as when an event, occurs due to a particular </a:t>
            </a:r>
            <a:r>
              <a:rPr lang="en-IN" b="0" i="0" dirty="0" err="1">
                <a:solidFill>
                  <a:srgbClr val="273239"/>
                </a:solidFill>
                <a:effectLst/>
                <a:highlight>
                  <a:srgbClr val="FFFFFF"/>
                </a:highlight>
                <a:latin typeface="Nunito" pitchFamily="2" charset="0"/>
              </a:rPr>
              <a:t>behavior</a:t>
            </a:r>
            <a:r>
              <a:rPr lang="en-IN" b="0" i="0" dirty="0">
                <a:solidFill>
                  <a:srgbClr val="273239"/>
                </a:solidFill>
                <a:effectLst/>
                <a:highlight>
                  <a:srgbClr val="FFFFFF"/>
                </a:highlight>
                <a:latin typeface="Nunito" pitchFamily="2" charset="0"/>
              </a:rPr>
              <a:t>, increases the strength and the frequency of the </a:t>
            </a:r>
            <a:r>
              <a:rPr lang="en-IN" b="0" i="0" dirty="0" err="1">
                <a:solidFill>
                  <a:srgbClr val="273239"/>
                </a:solidFill>
                <a:effectLst/>
                <a:highlight>
                  <a:srgbClr val="FFFFFF"/>
                </a:highlight>
                <a:latin typeface="Nunito" pitchFamily="2" charset="0"/>
              </a:rPr>
              <a:t>behavior</a:t>
            </a:r>
            <a:r>
              <a:rPr lang="en-IN" b="0" i="0" dirty="0">
                <a:solidFill>
                  <a:srgbClr val="273239"/>
                </a:solidFill>
                <a:effectLst/>
                <a:highlight>
                  <a:srgbClr val="FFFFFF"/>
                </a:highlight>
                <a:latin typeface="Nunito" pitchFamily="2" charset="0"/>
              </a:rPr>
              <a:t>. In other words, it has a positive effect on </a:t>
            </a:r>
            <a:r>
              <a:rPr lang="en-IN" b="0" i="0" dirty="0" err="1">
                <a:solidFill>
                  <a:srgbClr val="273239"/>
                </a:solidFill>
                <a:effectLst/>
                <a:highlight>
                  <a:srgbClr val="FFFFFF"/>
                </a:highlight>
                <a:latin typeface="Nunito" pitchFamily="2" charset="0"/>
              </a:rPr>
              <a:t>behavior</a:t>
            </a:r>
            <a:r>
              <a:rPr lang="en-IN" b="0" i="0" dirty="0">
                <a:solidFill>
                  <a:srgbClr val="273239"/>
                </a:solidFill>
                <a:effectLst/>
                <a:highlight>
                  <a:srgbClr val="FFFFFF"/>
                </a:highlight>
                <a:latin typeface="Nunito" pitchFamily="2" charset="0"/>
              </a:rPr>
              <a:t>. </a:t>
            </a:r>
          </a:p>
          <a:p>
            <a:pPr algn="l" fontAlgn="base">
              <a:buFont typeface="+mj-lt"/>
              <a:buAutoNum type="arabicPeriod"/>
            </a:pPr>
            <a:endParaRPr lang="en-IN" dirty="0">
              <a:solidFill>
                <a:srgbClr val="273239"/>
              </a:solidFill>
              <a:highlight>
                <a:srgbClr val="FFFFFF"/>
              </a:highlight>
              <a:latin typeface="Nunito" pitchFamily="2" charset="0"/>
            </a:endParaRPr>
          </a:p>
          <a:p>
            <a:pPr marL="0" indent="0" algn="l" fontAlgn="base">
              <a:buNone/>
            </a:pPr>
            <a:r>
              <a:rPr lang="en-IN" b="0" i="0">
                <a:solidFill>
                  <a:srgbClr val="273239"/>
                </a:solidFill>
                <a:effectLst/>
                <a:highlight>
                  <a:srgbClr val="FFFFFF"/>
                </a:highlight>
                <a:latin typeface="Nunito" pitchFamily="2" charset="0"/>
              </a:rPr>
              <a:t>	Advantages </a:t>
            </a:r>
            <a:r>
              <a:rPr lang="en-IN" b="0" i="0" dirty="0">
                <a:solidFill>
                  <a:srgbClr val="273239"/>
                </a:solidFill>
                <a:effectLst/>
                <a:highlight>
                  <a:srgbClr val="FFFFFF"/>
                </a:highlight>
                <a:latin typeface="Nunito" pitchFamily="2" charset="0"/>
              </a:rPr>
              <a:t>of reinforcement learning are: </a:t>
            </a:r>
          </a:p>
          <a:p>
            <a:pPr marL="742950" lvl="1" indent="-285750" algn="l" fontAlgn="base">
              <a:buFont typeface="+mj-lt"/>
              <a:buAutoNum type="arabicPeriod"/>
            </a:pPr>
            <a:r>
              <a:rPr lang="en-IN" b="0" i="0" dirty="0">
                <a:solidFill>
                  <a:srgbClr val="273239"/>
                </a:solidFill>
                <a:effectLst/>
                <a:highlight>
                  <a:srgbClr val="FFFFFF"/>
                </a:highlight>
                <a:latin typeface="Nunito" pitchFamily="2" charset="0"/>
              </a:rPr>
              <a:t>Maximizes Performance</a:t>
            </a:r>
          </a:p>
          <a:p>
            <a:pPr marL="742950" lvl="1" indent="-285750" algn="l" fontAlgn="base">
              <a:buFont typeface="+mj-lt"/>
              <a:buAutoNum type="arabicPeriod"/>
            </a:pPr>
            <a:r>
              <a:rPr lang="en-IN" b="0" i="0" dirty="0">
                <a:solidFill>
                  <a:srgbClr val="273239"/>
                </a:solidFill>
                <a:effectLst/>
                <a:highlight>
                  <a:srgbClr val="FFFFFF"/>
                </a:highlight>
                <a:latin typeface="Nunito" pitchFamily="2" charset="0"/>
              </a:rPr>
              <a:t>Sustain Change for a long period of time</a:t>
            </a:r>
          </a:p>
          <a:p>
            <a:pPr marL="742950" lvl="1" indent="-285750" algn="l" fontAlgn="base">
              <a:buFont typeface="+mj-lt"/>
              <a:buAutoNum type="arabicPeriod"/>
            </a:pPr>
            <a:r>
              <a:rPr lang="en-IN" b="0" i="0" dirty="0">
                <a:solidFill>
                  <a:srgbClr val="273239"/>
                </a:solidFill>
                <a:effectLst/>
                <a:highlight>
                  <a:srgbClr val="FFFFFF"/>
                </a:highlight>
                <a:latin typeface="Nunito" pitchFamily="2" charset="0"/>
              </a:rPr>
              <a:t>Too much Reinforcement can lead to an overload of states which can diminish the results</a:t>
            </a:r>
          </a:p>
          <a:p>
            <a:endParaRPr lang="en-IN" dirty="0"/>
          </a:p>
        </p:txBody>
      </p:sp>
    </p:spTree>
    <p:extLst>
      <p:ext uri="{BB962C8B-B14F-4D97-AF65-F5344CB8AC3E}">
        <p14:creationId xmlns:p14="http://schemas.microsoft.com/office/powerpoint/2010/main" val="61780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67FC5-9AF1-42DC-837B-0F6E1BEC7E8C}"/>
              </a:ext>
            </a:extLst>
          </p:cNvPr>
          <p:cNvSpPr>
            <a:spLocks noGrp="1"/>
          </p:cNvSpPr>
          <p:nvPr>
            <p:ph type="title"/>
          </p:nvPr>
        </p:nvSpPr>
        <p:spPr/>
        <p:txBody>
          <a:bodyPr/>
          <a:lstStyle/>
          <a:p>
            <a:r>
              <a:rPr lang="en-IN" dirty="0"/>
              <a:t>Types of Reinforcement: </a:t>
            </a:r>
          </a:p>
        </p:txBody>
      </p:sp>
      <p:sp>
        <p:nvSpPr>
          <p:cNvPr id="3" name="Content Placeholder 2">
            <a:extLst>
              <a:ext uri="{FF2B5EF4-FFF2-40B4-BE49-F238E27FC236}">
                <a16:creationId xmlns:a16="http://schemas.microsoft.com/office/drawing/2014/main" id="{44563508-C08F-5613-0599-EEDC1E3C5C1D}"/>
              </a:ext>
            </a:extLst>
          </p:cNvPr>
          <p:cNvSpPr>
            <a:spLocks noGrp="1"/>
          </p:cNvSpPr>
          <p:nvPr>
            <p:ph idx="1"/>
          </p:nvPr>
        </p:nvSpPr>
        <p:spPr/>
        <p:txBody>
          <a:bodyPr/>
          <a:lstStyle/>
          <a:p>
            <a:pPr algn="l" fontAlgn="base">
              <a:buFont typeface="+mj-lt"/>
              <a:buAutoNum type="arabicPeriod"/>
            </a:pPr>
            <a:r>
              <a:rPr lang="en-IN" b="1" i="0" dirty="0">
                <a:solidFill>
                  <a:srgbClr val="273239"/>
                </a:solidFill>
                <a:effectLst/>
                <a:highlight>
                  <a:srgbClr val="FFFFFF"/>
                </a:highlight>
                <a:latin typeface="Nunito" pitchFamily="2" charset="0"/>
              </a:rPr>
              <a:t>Negative: </a:t>
            </a:r>
            <a:r>
              <a:rPr lang="en-IN" b="0" i="0" dirty="0">
                <a:solidFill>
                  <a:srgbClr val="273239"/>
                </a:solidFill>
                <a:effectLst/>
                <a:highlight>
                  <a:srgbClr val="FFFFFF"/>
                </a:highlight>
                <a:latin typeface="Nunito" pitchFamily="2" charset="0"/>
              </a:rPr>
              <a:t>Negative Reinforcement is defined as strengthening of </a:t>
            </a:r>
            <a:r>
              <a:rPr lang="en-IN" b="0" i="0" dirty="0" err="1">
                <a:solidFill>
                  <a:srgbClr val="273239"/>
                </a:solidFill>
                <a:effectLst/>
                <a:highlight>
                  <a:srgbClr val="FFFFFF"/>
                </a:highlight>
                <a:latin typeface="Nunito" pitchFamily="2" charset="0"/>
              </a:rPr>
              <a:t>behavior</a:t>
            </a:r>
            <a:r>
              <a:rPr lang="en-IN" b="0" i="0" dirty="0">
                <a:solidFill>
                  <a:srgbClr val="273239"/>
                </a:solidFill>
                <a:effectLst/>
                <a:highlight>
                  <a:srgbClr val="FFFFFF"/>
                </a:highlight>
                <a:latin typeface="Nunito" pitchFamily="2" charset="0"/>
              </a:rPr>
              <a:t> because a negative condition is stopped or avoided. </a:t>
            </a:r>
          </a:p>
          <a:p>
            <a:pPr marL="0" indent="0" algn="l" fontAlgn="base">
              <a:buNone/>
            </a:pPr>
            <a:br>
              <a:rPr lang="en-IN" b="0" i="0" dirty="0">
                <a:solidFill>
                  <a:srgbClr val="273239"/>
                </a:solidFill>
                <a:effectLst/>
                <a:highlight>
                  <a:srgbClr val="FFFFFF"/>
                </a:highlight>
                <a:latin typeface="Nunito" pitchFamily="2" charset="0"/>
              </a:rPr>
            </a:br>
            <a:r>
              <a:rPr lang="en-IN" b="0" i="0" dirty="0">
                <a:solidFill>
                  <a:srgbClr val="273239"/>
                </a:solidFill>
                <a:effectLst/>
                <a:highlight>
                  <a:srgbClr val="FFFFFF"/>
                </a:highlight>
                <a:latin typeface="Nunito" pitchFamily="2" charset="0"/>
              </a:rPr>
              <a:t>      Advantages of reinforcement learning: </a:t>
            </a:r>
          </a:p>
          <a:p>
            <a:pPr marL="742950" lvl="1" indent="-285750" algn="l" fontAlgn="base">
              <a:buFont typeface="+mj-lt"/>
              <a:buAutoNum type="arabicPeriod"/>
            </a:pPr>
            <a:r>
              <a:rPr lang="en-IN" b="0" i="0" dirty="0">
                <a:solidFill>
                  <a:srgbClr val="273239"/>
                </a:solidFill>
                <a:effectLst/>
                <a:highlight>
                  <a:srgbClr val="FFFFFF"/>
                </a:highlight>
                <a:latin typeface="Nunito" pitchFamily="2" charset="0"/>
              </a:rPr>
              <a:t>Increases </a:t>
            </a:r>
            <a:r>
              <a:rPr lang="en-IN" b="0" i="0" dirty="0" err="1">
                <a:solidFill>
                  <a:srgbClr val="273239"/>
                </a:solidFill>
                <a:effectLst/>
                <a:highlight>
                  <a:srgbClr val="FFFFFF"/>
                </a:highlight>
                <a:latin typeface="Nunito" pitchFamily="2" charset="0"/>
              </a:rPr>
              <a:t>Behavior</a:t>
            </a:r>
            <a:endParaRPr lang="en-IN" b="0" i="0" dirty="0">
              <a:solidFill>
                <a:srgbClr val="273239"/>
              </a:solidFill>
              <a:effectLst/>
              <a:highlight>
                <a:srgbClr val="FFFFFF"/>
              </a:highlight>
              <a:latin typeface="Nunito" pitchFamily="2" charset="0"/>
            </a:endParaRPr>
          </a:p>
          <a:p>
            <a:pPr marL="742950" lvl="1" indent="-285750" algn="l" fontAlgn="base">
              <a:buFont typeface="+mj-lt"/>
              <a:buAutoNum type="arabicPeriod"/>
            </a:pPr>
            <a:r>
              <a:rPr lang="en-IN" b="0" i="0" dirty="0">
                <a:solidFill>
                  <a:srgbClr val="273239"/>
                </a:solidFill>
                <a:effectLst/>
                <a:highlight>
                  <a:srgbClr val="FFFFFF"/>
                </a:highlight>
                <a:latin typeface="Nunito" pitchFamily="2" charset="0"/>
              </a:rPr>
              <a:t>Provide defiance to a minimum standard of performance</a:t>
            </a:r>
          </a:p>
          <a:p>
            <a:pPr marL="742950" lvl="1" indent="-285750" algn="l" fontAlgn="base">
              <a:buFont typeface="+mj-lt"/>
              <a:buAutoNum type="arabicPeriod"/>
            </a:pPr>
            <a:r>
              <a:rPr lang="en-IN" b="0" i="0" dirty="0">
                <a:solidFill>
                  <a:srgbClr val="273239"/>
                </a:solidFill>
                <a:effectLst/>
                <a:highlight>
                  <a:srgbClr val="FFFFFF"/>
                </a:highlight>
                <a:latin typeface="Nunito" pitchFamily="2" charset="0"/>
              </a:rPr>
              <a:t>It Only provides enough to meet up the minimum </a:t>
            </a:r>
            <a:r>
              <a:rPr lang="en-IN" b="0" i="0" dirty="0" err="1">
                <a:solidFill>
                  <a:srgbClr val="273239"/>
                </a:solidFill>
                <a:effectLst/>
                <a:highlight>
                  <a:srgbClr val="FFFFFF"/>
                </a:highlight>
                <a:latin typeface="Nunito" pitchFamily="2" charset="0"/>
              </a:rPr>
              <a:t>behavior</a:t>
            </a:r>
            <a:endParaRPr lang="en-IN" b="0" i="0" dirty="0">
              <a:solidFill>
                <a:srgbClr val="273239"/>
              </a:solidFill>
              <a:effectLst/>
              <a:highlight>
                <a:srgbClr val="FFFFFF"/>
              </a:highlight>
              <a:latin typeface="Nunito" pitchFamily="2" charset="0"/>
            </a:endParaRPr>
          </a:p>
          <a:p>
            <a:pPr marL="0" indent="0">
              <a:buNone/>
            </a:pPr>
            <a:endParaRPr lang="en-IN" dirty="0"/>
          </a:p>
        </p:txBody>
      </p:sp>
    </p:spTree>
    <p:extLst>
      <p:ext uri="{BB962C8B-B14F-4D97-AF65-F5344CB8AC3E}">
        <p14:creationId xmlns:p14="http://schemas.microsoft.com/office/powerpoint/2010/main" val="248417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CC635-3605-2D42-8AE2-EDC944D2C2F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DC6FCB7-AC5D-C315-6982-7CB3840DEC98}"/>
              </a:ext>
            </a:extLst>
          </p:cNvPr>
          <p:cNvPicPr>
            <a:picLocks noGrp="1" noChangeAspect="1"/>
          </p:cNvPicPr>
          <p:nvPr>
            <p:ph idx="1"/>
          </p:nvPr>
        </p:nvPicPr>
        <p:blipFill>
          <a:blip r:embed="rId2"/>
          <a:stretch>
            <a:fillRect/>
          </a:stretch>
        </p:blipFill>
        <p:spPr>
          <a:xfrm>
            <a:off x="2006083" y="1771922"/>
            <a:ext cx="5156946" cy="4425160"/>
          </a:xfrm>
        </p:spPr>
      </p:pic>
    </p:spTree>
    <p:extLst>
      <p:ext uri="{BB962C8B-B14F-4D97-AF65-F5344CB8AC3E}">
        <p14:creationId xmlns:p14="http://schemas.microsoft.com/office/powerpoint/2010/main" val="8847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39E84-9458-B160-DD05-3A8D07618B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F4FE39-0A77-BE08-7E5A-BAF1DCA58F06}"/>
              </a:ext>
            </a:extLst>
          </p:cNvPr>
          <p:cNvSpPr>
            <a:spLocks noGrp="1"/>
          </p:cNvSpPr>
          <p:nvPr>
            <p:ph idx="1"/>
          </p:nvPr>
        </p:nvSpPr>
        <p:spPr/>
        <p:txBody>
          <a:bodyPr/>
          <a:lstStyle/>
          <a:p>
            <a:pPr algn="just">
              <a:buFont typeface="Arial" panose="020B0604020202020204" pitchFamily="34" charset="0"/>
              <a:buChar char="•"/>
            </a:pPr>
            <a:r>
              <a:rPr lang="en-IN" b="1" i="0" dirty="0">
                <a:solidFill>
                  <a:srgbClr val="000000"/>
                </a:solidFill>
                <a:effectLst/>
                <a:highlight>
                  <a:srgbClr val="FFFFFF"/>
                </a:highlight>
                <a:latin typeface="inter-bold"/>
              </a:rPr>
              <a:t>Example:</a:t>
            </a:r>
            <a:r>
              <a:rPr lang="en-IN" b="0" i="0" dirty="0">
                <a:solidFill>
                  <a:srgbClr val="000000"/>
                </a:solidFill>
                <a:effectLst/>
                <a:highlight>
                  <a:srgbClr val="FFFFFF"/>
                </a:highlight>
                <a:latin typeface="inter-regular"/>
              </a:rPr>
              <a:t> Suppose there is an AI agent present within a maze environment, and his goal is to find the diamond. The agent interacts with the environment by performing some actions, and based on those actions, the state of the agent gets changed, and it also receives a reward or penalty as feedback.</a:t>
            </a:r>
          </a:p>
          <a:p>
            <a:pPr algn="just">
              <a:buFont typeface="Arial" panose="020B0604020202020204" pitchFamily="34" charset="0"/>
              <a:buChar char="•"/>
            </a:pPr>
            <a:r>
              <a:rPr lang="en-IN" b="0" i="0" dirty="0">
                <a:solidFill>
                  <a:srgbClr val="000000"/>
                </a:solidFill>
                <a:effectLst/>
                <a:highlight>
                  <a:srgbClr val="FFFFFF"/>
                </a:highlight>
                <a:latin typeface="inter-regular"/>
              </a:rPr>
              <a:t>The agent continues doing these three things (</a:t>
            </a:r>
            <a:r>
              <a:rPr lang="en-IN" b="1" i="0" dirty="0">
                <a:solidFill>
                  <a:srgbClr val="000000"/>
                </a:solidFill>
                <a:effectLst/>
                <a:highlight>
                  <a:srgbClr val="FFFFFF"/>
                </a:highlight>
                <a:latin typeface="inter-bold"/>
              </a:rPr>
              <a:t>take action, change state/remain in the same state, and get feedback</a:t>
            </a:r>
            <a:r>
              <a:rPr lang="en-IN" b="0" i="0" dirty="0">
                <a:solidFill>
                  <a:srgbClr val="000000"/>
                </a:solidFill>
                <a:effectLst/>
                <a:highlight>
                  <a:srgbClr val="FFFFFF"/>
                </a:highlight>
                <a:latin typeface="inter-regular"/>
              </a:rPr>
              <a:t>), and by doing these actions, he learns and explores the environment.</a:t>
            </a:r>
          </a:p>
          <a:p>
            <a:pPr algn="just">
              <a:buFont typeface="Arial" panose="020B0604020202020204" pitchFamily="34" charset="0"/>
              <a:buChar char="•"/>
            </a:pPr>
            <a:r>
              <a:rPr lang="en-IN" b="0" i="0" dirty="0">
                <a:solidFill>
                  <a:srgbClr val="000000"/>
                </a:solidFill>
                <a:effectLst/>
                <a:highlight>
                  <a:srgbClr val="FFFFFF"/>
                </a:highlight>
                <a:latin typeface="inter-regular"/>
              </a:rPr>
              <a:t>The agent learns that what actions lead to positive feedback or rewards and what actions lead to negative feedback penalty. As a positive reward, the agent gets a positive point, and as a penalty, it gets a negative point</a:t>
            </a:r>
          </a:p>
          <a:p>
            <a:endParaRPr lang="en-IN" dirty="0"/>
          </a:p>
        </p:txBody>
      </p:sp>
    </p:spTree>
    <p:extLst>
      <p:ext uri="{BB962C8B-B14F-4D97-AF65-F5344CB8AC3E}">
        <p14:creationId xmlns:p14="http://schemas.microsoft.com/office/powerpoint/2010/main" val="2825896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96D1A-CE37-0A3A-795F-5075A27F92CB}"/>
              </a:ext>
            </a:extLst>
          </p:cNvPr>
          <p:cNvSpPr>
            <a:spLocks noGrp="1"/>
          </p:cNvSpPr>
          <p:nvPr>
            <p:ph type="title"/>
          </p:nvPr>
        </p:nvSpPr>
        <p:spPr/>
        <p:txBody>
          <a:bodyPr/>
          <a:lstStyle/>
          <a:p>
            <a:r>
              <a:rPr lang="en-US" dirty="0"/>
              <a:t>Markov Decision Process</a:t>
            </a:r>
            <a:endParaRPr lang="en-IN" dirty="0"/>
          </a:p>
        </p:txBody>
      </p:sp>
      <p:sp>
        <p:nvSpPr>
          <p:cNvPr id="3" name="Content Placeholder 2">
            <a:extLst>
              <a:ext uri="{FF2B5EF4-FFF2-40B4-BE49-F238E27FC236}">
                <a16:creationId xmlns:a16="http://schemas.microsoft.com/office/drawing/2014/main" id="{40E8F6EA-37D9-8133-5678-AC8E718459A9}"/>
              </a:ext>
            </a:extLst>
          </p:cNvPr>
          <p:cNvSpPr>
            <a:spLocks noGrp="1"/>
          </p:cNvSpPr>
          <p:nvPr>
            <p:ph idx="1"/>
          </p:nvPr>
        </p:nvSpPr>
        <p:spPr/>
        <p:txBody>
          <a:bodyPr/>
          <a:lstStyle/>
          <a:p>
            <a:r>
              <a:rPr lang="en-IN" b="0" i="0" dirty="0">
                <a:solidFill>
                  <a:srgbClr val="333333"/>
                </a:solidFill>
                <a:effectLst/>
                <a:highlight>
                  <a:srgbClr val="FFFFFF"/>
                </a:highlight>
                <a:latin typeface="inter-regular"/>
              </a:rPr>
              <a:t>Markov Decision Process or MDP, is used to </a:t>
            </a:r>
            <a:r>
              <a:rPr lang="en-IN" b="1" i="0" dirty="0">
                <a:solidFill>
                  <a:srgbClr val="333333"/>
                </a:solidFill>
                <a:effectLst/>
                <a:highlight>
                  <a:srgbClr val="FFFFFF"/>
                </a:highlight>
                <a:latin typeface="inter-bold"/>
              </a:rPr>
              <a:t>formalize the reinforcement learning problems</a:t>
            </a:r>
            <a:r>
              <a:rPr lang="en-IN" b="0" i="0" dirty="0">
                <a:solidFill>
                  <a:srgbClr val="333333"/>
                </a:solidFill>
                <a:effectLst/>
                <a:highlight>
                  <a:srgbClr val="FFFFFF"/>
                </a:highlight>
                <a:latin typeface="inter-regular"/>
              </a:rPr>
              <a:t>.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If the environment is completely observable, then its dynamic can be </a:t>
            </a:r>
            <a:r>
              <a:rPr lang="en-IN" b="0" i="0" dirty="0" err="1">
                <a:solidFill>
                  <a:srgbClr val="333333"/>
                </a:solidFill>
                <a:effectLst/>
                <a:highlight>
                  <a:srgbClr val="FFFFFF"/>
                </a:highlight>
                <a:latin typeface="inter-regular"/>
              </a:rPr>
              <a:t>modeled</a:t>
            </a:r>
            <a:r>
              <a:rPr lang="en-IN" b="0" i="0" dirty="0">
                <a:solidFill>
                  <a:srgbClr val="333333"/>
                </a:solidFill>
                <a:effectLst/>
                <a:highlight>
                  <a:srgbClr val="FFFFFF"/>
                </a:highlight>
                <a:latin typeface="inter-regular"/>
              </a:rPr>
              <a:t> as a </a:t>
            </a:r>
            <a:r>
              <a:rPr lang="en-IN" b="1" i="0" dirty="0">
                <a:solidFill>
                  <a:srgbClr val="333333"/>
                </a:solidFill>
                <a:effectLst/>
                <a:highlight>
                  <a:srgbClr val="FFFFFF"/>
                </a:highlight>
                <a:latin typeface="inter-bold"/>
              </a:rPr>
              <a:t>Markov Process</a:t>
            </a:r>
            <a:r>
              <a:rPr lang="en-IN" b="0" i="0" dirty="0">
                <a:solidFill>
                  <a:srgbClr val="333333"/>
                </a:solidFill>
                <a:effectLst/>
                <a:highlight>
                  <a:srgbClr val="FFFFFF"/>
                </a:highlight>
                <a:latin typeface="inter-regular"/>
              </a:rPr>
              <a:t>.</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In MDP, the agent constantly interacts with the environment and performs actions; at each action, the environment responds and generates a new state.</a:t>
            </a:r>
            <a:endParaRPr lang="en-IN" dirty="0"/>
          </a:p>
        </p:txBody>
      </p:sp>
    </p:spTree>
    <p:extLst>
      <p:ext uri="{BB962C8B-B14F-4D97-AF65-F5344CB8AC3E}">
        <p14:creationId xmlns:p14="http://schemas.microsoft.com/office/powerpoint/2010/main" val="3444071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BDF7-98B8-2669-9328-AF761878363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C8CF134-9FC6-5706-734E-6C20B17A2D68}"/>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A </a:t>
            </a:r>
            <a:r>
              <a:rPr lang="en-IN" b="1" i="0" dirty="0">
                <a:solidFill>
                  <a:srgbClr val="273239"/>
                </a:solidFill>
                <a:effectLst/>
                <a:highlight>
                  <a:srgbClr val="FFFFFF"/>
                </a:highlight>
                <a:latin typeface="Nunito" pitchFamily="2" charset="0"/>
              </a:rPr>
              <a:t>State</a:t>
            </a:r>
            <a:r>
              <a:rPr lang="en-IN" b="0" i="0" dirty="0">
                <a:solidFill>
                  <a:srgbClr val="273239"/>
                </a:solidFill>
                <a:effectLst/>
                <a:highlight>
                  <a:srgbClr val="FFFFFF"/>
                </a:highlight>
                <a:latin typeface="Nunito" pitchFamily="2" charset="0"/>
              </a:rPr>
              <a:t> is a set of tokens that represent every state that the agent can be in. </a:t>
            </a:r>
          </a:p>
          <a:p>
            <a:endParaRPr lang="en-IN" dirty="0">
              <a:solidFill>
                <a:srgbClr val="273239"/>
              </a:solidFill>
              <a:highlight>
                <a:srgbClr val="FFFFFF"/>
              </a:highlight>
              <a:latin typeface="Nunito" pitchFamily="2" charset="0"/>
            </a:endParaRPr>
          </a:p>
          <a:p>
            <a:pPr algn="just"/>
            <a:r>
              <a:rPr lang="en-IN" b="0" i="0" dirty="0">
                <a:solidFill>
                  <a:srgbClr val="333333"/>
                </a:solidFill>
                <a:effectLst/>
                <a:highlight>
                  <a:srgbClr val="FFFFFF"/>
                </a:highlight>
                <a:latin typeface="inter-regular"/>
              </a:rPr>
              <a:t>MDP contains a tuple of four elements (S, A, P</a:t>
            </a:r>
            <a:r>
              <a:rPr lang="en-IN" b="0" i="0" baseline="-25000" dirty="0">
                <a:solidFill>
                  <a:srgbClr val="333333"/>
                </a:solidFill>
                <a:effectLst/>
                <a:highlight>
                  <a:srgbClr val="FFFFFF"/>
                </a:highlight>
                <a:latin typeface="inter-regular"/>
              </a:rPr>
              <a:t>a</a:t>
            </a:r>
            <a:r>
              <a:rPr lang="en-IN" b="0" i="0" dirty="0">
                <a:solidFill>
                  <a:srgbClr val="333333"/>
                </a:solidFill>
                <a:effectLst/>
                <a:highlight>
                  <a:srgbClr val="FFFFFF"/>
                </a:highlight>
                <a:latin typeface="inter-regular"/>
              </a:rPr>
              <a:t>, R</a:t>
            </a:r>
            <a:r>
              <a:rPr lang="en-IN" b="0" i="0" baseline="-25000" dirty="0">
                <a:solidFill>
                  <a:srgbClr val="333333"/>
                </a:solidFill>
                <a:effectLst/>
                <a:highlight>
                  <a:srgbClr val="FFFFFF"/>
                </a:highlight>
                <a:latin typeface="inter-regular"/>
              </a:rPr>
              <a:t>a</a:t>
            </a:r>
            <a:r>
              <a:rPr lang="en-IN" b="0" i="0" dirty="0">
                <a:solidFill>
                  <a:srgbClr val="333333"/>
                </a:solidFill>
                <a:effectLst/>
                <a:highlight>
                  <a:srgbClr val="FFFFFF"/>
                </a:highlight>
                <a:latin typeface="inter-regular"/>
              </a:rPr>
              <a:t>):</a:t>
            </a:r>
          </a:p>
          <a:p>
            <a:pPr algn="just">
              <a:buFont typeface="Arial" panose="020B0604020202020204" pitchFamily="34" charset="0"/>
              <a:buChar char="•"/>
            </a:pPr>
            <a:r>
              <a:rPr lang="en-IN" b="0" i="0" dirty="0">
                <a:solidFill>
                  <a:srgbClr val="000000"/>
                </a:solidFill>
                <a:effectLst/>
                <a:highlight>
                  <a:srgbClr val="FFFFFF"/>
                </a:highlight>
                <a:latin typeface="inter-regular"/>
              </a:rPr>
              <a:t>A set of finite States S</a:t>
            </a:r>
          </a:p>
          <a:p>
            <a:pPr algn="just">
              <a:buFont typeface="Arial" panose="020B0604020202020204" pitchFamily="34" charset="0"/>
              <a:buChar char="•"/>
            </a:pPr>
            <a:r>
              <a:rPr lang="en-IN" b="0" i="0" dirty="0">
                <a:solidFill>
                  <a:srgbClr val="000000"/>
                </a:solidFill>
                <a:effectLst/>
                <a:highlight>
                  <a:srgbClr val="FFFFFF"/>
                </a:highlight>
                <a:latin typeface="inter-regular"/>
              </a:rPr>
              <a:t>A set of finite Actions A</a:t>
            </a:r>
          </a:p>
          <a:p>
            <a:pPr algn="just">
              <a:buFont typeface="Arial" panose="020B0604020202020204" pitchFamily="34" charset="0"/>
              <a:buChar char="•"/>
            </a:pPr>
            <a:r>
              <a:rPr lang="en-IN" b="0" i="0" dirty="0">
                <a:solidFill>
                  <a:srgbClr val="000000"/>
                </a:solidFill>
                <a:effectLst/>
                <a:highlight>
                  <a:srgbClr val="FFFFFF"/>
                </a:highlight>
                <a:latin typeface="inter-regular"/>
              </a:rPr>
              <a:t>Rewards received after transitioning from state S to state S', due to action a.</a:t>
            </a:r>
          </a:p>
          <a:p>
            <a:pPr algn="just">
              <a:buFont typeface="Arial" panose="020B0604020202020204" pitchFamily="34" charset="0"/>
              <a:buChar char="•"/>
            </a:pPr>
            <a:r>
              <a:rPr lang="en-IN" b="0" i="0" dirty="0">
                <a:solidFill>
                  <a:srgbClr val="000000"/>
                </a:solidFill>
                <a:effectLst/>
                <a:highlight>
                  <a:srgbClr val="FFFFFF"/>
                </a:highlight>
                <a:latin typeface="inter-regular"/>
              </a:rPr>
              <a:t>Probability P</a:t>
            </a:r>
            <a:r>
              <a:rPr lang="en-IN" b="0" i="0" baseline="-25000" dirty="0">
                <a:solidFill>
                  <a:srgbClr val="000000"/>
                </a:solidFill>
                <a:effectLst/>
                <a:highlight>
                  <a:srgbClr val="FFFFFF"/>
                </a:highlight>
                <a:latin typeface="inter-regular"/>
              </a:rPr>
              <a:t>a</a:t>
            </a:r>
            <a:r>
              <a:rPr lang="en-IN" b="0" i="0" dirty="0">
                <a:solidFill>
                  <a:srgbClr val="000000"/>
                </a:solidFill>
                <a:effectLst/>
                <a:highlight>
                  <a:srgbClr val="FFFFFF"/>
                </a:highlight>
                <a:latin typeface="inter-regular"/>
              </a:rPr>
              <a:t>.</a:t>
            </a:r>
          </a:p>
          <a:p>
            <a:endParaRPr lang="en-IN" dirty="0"/>
          </a:p>
        </p:txBody>
      </p:sp>
    </p:spTree>
    <p:extLst>
      <p:ext uri="{BB962C8B-B14F-4D97-AF65-F5344CB8AC3E}">
        <p14:creationId xmlns:p14="http://schemas.microsoft.com/office/powerpoint/2010/main" val="2133126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DD2C-FC80-49A1-8990-C940C2CDA37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EA97B6F-CB8F-85D1-C439-1C93D102B9E3}"/>
              </a:ext>
            </a:extLst>
          </p:cNvPr>
          <p:cNvPicPr>
            <a:picLocks noGrp="1" noChangeAspect="1"/>
          </p:cNvPicPr>
          <p:nvPr>
            <p:ph idx="1"/>
          </p:nvPr>
        </p:nvPicPr>
        <p:blipFill>
          <a:blip r:embed="rId2"/>
          <a:stretch>
            <a:fillRect/>
          </a:stretch>
        </p:blipFill>
        <p:spPr>
          <a:xfrm>
            <a:off x="1632857" y="1915862"/>
            <a:ext cx="6311956" cy="4126164"/>
          </a:xfrm>
        </p:spPr>
      </p:pic>
    </p:spTree>
    <p:extLst>
      <p:ext uri="{BB962C8B-B14F-4D97-AF65-F5344CB8AC3E}">
        <p14:creationId xmlns:p14="http://schemas.microsoft.com/office/powerpoint/2010/main" val="221169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B452-6753-7B7B-E619-E94C162F3CDC}"/>
              </a:ext>
            </a:extLst>
          </p:cNvPr>
          <p:cNvSpPr>
            <a:spLocks noGrp="1"/>
          </p:cNvSpPr>
          <p:nvPr>
            <p:ph type="title"/>
          </p:nvPr>
        </p:nvSpPr>
        <p:spPr/>
        <p:txBody>
          <a:bodyPr/>
          <a:lstStyle/>
          <a:p>
            <a:r>
              <a:rPr lang="en-US" dirty="0"/>
              <a:t>Markov Property</a:t>
            </a:r>
            <a:endParaRPr lang="en-IN" dirty="0"/>
          </a:p>
        </p:txBody>
      </p:sp>
      <p:sp>
        <p:nvSpPr>
          <p:cNvPr id="3" name="Content Placeholder 2">
            <a:extLst>
              <a:ext uri="{FF2B5EF4-FFF2-40B4-BE49-F238E27FC236}">
                <a16:creationId xmlns:a16="http://schemas.microsoft.com/office/drawing/2014/main" id="{F504255E-C8FB-B1C1-B799-71AFB77CF4E3}"/>
              </a:ext>
            </a:extLst>
          </p:cNvPr>
          <p:cNvSpPr>
            <a:spLocks noGrp="1"/>
          </p:cNvSpPr>
          <p:nvPr>
            <p:ph idx="1"/>
          </p:nvPr>
        </p:nvSpPr>
        <p:spPr/>
        <p:txBody>
          <a:bodyPr/>
          <a:lstStyle/>
          <a:p>
            <a:r>
              <a:rPr lang="en-IN" b="0" i="0" dirty="0">
                <a:solidFill>
                  <a:srgbClr val="333333"/>
                </a:solidFill>
                <a:effectLst/>
                <a:highlight>
                  <a:srgbClr val="FFFFFF"/>
                </a:highlight>
                <a:latin typeface="inter-regular"/>
              </a:rPr>
              <a:t>MDP uses </a:t>
            </a:r>
            <a:r>
              <a:rPr lang="en-IN" b="1" i="0" dirty="0">
                <a:solidFill>
                  <a:srgbClr val="333333"/>
                </a:solidFill>
                <a:effectLst/>
                <a:highlight>
                  <a:srgbClr val="FFFFFF"/>
                </a:highlight>
                <a:latin typeface="inter-bold"/>
              </a:rPr>
              <a:t>Markov property</a:t>
            </a:r>
            <a:r>
              <a:rPr lang="en-IN" b="0" i="0" dirty="0">
                <a:solidFill>
                  <a:srgbClr val="333333"/>
                </a:solidFill>
                <a:effectLst/>
                <a:highlight>
                  <a:srgbClr val="FFFFFF"/>
                </a:highlight>
                <a:latin typeface="inter-regular"/>
              </a:rPr>
              <a:t>, and to better understand the MDP, we need to learn about it.</a:t>
            </a:r>
          </a:p>
          <a:p>
            <a:endParaRPr lang="en-IN" dirty="0">
              <a:solidFill>
                <a:srgbClr val="333333"/>
              </a:solidFill>
              <a:highlight>
                <a:srgbClr val="FFFFFF"/>
              </a:highlight>
              <a:latin typeface="inter-regular"/>
            </a:endParaRPr>
          </a:p>
          <a:p>
            <a:r>
              <a:rPr lang="en-IN" b="1" i="1" dirty="0">
                <a:solidFill>
                  <a:srgbClr val="333333"/>
                </a:solidFill>
                <a:effectLst/>
                <a:highlight>
                  <a:srgbClr val="FFFFFF"/>
                </a:highlight>
                <a:latin typeface="inter-bold"/>
              </a:rPr>
              <a:t>"If the agent is present in the current state S1, performs an action a1 and move to the state s2, then the state transition from s1 to s2 only depends on the current state and future action and states do not depend on past actions, rewards, or states.“</a:t>
            </a:r>
            <a:endParaRPr lang="en-IN" b="1" i="1" dirty="0">
              <a:solidFill>
                <a:srgbClr val="333333"/>
              </a:solidFill>
              <a:effectLst/>
              <a:highlight>
                <a:srgbClr val="FFFFFF"/>
              </a:highlight>
              <a:latin typeface="inter-regular"/>
            </a:endParaRPr>
          </a:p>
          <a:p>
            <a:endParaRPr lang="en-IN" b="1" i="1" dirty="0">
              <a:solidFill>
                <a:srgbClr val="333333"/>
              </a:solidFill>
              <a:highlight>
                <a:srgbClr val="FFFFFF"/>
              </a:highlight>
              <a:latin typeface="inter-regular"/>
            </a:endParaRPr>
          </a:p>
          <a:p>
            <a:r>
              <a:rPr lang="en-IN" b="1" i="1" dirty="0">
                <a:solidFill>
                  <a:srgbClr val="333333"/>
                </a:solidFill>
                <a:highlight>
                  <a:srgbClr val="FFFFFF"/>
                </a:highlight>
                <a:latin typeface="inter-regular"/>
              </a:rPr>
              <a:t>Example: </a:t>
            </a:r>
            <a:r>
              <a:rPr lang="en-IN" b="1" i="0" dirty="0">
                <a:solidFill>
                  <a:srgbClr val="333333"/>
                </a:solidFill>
                <a:effectLst/>
                <a:highlight>
                  <a:srgbClr val="FFFFFF"/>
                </a:highlight>
                <a:latin typeface="inter-bold"/>
              </a:rPr>
              <a:t>Chess game, the players only focus on the current state and do not need to remember past actions or states</a:t>
            </a:r>
            <a:r>
              <a:rPr lang="en-IN" b="0" i="0" dirty="0">
                <a:solidFill>
                  <a:srgbClr val="333333"/>
                </a:solidFill>
                <a:effectLst/>
                <a:highlight>
                  <a:srgbClr val="FFFFFF"/>
                </a:highlight>
                <a:latin typeface="inter-regular"/>
              </a:rPr>
              <a:t>.</a:t>
            </a:r>
            <a:endParaRPr lang="en-IN" dirty="0"/>
          </a:p>
        </p:txBody>
      </p:sp>
    </p:spTree>
    <p:extLst>
      <p:ext uri="{BB962C8B-B14F-4D97-AF65-F5344CB8AC3E}">
        <p14:creationId xmlns:p14="http://schemas.microsoft.com/office/powerpoint/2010/main" val="1597378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802A3-4C17-499E-B617-8101DC0B61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00CEF7-A16D-2767-D2BD-962E60DB62F8}"/>
              </a:ext>
            </a:extLst>
          </p:cNvPr>
          <p:cNvSpPr>
            <a:spLocks noGrp="1"/>
          </p:cNvSpPr>
          <p:nvPr>
            <p:ph idx="1"/>
          </p:nvPr>
        </p:nvSpPr>
        <p:spPr/>
        <p:txBody>
          <a:bodyPr/>
          <a:lstStyle/>
          <a:p>
            <a:r>
              <a:rPr lang="en-IN" b="0" i="0" dirty="0">
                <a:solidFill>
                  <a:srgbClr val="333333"/>
                </a:solidFill>
                <a:effectLst/>
                <a:highlight>
                  <a:srgbClr val="FFFFFF"/>
                </a:highlight>
                <a:latin typeface="inter-regular"/>
              </a:rPr>
              <a:t>Markov Process is a memoryless process with a sequence of random states S</a:t>
            </a:r>
            <a:r>
              <a:rPr lang="en-IN" b="0" i="0" baseline="-25000" dirty="0">
                <a:solidFill>
                  <a:srgbClr val="333333"/>
                </a:solidFill>
                <a:effectLst/>
                <a:highlight>
                  <a:srgbClr val="FFFFFF"/>
                </a:highlight>
                <a:latin typeface="inter-regular"/>
              </a:rPr>
              <a:t>1</a:t>
            </a:r>
            <a:r>
              <a:rPr lang="en-IN" b="0" i="0" dirty="0">
                <a:solidFill>
                  <a:srgbClr val="333333"/>
                </a:solidFill>
                <a:effectLst/>
                <a:highlight>
                  <a:srgbClr val="FFFFFF"/>
                </a:highlight>
                <a:latin typeface="inter-regular"/>
              </a:rPr>
              <a:t>, S</a:t>
            </a:r>
            <a:r>
              <a:rPr lang="en-IN" b="0" i="0" baseline="-25000" dirty="0">
                <a:solidFill>
                  <a:srgbClr val="333333"/>
                </a:solidFill>
                <a:effectLst/>
                <a:highlight>
                  <a:srgbClr val="FFFFFF"/>
                </a:highlight>
                <a:latin typeface="inter-regular"/>
              </a:rPr>
              <a:t>2</a:t>
            </a:r>
            <a:r>
              <a:rPr lang="en-IN" b="0" i="0" dirty="0">
                <a:solidFill>
                  <a:srgbClr val="333333"/>
                </a:solidFill>
                <a:effectLst/>
                <a:highlight>
                  <a:srgbClr val="FFFFFF"/>
                </a:highlight>
                <a:latin typeface="inter-regular"/>
              </a:rPr>
              <a:t>, ....., S</a:t>
            </a:r>
            <a:r>
              <a:rPr lang="en-IN" b="0" i="0" baseline="-25000" dirty="0">
                <a:solidFill>
                  <a:srgbClr val="333333"/>
                </a:solidFill>
                <a:effectLst/>
                <a:highlight>
                  <a:srgbClr val="FFFFFF"/>
                </a:highlight>
                <a:latin typeface="inter-regular"/>
              </a:rPr>
              <a:t>t</a:t>
            </a:r>
            <a:r>
              <a:rPr lang="en-IN" b="0" i="0" dirty="0">
                <a:solidFill>
                  <a:srgbClr val="333333"/>
                </a:solidFill>
                <a:effectLst/>
                <a:highlight>
                  <a:srgbClr val="FFFFFF"/>
                </a:highlight>
                <a:latin typeface="inter-regular"/>
              </a:rPr>
              <a:t> that uses the Markov Property. Markov process is also known as Markov chain, which is a tuple (S, P) on state S and transition function P. </a:t>
            </a:r>
            <a:endParaRPr lang="en-IN" dirty="0"/>
          </a:p>
        </p:txBody>
      </p:sp>
    </p:spTree>
    <p:extLst>
      <p:ext uri="{BB962C8B-B14F-4D97-AF65-F5344CB8AC3E}">
        <p14:creationId xmlns:p14="http://schemas.microsoft.com/office/powerpoint/2010/main" val="4053344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37377-8915-93C9-E644-A109597235CC}"/>
              </a:ext>
            </a:extLst>
          </p:cNvPr>
          <p:cNvSpPr>
            <a:spLocks noGrp="1"/>
          </p:cNvSpPr>
          <p:nvPr>
            <p:ph type="title"/>
          </p:nvPr>
        </p:nvSpPr>
        <p:spPr/>
        <p:txBody>
          <a:bodyPr/>
          <a:lstStyle/>
          <a:p>
            <a:r>
              <a:rPr lang="en-US" dirty="0"/>
              <a:t>Bellman Equation </a:t>
            </a:r>
            <a:endParaRPr lang="en-IN" dirty="0"/>
          </a:p>
        </p:txBody>
      </p:sp>
      <p:sp>
        <p:nvSpPr>
          <p:cNvPr id="3" name="Content Placeholder 2">
            <a:extLst>
              <a:ext uri="{FF2B5EF4-FFF2-40B4-BE49-F238E27FC236}">
                <a16:creationId xmlns:a16="http://schemas.microsoft.com/office/drawing/2014/main" id="{4C08DC44-582A-E5CC-E9AE-901EB0D1DE1E}"/>
              </a:ext>
            </a:extLst>
          </p:cNvPr>
          <p:cNvSpPr>
            <a:spLocks noGrp="1"/>
          </p:cNvSpPr>
          <p:nvPr>
            <p:ph idx="1"/>
          </p:nvPr>
        </p:nvSpPr>
        <p:spPr/>
        <p:txBody>
          <a:bodyPr/>
          <a:lstStyle/>
          <a:p>
            <a:r>
              <a:rPr lang="en-IN" b="0" i="0" dirty="0">
                <a:solidFill>
                  <a:srgbClr val="333333"/>
                </a:solidFill>
                <a:effectLst/>
                <a:highlight>
                  <a:srgbClr val="FFFFFF"/>
                </a:highlight>
                <a:latin typeface="inter-regular"/>
              </a:rPr>
              <a:t>The Bellman equation was introduced by the Mathematician </a:t>
            </a:r>
            <a:r>
              <a:rPr lang="en-IN" b="1" i="0" dirty="0">
                <a:solidFill>
                  <a:srgbClr val="333333"/>
                </a:solidFill>
                <a:effectLst/>
                <a:highlight>
                  <a:srgbClr val="FFFFFF"/>
                </a:highlight>
                <a:latin typeface="inter-bold"/>
              </a:rPr>
              <a:t>Richard Ernest Bellman in the year 1953</a:t>
            </a:r>
            <a:r>
              <a:rPr lang="en-IN" b="0" i="0" dirty="0">
                <a:solidFill>
                  <a:srgbClr val="333333"/>
                </a:solidFill>
                <a:effectLst/>
                <a:highlight>
                  <a:srgbClr val="FFFFFF"/>
                </a:highlight>
                <a:latin typeface="inter-regular"/>
              </a:rPr>
              <a:t>, and hence it is called as a Bellman equation.</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It is associated with dynamic programming and used to calculate the values of a decision problem at a certain point by including the values of previous states.</a:t>
            </a:r>
          </a:p>
          <a:p>
            <a:endParaRPr lang="en-IN" dirty="0">
              <a:solidFill>
                <a:srgbClr val="333333"/>
              </a:solidFill>
              <a:highlight>
                <a:srgbClr val="FFFFFF"/>
              </a:highlight>
              <a:latin typeface="inter-regular"/>
            </a:endParaRPr>
          </a:p>
          <a:p>
            <a:endParaRPr lang="en-IN" dirty="0"/>
          </a:p>
        </p:txBody>
      </p:sp>
    </p:spTree>
    <p:extLst>
      <p:ext uri="{BB962C8B-B14F-4D97-AF65-F5344CB8AC3E}">
        <p14:creationId xmlns:p14="http://schemas.microsoft.com/office/powerpoint/2010/main" val="742556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BCF74-C7F7-6332-912D-C8359890A5D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66498D9-EFE9-7066-2F67-944229A59DED}"/>
              </a:ext>
            </a:extLst>
          </p:cNvPr>
          <p:cNvPicPr>
            <a:picLocks noGrp="1" noChangeAspect="1"/>
          </p:cNvPicPr>
          <p:nvPr>
            <p:ph idx="1"/>
          </p:nvPr>
        </p:nvPicPr>
        <p:blipFill>
          <a:blip r:embed="rId2"/>
          <a:stretch>
            <a:fillRect/>
          </a:stretch>
        </p:blipFill>
        <p:spPr>
          <a:xfrm>
            <a:off x="2244385" y="2597620"/>
            <a:ext cx="2981325" cy="600075"/>
          </a:xfrm>
        </p:spPr>
      </p:pic>
      <p:sp>
        <p:nvSpPr>
          <p:cNvPr id="7" name="TextBox 6">
            <a:extLst>
              <a:ext uri="{FF2B5EF4-FFF2-40B4-BE49-F238E27FC236}">
                <a16:creationId xmlns:a16="http://schemas.microsoft.com/office/drawing/2014/main" id="{13F9CB3B-B08C-4D0C-9840-0B216876D5D2}"/>
              </a:ext>
            </a:extLst>
          </p:cNvPr>
          <p:cNvSpPr txBox="1"/>
          <p:nvPr/>
        </p:nvSpPr>
        <p:spPr>
          <a:xfrm>
            <a:off x="942391" y="3768021"/>
            <a:ext cx="6475446" cy="1477328"/>
          </a:xfrm>
          <a:prstGeom prst="rect">
            <a:avLst/>
          </a:prstGeom>
          <a:noFill/>
        </p:spPr>
        <p:txBody>
          <a:bodyPr wrap="square">
            <a:spAutoFit/>
          </a:bodyPr>
          <a:lstStyle/>
          <a:p>
            <a:pPr algn="just"/>
            <a:r>
              <a:rPr lang="en-IN" b="0" i="0" dirty="0">
                <a:solidFill>
                  <a:srgbClr val="333333"/>
                </a:solidFill>
                <a:effectLst/>
                <a:highlight>
                  <a:srgbClr val="FFFFFF"/>
                </a:highlight>
                <a:latin typeface="inter-regular"/>
              </a:rPr>
              <a:t>Where,</a:t>
            </a:r>
          </a:p>
          <a:p>
            <a:pPr algn="just"/>
            <a:r>
              <a:rPr lang="en-IN" b="1" i="0" dirty="0">
                <a:solidFill>
                  <a:srgbClr val="333333"/>
                </a:solidFill>
                <a:effectLst/>
                <a:highlight>
                  <a:srgbClr val="FFFFFF"/>
                </a:highlight>
                <a:latin typeface="inter-bold"/>
              </a:rPr>
              <a:t>V(s)= value calculated at a particular point.</a:t>
            </a:r>
            <a:endParaRPr lang="en-IN" b="0" i="0" dirty="0">
              <a:solidFill>
                <a:srgbClr val="333333"/>
              </a:solidFill>
              <a:effectLst/>
              <a:highlight>
                <a:srgbClr val="FFFFFF"/>
              </a:highlight>
              <a:latin typeface="inter-regular"/>
            </a:endParaRPr>
          </a:p>
          <a:p>
            <a:pPr algn="just"/>
            <a:r>
              <a:rPr lang="en-IN" b="1" i="0" dirty="0">
                <a:solidFill>
                  <a:srgbClr val="333333"/>
                </a:solidFill>
                <a:effectLst/>
                <a:highlight>
                  <a:srgbClr val="FFFFFF"/>
                </a:highlight>
                <a:latin typeface="inter-bold"/>
              </a:rPr>
              <a:t>R(</a:t>
            </a:r>
            <a:r>
              <a:rPr lang="en-IN" b="1" i="0" dirty="0" err="1">
                <a:solidFill>
                  <a:srgbClr val="333333"/>
                </a:solidFill>
                <a:effectLst/>
                <a:highlight>
                  <a:srgbClr val="FFFFFF"/>
                </a:highlight>
                <a:latin typeface="inter-bold"/>
              </a:rPr>
              <a:t>s,a</a:t>
            </a:r>
            <a:r>
              <a:rPr lang="en-IN" b="1" i="0" dirty="0">
                <a:solidFill>
                  <a:srgbClr val="333333"/>
                </a:solidFill>
                <a:effectLst/>
                <a:highlight>
                  <a:srgbClr val="FFFFFF"/>
                </a:highlight>
                <a:latin typeface="inter-bold"/>
              </a:rPr>
              <a:t>) = Reward at a particular state s by performing an action a.</a:t>
            </a:r>
            <a:endParaRPr lang="en-IN" b="0" i="0" dirty="0">
              <a:solidFill>
                <a:srgbClr val="333333"/>
              </a:solidFill>
              <a:effectLst/>
              <a:highlight>
                <a:srgbClr val="FFFFFF"/>
              </a:highlight>
              <a:latin typeface="inter-regular"/>
            </a:endParaRPr>
          </a:p>
          <a:p>
            <a:pPr algn="just"/>
            <a:r>
              <a:rPr lang="el-GR" b="1" i="0" dirty="0">
                <a:solidFill>
                  <a:srgbClr val="333333"/>
                </a:solidFill>
                <a:effectLst/>
                <a:highlight>
                  <a:srgbClr val="FFFFFF"/>
                </a:highlight>
                <a:latin typeface="inter-bold"/>
              </a:rPr>
              <a:t>γ </a:t>
            </a:r>
            <a:r>
              <a:rPr lang="en-IN" b="1" i="0" dirty="0">
                <a:solidFill>
                  <a:srgbClr val="333333"/>
                </a:solidFill>
                <a:effectLst/>
                <a:highlight>
                  <a:srgbClr val="FFFFFF"/>
                </a:highlight>
                <a:latin typeface="inter-bold"/>
              </a:rPr>
              <a:t> = Discount factor(Gamma)</a:t>
            </a:r>
            <a:endParaRPr lang="en-IN" b="0" i="0" dirty="0">
              <a:solidFill>
                <a:srgbClr val="333333"/>
              </a:solidFill>
              <a:effectLst/>
              <a:highlight>
                <a:srgbClr val="FFFFFF"/>
              </a:highlight>
              <a:latin typeface="inter-regular"/>
            </a:endParaRPr>
          </a:p>
          <a:p>
            <a:pPr algn="just"/>
            <a:r>
              <a:rPr lang="en-IN" b="1" i="0" dirty="0">
                <a:solidFill>
                  <a:srgbClr val="333333"/>
                </a:solidFill>
                <a:effectLst/>
                <a:highlight>
                  <a:srgbClr val="FFFFFF"/>
                </a:highlight>
                <a:latin typeface="inter-bold"/>
              </a:rPr>
              <a:t>V(s`) = The value at the previous state.</a:t>
            </a:r>
            <a:endParaRPr lang="en-IN" b="0" i="0" dirty="0">
              <a:solidFill>
                <a:srgbClr val="333333"/>
              </a:solidFill>
              <a:effectLst/>
              <a:highlight>
                <a:srgbClr val="FFFFFF"/>
              </a:highlight>
              <a:latin typeface="inter-regular"/>
            </a:endParaRPr>
          </a:p>
        </p:txBody>
      </p:sp>
    </p:spTree>
    <p:extLst>
      <p:ext uri="{BB962C8B-B14F-4D97-AF65-F5344CB8AC3E}">
        <p14:creationId xmlns:p14="http://schemas.microsoft.com/office/powerpoint/2010/main" val="1770197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AC179-F939-613C-0A63-0550C7EA135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780B401-C08B-845F-0702-97B736920D65}"/>
              </a:ext>
            </a:extLst>
          </p:cNvPr>
          <p:cNvPicPr>
            <a:picLocks noGrp="1" noChangeAspect="1"/>
          </p:cNvPicPr>
          <p:nvPr>
            <p:ph idx="1"/>
          </p:nvPr>
        </p:nvPicPr>
        <p:blipFill>
          <a:blip r:embed="rId2"/>
          <a:stretch>
            <a:fillRect/>
          </a:stretch>
        </p:blipFill>
        <p:spPr>
          <a:xfrm>
            <a:off x="2195951" y="2160588"/>
            <a:ext cx="5560136" cy="3881437"/>
          </a:xfrm>
        </p:spPr>
      </p:pic>
    </p:spTree>
    <p:extLst>
      <p:ext uri="{BB962C8B-B14F-4D97-AF65-F5344CB8AC3E}">
        <p14:creationId xmlns:p14="http://schemas.microsoft.com/office/powerpoint/2010/main" val="3159708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0DDC1-0B4C-7B5E-6306-568D4D4BC6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801399-FC38-A35B-8505-354D94C421D1}"/>
              </a:ext>
            </a:extLst>
          </p:cNvPr>
          <p:cNvSpPr>
            <a:spLocks noGrp="1"/>
          </p:cNvSpPr>
          <p:nvPr>
            <p:ph idx="1"/>
          </p:nvPr>
        </p:nvSpPr>
        <p:spPr/>
        <p:txBody>
          <a:bodyPr/>
          <a:lstStyle/>
          <a:p>
            <a:r>
              <a:rPr lang="en-IN" b="0" i="0" dirty="0">
                <a:solidFill>
                  <a:srgbClr val="333333"/>
                </a:solidFill>
                <a:effectLst/>
                <a:highlight>
                  <a:srgbClr val="FFFFFF"/>
                </a:highlight>
                <a:latin typeface="inter-regular"/>
              </a:rPr>
              <a:t>In the above image, the agent is at the very first block of the maze. The maze is consisting of an S</a:t>
            </a:r>
            <a:r>
              <a:rPr lang="en-IN" b="0" i="0" baseline="-25000" dirty="0">
                <a:solidFill>
                  <a:srgbClr val="333333"/>
                </a:solidFill>
                <a:effectLst/>
                <a:highlight>
                  <a:srgbClr val="FFFFFF"/>
                </a:highlight>
                <a:latin typeface="inter-regular"/>
              </a:rPr>
              <a:t>6</a:t>
            </a:r>
            <a:r>
              <a:rPr lang="en-IN" b="0" i="0" dirty="0">
                <a:solidFill>
                  <a:srgbClr val="333333"/>
                </a:solidFill>
                <a:effectLst/>
                <a:highlight>
                  <a:srgbClr val="FFFFFF"/>
                </a:highlight>
                <a:latin typeface="inter-regular"/>
              </a:rPr>
              <a:t> block, which is a </a:t>
            </a:r>
            <a:r>
              <a:rPr lang="en-IN" b="1" i="0" dirty="0">
                <a:solidFill>
                  <a:srgbClr val="333333"/>
                </a:solidFill>
                <a:effectLst/>
                <a:highlight>
                  <a:srgbClr val="FFFFFF"/>
                </a:highlight>
                <a:latin typeface="inter-bold"/>
              </a:rPr>
              <a:t>wall</a:t>
            </a:r>
            <a:r>
              <a:rPr lang="en-IN" b="0" i="0" dirty="0">
                <a:solidFill>
                  <a:srgbClr val="333333"/>
                </a:solidFill>
                <a:effectLst/>
                <a:highlight>
                  <a:srgbClr val="FFFFFF"/>
                </a:highlight>
                <a:latin typeface="inter-regular"/>
              </a:rPr>
              <a:t>, S</a:t>
            </a:r>
            <a:r>
              <a:rPr lang="en-IN" b="0" i="0" baseline="-25000" dirty="0">
                <a:solidFill>
                  <a:srgbClr val="333333"/>
                </a:solidFill>
                <a:effectLst/>
                <a:highlight>
                  <a:srgbClr val="FFFFFF"/>
                </a:highlight>
                <a:latin typeface="inter-regular"/>
              </a:rPr>
              <a:t>8</a:t>
            </a:r>
            <a:r>
              <a:rPr lang="en-IN" b="0" i="0" dirty="0">
                <a:solidFill>
                  <a:srgbClr val="333333"/>
                </a:solidFill>
                <a:effectLst/>
                <a:highlight>
                  <a:srgbClr val="FFFFFF"/>
                </a:highlight>
                <a:latin typeface="inter-regular"/>
              </a:rPr>
              <a:t> a </a:t>
            </a:r>
            <a:r>
              <a:rPr lang="en-IN" b="1" i="0" dirty="0">
                <a:solidFill>
                  <a:srgbClr val="333333"/>
                </a:solidFill>
                <a:effectLst/>
                <a:highlight>
                  <a:srgbClr val="FFFFFF"/>
                </a:highlight>
                <a:latin typeface="inter-bold"/>
              </a:rPr>
              <a:t>fire pit</a:t>
            </a:r>
            <a:r>
              <a:rPr lang="en-IN" b="0" i="0" dirty="0">
                <a:solidFill>
                  <a:srgbClr val="333333"/>
                </a:solidFill>
                <a:effectLst/>
                <a:highlight>
                  <a:srgbClr val="FFFFFF"/>
                </a:highlight>
                <a:latin typeface="inter-regular"/>
              </a:rPr>
              <a:t>, and S</a:t>
            </a:r>
            <a:r>
              <a:rPr lang="en-IN" b="0" i="0" baseline="-25000" dirty="0">
                <a:solidFill>
                  <a:srgbClr val="333333"/>
                </a:solidFill>
                <a:effectLst/>
                <a:highlight>
                  <a:srgbClr val="FFFFFF"/>
                </a:highlight>
                <a:latin typeface="inter-regular"/>
              </a:rPr>
              <a:t>4</a:t>
            </a:r>
            <a:r>
              <a:rPr lang="en-IN" b="0" i="0" dirty="0">
                <a:solidFill>
                  <a:srgbClr val="333333"/>
                </a:solidFill>
                <a:effectLst/>
                <a:highlight>
                  <a:srgbClr val="FFFFFF"/>
                </a:highlight>
                <a:latin typeface="inter-regular"/>
              </a:rPr>
              <a:t> a </a:t>
            </a:r>
            <a:r>
              <a:rPr lang="en-IN" b="1" i="0" dirty="0">
                <a:solidFill>
                  <a:srgbClr val="333333"/>
                </a:solidFill>
                <a:effectLst/>
                <a:highlight>
                  <a:srgbClr val="FFFFFF"/>
                </a:highlight>
                <a:latin typeface="inter-bold"/>
              </a:rPr>
              <a:t>diamond block.</a:t>
            </a:r>
          </a:p>
          <a:p>
            <a:endParaRPr lang="en-IN" b="1" dirty="0">
              <a:solidFill>
                <a:srgbClr val="333333"/>
              </a:solidFill>
              <a:highlight>
                <a:srgbClr val="FFFFFF"/>
              </a:highlight>
              <a:latin typeface="inter-bold"/>
            </a:endParaRPr>
          </a:p>
          <a:p>
            <a:r>
              <a:rPr lang="en-IN" b="0" i="0" dirty="0">
                <a:solidFill>
                  <a:srgbClr val="333333"/>
                </a:solidFill>
                <a:effectLst/>
                <a:highlight>
                  <a:srgbClr val="FFFFFF"/>
                </a:highlight>
                <a:latin typeface="inter-regular"/>
              </a:rPr>
              <a:t>The agent cannot cross the S</a:t>
            </a:r>
            <a:r>
              <a:rPr lang="en-IN" b="0" i="0" baseline="-25000" dirty="0">
                <a:solidFill>
                  <a:srgbClr val="333333"/>
                </a:solidFill>
                <a:effectLst/>
                <a:highlight>
                  <a:srgbClr val="FFFFFF"/>
                </a:highlight>
                <a:latin typeface="inter-regular"/>
              </a:rPr>
              <a:t>6</a:t>
            </a:r>
            <a:r>
              <a:rPr lang="en-IN" b="0" i="0" dirty="0">
                <a:solidFill>
                  <a:srgbClr val="333333"/>
                </a:solidFill>
                <a:effectLst/>
                <a:highlight>
                  <a:srgbClr val="FFFFFF"/>
                </a:highlight>
                <a:latin typeface="inter-regular"/>
              </a:rPr>
              <a:t> block, as it is a solid wall. If the agent reaches the S</a:t>
            </a:r>
            <a:r>
              <a:rPr lang="en-IN" b="0" i="0" baseline="-25000" dirty="0">
                <a:solidFill>
                  <a:srgbClr val="333333"/>
                </a:solidFill>
                <a:effectLst/>
                <a:highlight>
                  <a:srgbClr val="FFFFFF"/>
                </a:highlight>
                <a:latin typeface="inter-regular"/>
              </a:rPr>
              <a:t>4</a:t>
            </a:r>
            <a:r>
              <a:rPr lang="en-IN" b="0" i="0" dirty="0">
                <a:solidFill>
                  <a:srgbClr val="333333"/>
                </a:solidFill>
                <a:effectLst/>
                <a:highlight>
                  <a:srgbClr val="FFFFFF"/>
                </a:highlight>
                <a:latin typeface="inter-regular"/>
              </a:rPr>
              <a:t> block, then get the </a:t>
            </a:r>
            <a:r>
              <a:rPr lang="en-IN" b="1" i="0" dirty="0">
                <a:solidFill>
                  <a:srgbClr val="333333"/>
                </a:solidFill>
                <a:effectLst/>
                <a:highlight>
                  <a:srgbClr val="FFFFFF"/>
                </a:highlight>
                <a:latin typeface="inter-bold"/>
              </a:rPr>
              <a:t>+1 reward; </a:t>
            </a:r>
            <a:r>
              <a:rPr lang="en-IN" b="0" i="0" dirty="0">
                <a:solidFill>
                  <a:srgbClr val="333333"/>
                </a:solidFill>
                <a:effectLst/>
                <a:highlight>
                  <a:srgbClr val="FFFFFF"/>
                </a:highlight>
                <a:latin typeface="inter-regular"/>
              </a:rPr>
              <a:t>if it reaches the fire pit, then gets </a:t>
            </a:r>
            <a:r>
              <a:rPr lang="en-IN" b="1" i="0" dirty="0">
                <a:solidFill>
                  <a:srgbClr val="333333"/>
                </a:solidFill>
                <a:effectLst/>
                <a:highlight>
                  <a:srgbClr val="FFFFFF"/>
                </a:highlight>
                <a:latin typeface="inter-bold"/>
              </a:rPr>
              <a:t>-1 reward point</a:t>
            </a:r>
            <a:r>
              <a:rPr lang="en-IN" b="0" i="0" dirty="0">
                <a:solidFill>
                  <a:srgbClr val="333333"/>
                </a:solidFill>
                <a:effectLst/>
                <a:highlight>
                  <a:srgbClr val="FFFFFF"/>
                </a:highlight>
                <a:latin typeface="inter-regular"/>
              </a:rPr>
              <a:t>. It can take four actions</a:t>
            </a:r>
            <a:r>
              <a:rPr lang="en-IN" b="1" i="0" dirty="0">
                <a:solidFill>
                  <a:srgbClr val="333333"/>
                </a:solidFill>
                <a:effectLst/>
                <a:highlight>
                  <a:srgbClr val="FFFFFF"/>
                </a:highlight>
                <a:latin typeface="inter-bold"/>
              </a:rPr>
              <a:t>: move up, move down, move left, and move right.</a:t>
            </a:r>
          </a:p>
          <a:p>
            <a:endParaRPr lang="en-IN" b="1" dirty="0">
              <a:solidFill>
                <a:srgbClr val="333333"/>
              </a:solidFill>
              <a:highlight>
                <a:srgbClr val="FFFFFF"/>
              </a:highlight>
              <a:latin typeface="inter-bold"/>
            </a:endParaRPr>
          </a:p>
          <a:p>
            <a:r>
              <a:rPr lang="en-IN" b="0" i="0" dirty="0">
                <a:solidFill>
                  <a:srgbClr val="333333"/>
                </a:solidFill>
                <a:effectLst/>
                <a:highlight>
                  <a:srgbClr val="FFFFFF"/>
                </a:highlight>
                <a:latin typeface="inter-regular"/>
              </a:rPr>
              <a:t>The agent can take any path to reach to the final point, but he needs to make it in possible fewer steps. Suppose the agent considers the path </a:t>
            </a:r>
            <a:r>
              <a:rPr lang="en-IN" b="1" i="0" dirty="0">
                <a:solidFill>
                  <a:srgbClr val="333333"/>
                </a:solidFill>
                <a:effectLst/>
                <a:highlight>
                  <a:srgbClr val="FFFFFF"/>
                </a:highlight>
                <a:latin typeface="inter-bold"/>
              </a:rPr>
              <a:t>S9-S5-S1-S2-S3</a:t>
            </a:r>
            <a:r>
              <a:rPr lang="en-IN" b="0" i="0" dirty="0">
                <a:solidFill>
                  <a:srgbClr val="333333"/>
                </a:solidFill>
                <a:effectLst/>
                <a:highlight>
                  <a:srgbClr val="FFFFFF"/>
                </a:highlight>
                <a:latin typeface="inter-regular"/>
              </a:rPr>
              <a:t>, so he will get the +1-reward point.</a:t>
            </a:r>
            <a:endParaRPr lang="en-IN" dirty="0"/>
          </a:p>
        </p:txBody>
      </p:sp>
    </p:spTree>
    <p:extLst>
      <p:ext uri="{BB962C8B-B14F-4D97-AF65-F5344CB8AC3E}">
        <p14:creationId xmlns:p14="http://schemas.microsoft.com/office/powerpoint/2010/main" val="2942919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C3D76-B225-F740-8607-507BF7E544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996A20-BE82-FCA8-F91A-C01E91302B11}"/>
              </a:ext>
            </a:extLst>
          </p:cNvPr>
          <p:cNvSpPr>
            <a:spLocks noGrp="1"/>
          </p:cNvSpPr>
          <p:nvPr>
            <p:ph idx="1"/>
          </p:nvPr>
        </p:nvSpPr>
        <p:spPr/>
        <p:txBody>
          <a:bodyPr/>
          <a:lstStyle/>
          <a:p>
            <a:pPr algn="just"/>
            <a:r>
              <a:rPr lang="en-IN" b="1" i="0" dirty="0">
                <a:solidFill>
                  <a:srgbClr val="333333"/>
                </a:solidFill>
                <a:effectLst/>
                <a:highlight>
                  <a:srgbClr val="FFFFFF"/>
                </a:highlight>
                <a:latin typeface="inter-bold"/>
              </a:rPr>
              <a:t>For 1st block:</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V(s3) = max [R(</a:t>
            </a:r>
            <a:r>
              <a:rPr lang="en-IN" b="0" i="0" dirty="0" err="1">
                <a:solidFill>
                  <a:srgbClr val="333333"/>
                </a:solidFill>
                <a:effectLst/>
                <a:highlight>
                  <a:srgbClr val="FFFFFF"/>
                </a:highlight>
                <a:latin typeface="inter-regular"/>
              </a:rPr>
              <a:t>s,a</a:t>
            </a:r>
            <a:r>
              <a:rPr lang="en-IN" b="0" i="0" dirty="0">
                <a:solidFill>
                  <a:srgbClr val="333333"/>
                </a:solidFill>
                <a:effectLst/>
                <a:highlight>
                  <a:srgbClr val="FFFFFF"/>
                </a:highlight>
                <a:latin typeface="inter-regular"/>
              </a:rPr>
              <a:t>) + </a:t>
            </a:r>
            <a:r>
              <a:rPr lang="en-IN" b="0" i="0" dirty="0" err="1">
                <a:solidFill>
                  <a:srgbClr val="333333"/>
                </a:solidFill>
                <a:effectLst/>
                <a:highlight>
                  <a:srgbClr val="FFFFFF"/>
                </a:highlight>
                <a:latin typeface="inter-regular"/>
              </a:rPr>
              <a:t>γV</a:t>
            </a:r>
            <a:r>
              <a:rPr lang="en-IN" b="0" i="0" dirty="0">
                <a:solidFill>
                  <a:srgbClr val="333333"/>
                </a:solidFill>
                <a:effectLst/>
                <a:highlight>
                  <a:srgbClr val="FFFFFF"/>
                </a:highlight>
                <a:latin typeface="inter-regular"/>
              </a:rPr>
              <a:t>(s`)], here V(s')= 0 because there is no further state to move.</a:t>
            </a:r>
          </a:p>
          <a:p>
            <a:pPr algn="just"/>
            <a:r>
              <a:rPr lang="en-IN" b="0" i="0" dirty="0">
                <a:solidFill>
                  <a:srgbClr val="333333"/>
                </a:solidFill>
                <a:effectLst/>
                <a:highlight>
                  <a:srgbClr val="FFFFFF"/>
                </a:highlight>
                <a:latin typeface="inter-regular"/>
              </a:rPr>
              <a:t>V(s3)= max[R(</a:t>
            </a:r>
            <a:r>
              <a:rPr lang="en-IN" b="0" i="0" dirty="0" err="1">
                <a:solidFill>
                  <a:srgbClr val="333333"/>
                </a:solidFill>
                <a:effectLst/>
                <a:highlight>
                  <a:srgbClr val="FFFFFF"/>
                </a:highlight>
                <a:latin typeface="inter-regular"/>
              </a:rPr>
              <a:t>s,a</a:t>
            </a:r>
            <a:r>
              <a:rPr lang="en-IN" b="0" i="0" dirty="0">
                <a:solidFill>
                  <a:srgbClr val="333333"/>
                </a:solidFill>
                <a:effectLst/>
                <a:highlight>
                  <a:srgbClr val="FFFFFF"/>
                </a:highlight>
                <a:latin typeface="inter-regular"/>
              </a:rPr>
              <a:t>)]=&gt; V(s3)= max[1]=&gt; </a:t>
            </a:r>
            <a:r>
              <a:rPr lang="en-IN" b="1" i="0" dirty="0">
                <a:solidFill>
                  <a:srgbClr val="333333"/>
                </a:solidFill>
                <a:effectLst/>
                <a:highlight>
                  <a:srgbClr val="FFFFFF"/>
                </a:highlight>
                <a:latin typeface="inter-bold"/>
              </a:rPr>
              <a:t>V(s3)= 1</a:t>
            </a:r>
            <a:endParaRPr lang="en-IN" b="0" i="0" dirty="0">
              <a:solidFill>
                <a:srgbClr val="333333"/>
              </a:solidFill>
              <a:effectLst/>
              <a:highlight>
                <a:srgbClr val="FFFFFF"/>
              </a:highlight>
              <a:latin typeface="inter-regular"/>
            </a:endParaRPr>
          </a:p>
          <a:p>
            <a:pPr marL="0" indent="0">
              <a:buNone/>
            </a:pPr>
            <a:endParaRPr lang="en-IN" dirty="0"/>
          </a:p>
          <a:p>
            <a:pPr algn="just"/>
            <a:r>
              <a:rPr lang="en-IN" b="1" i="0" dirty="0">
                <a:solidFill>
                  <a:srgbClr val="333333"/>
                </a:solidFill>
                <a:effectLst/>
                <a:highlight>
                  <a:srgbClr val="FFFFFF"/>
                </a:highlight>
                <a:latin typeface="inter-bold"/>
              </a:rPr>
              <a:t>For 2nd block:</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V(s2) = max [R(</a:t>
            </a:r>
            <a:r>
              <a:rPr lang="en-IN" b="0" i="0" dirty="0" err="1">
                <a:solidFill>
                  <a:srgbClr val="333333"/>
                </a:solidFill>
                <a:effectLst/>
                <a:highlight>
                  <a:srgbClr val="FFFFFF"/>
                </a:highlight>
                <a:latin typeface="inter-regular"/>
              </a:rPr>
              <a:t>s,a</a:t>
            </a:r>
            <a:r>
              <a:rPr lang="en-IN" b="0" i="0" dirty="0">
                <a:solidFill>
                  <a:srgbClr val="333333"/>
                </a:solidFill>
                <a:effectLst/>
                <a:highlight>
                  <a:srgbClr val="FFFFFF"/>
                </a:highlight>
                <a:latin typeface="inter-regular"/>
              </a:rPr>
              <a:t>) + </a:t>
            </a:r>
            <a:r>
              <a:rPr lang="en-IN" b="0" i="0" dirty="0" err="1">
                <a:solidFill>
                  <a:srgbClr val="333333"/>
                </a:solidFill>
                <a:effectLst/>
                <a:highlight>
                  <a:srgbClr val="FFFFFF"/>
                </a:highlight>
                <a:latin typeface="inter-regular"/>
              </a:rPr>
              <a:t>γV</a:t>
            </a:r>
            <a:r>
              <a:rPr lang="en-IN" b="0" i="0" dirty="0">
                <a:solidFill>
                  <a:srgbClr val="333333"/>
                </a:solidFill>
                <a:effectLst/>
                <a:highlight>
                  <a:srgbClr val="FFFFFF"/>
                </a:highlight>
                <a:latin typeface="inter-regular"/>
              </a:rPr>
              <a:t>(s`)], here γ= 0.9(lets), V(s')= 1, and R(s, a)= 0, because there is no reward at this state.</a:t>
            </a:r>
          </a:p>
          <a:p>
            <a:pPr algn="just"/>
            <a:r>
              <a:rPr lang="en-IN" b="0" i="0" dirty="0">
                <a:solidFill>
                  <a:srgbClr val="333333"/>
                </a:solidFill>
                <a:effectLst/>
                <a:highlight>
                  <a:srgbClr val="FFFFFF"/>
                </a:highlight>
                <a:latin typeface="inter-regular"/>
              </a:rPr>
              <a:t>V(s2)= max[0.9(1)]=&gt; V(s)= max[0.9]=&gt; </a:t>
            </a:r>
            <a:r>
              <a:rPr lang="en-IN" b="1" i="0" dirty="0">
                <a:solidFill>
                  <a:srgbClr val="333333"/>
                </a:solidFill>
                <a:effectLst/>
                <a:highlight>
                  <a:srgbClr val="FFFFFF"/>
                </a:highlight>
                <a:latin typeface="inter-bold"/>
              </a:rPr>
              <a:t>V(s2) =0.9</a:t>
            </a:r>
            <a:endParaRPr lang="en-IN" b="0" i="0" dirty="0">
              <a:solidFill>
                <a:srgbClr val="333333"/>
              </a:solidFill>
              <a:effectLst/>
              <a:highlight>
                <a:srgbClr val="FFFFFF"/>
              </a:highlight>
              <a:latin typeface="inter-regular"/>
            </a:endParaRPr>
          </a:p>
          <a:p>
            <a:pPr marL="0" indent="0">
              <a:buNone/>
            </a:pPr>
            <a:endParaRPr lang="en-IN" dirty="0"/>
          </a:p>
        </p:txBody>
      </p:sp>
    </p:spTree>
    <p:extLst>
      <p:ext uri="{BB962C8B-B14F-4D97-AF65-F5344CB8AC3E}">
        <p14:creationId xmlns:p14="http://schemas.microsoft.com/office/powerpoint/2010/main" val="3333985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2B3F-F8B3-242C-DDED-D56892185A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8ECE9B-407D-23BD-D3EC-060B19D51FC5}"/>
              </a:ext>
            </a:extLst>
          </p:cNvPr>
          <p:cNvSpPr>
            <a:spLocks noGrp="1"/>
          </p:cNvSpPr>
          <p:nvPr>
            <p:ph idx="1"/>
          </p:nvPr>
        </p:nvSpPr>
        <p:spPr/>
        <p:txBody>
          <a:bodyPr/>
          <a:lstStyle/>
          <a:p>
            <a:pPr algn="just"/>
            <a:r>
              <a:rPr lang="en-IN" b="1" i="0" dirty="0">
                <a:solidFill>
                  <a:srgbClr val="333333"/>
                </a:solidFill>
                <a:effectLst/>
                <a:highlight>
                  <a:srgbClr val="FFFFFF"/>
                </a:highlight>
                <a:latin typeface="inter-bold"/>
              </a:rPr>
              <a:t>For 3rd block:</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V(s1) = max [R(</a:t>
            </a:r>
            <a:r>
              <a:rPr lang="en-IN" b="0" i="0" dirty="0" err="1">
                <a:solidFill>
                  <a:srgbClr val="333333"/>
                </a:solidFill>
                <a:effectLst/>
                <a:highlight>
                  <a:srgbClr val="FFFFFF"/>
                </a:highlight>
                <a:latin typeface="inter-regular"/>
              </a:rPr>
              <a:t>s,a</a:t>
            </a:r>
            <a:r>
              <a:rPr lang="en-IN" b="0" i="0" dirty="0">
                <a:solidFill>
                  <a:srgbClr val="333333"/>
                </a:solidFill>
                <a:effectLst/>
                <a:highlight>
                  <a:srgbClr val="FFFFFF"/>
                </a:highlight>
                <a:latin typeface="inter-regular"/>
              </a:rPr>
              <a:t>) + </a:t>
            </a:r>
            <a:r>
              <a:rPr lang="en-IN" b="0" i="0" dirty="0" err="1">
                <a:solidFill>
                  <a:srgbClr val="333333"/>
                </a:solidFill>
                <a:effectLst/>
                <a:highlight>
                  <a:srgbClr val="FFFFFF"/>
                </a:highlight>
                <a:latin typeface="inter-regular"/>
              </a:rPr>
              <a:t>γV</a:t>
            </a:r>
            <a:r>
              <a:rPr lang="en-IN" b="0" i="0" dirty="0">
                <a:solidFill>
                  <a:srgbClr val="333333"/>
                </a:solidFill>
                <a:effectLst/>
                <a:highlight>
                  <a:srgbClr val="FFFFFF"/>
                </a:highlight>
                <a:latin typeface="inter-regular"/>
              </a:rPr>
              <a:t>(s`)], here γ= 0.9(lets), V(s')= 0.9, and R(s, a)= 0, because there is no reward at this state also.</a:t>
            </a:r>
          </a:p>
          <a:p>
            <a:pPr algn="just"/>
            <a:r>
              <a:rPr lang="en-IN" b="0" i="0" dirty="0">
                <a:solidFill>
                  <a:srgbClr val="333333"/>
                </a:solidFill>
                <a:effectLst/>
                <a:highlight>
                  <a:srgbClr val="FFFFFF"/>
                </a:highlight>
                <a:latin typeface="inter-regular"/>
              </a:rPr>
              <a:t>V(s1)= max[0.9(0.9)]=&gt; V(s3)= max[0.81]=&gt; </a:t>
            </a:r>
            <a:r>
              <a:rPr lang="en-IN" b="1" i="0" dirty="0">
                <a:solidFill>
                  <a:srgbClr val="333333"/>
                </a:solidFill>
                <a:effectLst/>
                <a:highlight>
                  <a:srgbClr val="FFFFFF"/>
                </a:highlight>
                <a:latin typeface="inter-bold"/>
              </a:rPr>
              <a:t>V(s1) =0.81</a:t>
            </a:r>
            <a:endParaRPr lang="en-IN" b="0" i="0" dirty="0">
              <a:solidFill>
                <a:srgbClr val="333333"/>
              </a:solidFill>
              <a:effectLst/>
              <a:highlight>
                <a:srgbClr val="FFFFFF"/>
              </a:highlight>
              <a:latin typeface="inter-regular"/>
            </a:endParaRPr>
          </a:p>
          <a:p>
            <a:endParaRPr lang="en-IN" dirty="0"/>
          </a:p>
          <a:p>
            <a:endParaRPr lang="en-IN" dirty="0"/>
          </a:p>
          <a:p>
            <a:pPr algn="just"/>
            <a:r>
              <a:rPr lang="en-IN" b="1" i="0" dirty="0">
                <a:solidFill>
                  <a:srgbClr val="333333"/>
                </a:solidFill>
                <a:effectLst/>
                <a:highlight>
                  <a:srgbClr val="FFFFFF"/>
                </a:highlight>
                <a:latin typeface="inter-bold"/>
              </a:rPr>
              <a:t>For 4th block:</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V(s5) = max [R(</a:t>
            </a:r>
            <a:r>
              <a:rPr lang="en-IN" b="0" i="0" dirty="0" err="1">
                <a:solidFill>
                  <a:srgbClr val="333333"/>
                </a:solidFill>
                <a:effectLst/>
                <a:highlight>
                  <a:srgbClr val="FFFFFF"/>
                </a:highlight>
                <a:latin typeface="inter-regular"/>
              </a:rPr>
              <a:t>s,a</a:t>
            </a:r>
            <a:r>
              <a:rPr lang="en-IN" b="0" i="0" dirty="0">
                <a:solidFill>
                  <a:srgbClr val="333333"/>
                </a:solidFill>
                <a:effectLst/>
                <a:highlight>
                  <a:srgbClr val="FFFFFF"/>
                </a:highlight>
                <a:latin typeface="inter-regular"/>
              </a:rPr>
              <a:t>) + </a:t>
            </a:r>
            <a:r>
              <a:rPr lang="en-IN" b="0" i="0" dirty="0" err="1">
                <a:solidFill>
                  <a:srgbClr val="333333"/>
                </a:solidFill>
                <a:effectLst/>
                <a:highlight>
                  <a:srgbClr val="FFFFFF"/>
                </a:highlight>
                <a:latin typeface="inter-regular"/>
              </a:rPr>
              <a:t>γV</a:t>
            </a:r>
            <a:r>
              <a:rPr lang="en-IN" b="0" i="0" dirty="0">
                <a:solidFill>
                  <a:srgbClr val="333333"/>
                </a:solidFill>
                <a:effectLst/>
                <a:highlight>
                  <a:srgbClr val="FFFFFF"/>
                </a:highlight>
                <a:latin typeface="inter-regular"/>
              </a:rPr>
              <a:t>(s`)], here γ= 0.9(lets), V(s')= 0.81, and R(s, a)= 0, because there is no reward at this state also.</a:t>
            </a:r>
          </a:p>
          <a:p>
            <a:pPr algn="just"/>
            <a:r>
              <a:rPr lang="en-IN" b="0" i="0" dirty="0">
                <a:solidFill>
                  <a:srgbClr val="333333"/>
                </a:solidFill>
                <a:effectLst/>
                <a:highlight>
                  <a:srgbClr val="FFFFFF"/>
                </a:highlight>
                <a:latin typeface="inter-regular"/>
              </a:rPr>
              <a:t>V(s5)= max[0.9(0.81)]=&gt; V(s5)= max[0.81]=&gt; </a:t>
            </a:r>
            <a:r>
              <a:rPr lang="en-IN" b="1" i="0" dirty="0">
                <a:solidFill>
                  <a:srgbClr val="333333"/>
                </a:solidFill>
                <a:effectLst/>
                <a:highlight>
                  <a:srgbClr val="FFFFFF"/>
                </a:highlight>
                <a:latin typeface="inter-bold"/>
              </a:rPr>
              <a:t>V(s5) =0.73</a:t>
            </a:r>
            <a:endParaRPr lang="en-IN" b="0" i="0" dirty="0">
              <a:solidFill>
                <a:srgbClr val="333333"/>
              </a:solidFill>
              <a:effectLst/>
              <a:highlight>
                <a:srgbClr val="FFFFFF"/>
              </a:highlight>
              <a:latin typeface="inter-regular"/>
            </a:endParaRPr>
          </a:p>
          <a:p>
            <a:endParaRPr lang="en-IN" dirty="0"/>
          </a:p>
        </p:txBody>
      </p:sp>
    </p:spTree>
    <p:extLst>
      <p:ext uri="{BB962C8B-B14F-4D97-AF65-F5344CB8AC3E}">
        <p14:creationId xmlns:p14="http://schemas.microsoft.com/office/powerpoint/2010/main" val="3995880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6473F-4C5A-9986-F7DE-D0A4312B71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3E64E5-A697-BBF4-06A1-0C9BFA20C1D1}"/>
              </a:ext>
            </a:extLst>
          </p:cNvPr>
          <p:cNvSpPr>
            <a:spLocks noGrp="1"/>
          </p:cNvSpPr>
          <p:nvPr>
            <p:ph idx="1"/>
          </p:nvPr>
        </p:nvSpPr>
        <p:spPr/>
        <p:txBody>
          <a:bodyPr/>
          <a:lstStyle/>
          <a:p>
            <a:pPr algn="just"/>
            <a:r>
              <a:rPr lang="en-IN" b="1" i="0" dirty="0">
                <a:solidFill>
                  <a:srgbClr val="333333"/>
                </a:solidFill>
                <a:effectLst/>
                <a:highlight>
                  <a:srgbClr val="FFFFFF"/>
                </a:highlight>
                <a:latin typeface="inter-bold"/>
              </a:rPr>
              <a:t>For 5th block:</a:t>
            </a:r>
            <a:endParaRPr lang="en-IN" b="0" i="0" dirty="0">
              <a:solidFill>
                <a:srgbClr val="333333"/>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V(s9) = max [R(</a:t>
            </a:r>
            <a:r>
              <a:rPr lang="en-IN" b="0" i="0" dirty="0" err="1">
                <a:solidFill>
                  <a:srgbClr val="333333"/>
                </a:solidFill>
                <a:effectLst/>
                <a:highlight>
                  <a:srgbClr val="FFFFFF"/>
                </a:highlight>
                <a:latin typeface="inter-regular"/>
              </a:rPr>
              <a:t>s,a</a:t>
            </a:r>
            <a:r>
              <a:rPr lang="en-IN" b="0" i="0" dirty="0">
                <a:solidFill>
                  <a:srgbClr val="333333"/>
                </a:solidFill>
                <a:effectLst/>
                <a:highlight>
                  <a:srgbClr val="FFFFFF"/>
                </a:highlight>
                <a:latin typeface="inter-regular"/>
              </a:rPr>
              <a:t>) + </a:t>
            </a:r>
            <a:r>
              <a:rPr lang="en-IN" b="0" i="0" dirty="0" err="1">
                <a:solidFill>
                  <a:srgbClr val="333333"/>
                </a:solidFill>
                <a:effectLst/>
                <a:highlight>
                  <a:srgbClr val="FFFFFF"/>
                </a:highlight>
                <a:latin typeface="inter-regular"/>
              </a:rPr>
              <a:t>γV</a:t>
            </a:r>
            <a:r>
              <a:rPr lang="en-IN" b="0" i="0" dirty="0">
                <a:solidFill>
                  <a:srgbClr val="333333"/>
                </a:solidFill>
                <a:effectLst/>
                <a:highlight>
                  <a:srgbClr val="FFFFFF"/>
                </a:highlight>
                <a:latin typeface="inter-regular"/>
              </a:rPr>
              <a:t>(s`)], here γ= 0.9(lets), V(s')= 0.73, and R(s, a)= 0, because there is no reward at this state also.</a:t>
            </a:r>
          </a:p>
          <a:p>
            <a:pPr algn="just"/>
            <a:r>
              <a:rPr lang="en-IN" b="0" i="0" dirty="0">
                <a:solidFill>
                  <a:srgbClr val="333333"/>
                </a:solidFill>
                <a:effectLst/>
                <a:highlight>
                  <a:srgbClr val="FFFFFF"/>
                </a:highlight>
                <a:latin typeface="inter-regular"/>
              </a:rPr>
              <a:t>V(s9)= max[0.9(0.73)]=&gt; V(s4)= max[0.81]=&gt; </a:t>
            </a:r>
            <a:r>
              <a:rPr lang="en-IN" b="1" i="0" dirty="0">
                <a:solidFill>
                  <a:srgbClr val="333333"/>
                </a:solidFill>
                <a:effectLst/>
                <a:highlight>
                  <a:srgbClr val="FFFFFF"/>
                </a:highlight>
                <a:latin typeface="inter-bold"/>
              </a:rPr>
              <a:t>V(s4) =0.66</a:t>
            </a:r>
            <a:endParaRPr lang="en-IN" b="0" i="0" dirty="0">
              <a:solidFill>
                <a:srgbClr val="333333"/>
              </a:solidFill>
              <a:effectLst/>
              <a:highlight>
                <a:srgbClr val="FFFFFF"/>
              </a:highlight>
              <a:latin typeface="inter-regular"/>
            </a:endParaRPr>
          </a:p>
          <a:p>
            <a:endParaRPr lang="en-IN" dirty="0"/>
          </a:p>
        </p:txBody>
      </p:sp>
    </p:spTree>
    <p:extLst>
      <p:ext uri="{BB962C8B-B14F-4D97-AF65-F5344CB8AC3E}">
        <p14:creationId xmlns:p14="http://schemas.microsoft.com/office/powerpoint/2010/main" val="1279696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7AB1E-6396-33F4-C0C7-553CE106DE9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70A737A-4E67-ADF8-1815-C6C93A830236}"/>
              </a:ext>
            </a:extLst>
          </p:cNvPr>
          <p:cNvPicPr>
            <a:picLocks noGrp="1" noChangeAspect="1"/>
          </p:cNvPicPr>
          <p:nvPr>
            <p:ph idx="1"/>
          </p:nvPr>
        </p:nvPicPr>
        <p:blipFill>
          <a:blip r:embed="rId2"/>
          <a:stretch>
            <a:fillRect/>
          </a:stretch>
        </p:blipFill>
        <p:spPr>
          <a:xfrm>
            <a:off x="2202025" y="1995648"/>
            <a:ext cx="5330696" cy="4046378"/>
          </a:xfrm>
        </p:spPr>
      </p:pic>
    </p:spTree>
    <p:extLst>
      <p:ext uri="{BB962C8B-B14F-4D97-AF65-F5344CB8AC3E}">
        <p14:creationId xmlns:p14="http://schemas.microsoft.com/office/powerpoint/2010/main" val="2732106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C02D-77E5-D726-3CE9-01E9C1881E5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0113EDD-0F1B-0197-AA41-D091FA8C96EB}"/>
              </a:ext>
            </a:extLst>
          </p:cNvPr>
          <p:cNvPicPr>
            <a:picLocks noGrp="1" noChangeAspect="1"/>
          </p:cNvPicPr>
          <p:nvPr>
            <p:ph idx="1"/>
          </p:nvPr>
        </p:nvPicPr>
        <p:blipFill>
          <a:blip r:embed="rId2"/>
          <a:stretch>
            <a:fillRect/>
          </a:stretch>
        </p:blipFill>
        <p:spPr>
          <a:xfrm>
            <a:off x="1903445" y="1777713"/>
            <a:ext cx="5597740" cy="4254981"/>
          </a:xfrm>
        </p:spPr>
      </p:pic>
    </p:spTree>
    <p:extLst>
      <p:ext uri="{BB962C8B-B14F-4D97-AF65-F5344CB8AC3E}">
        <p14:creationId xmlns:p14="http://schemas.microsoft.com/office/powerpoint/2010/main" val="3807521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26960-BA34-8A2A-F67D-B9B44049FE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5F194BA-0829-B9DB-BC55-C39DB0AB12E4}"/>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By using the Bellman equation our agent will calculate the value of every step </a:t>
            </a:r>
            <a:r>
              <a:rPr lang="en-IN" b="1" i="0" dirty="0">
                <a:solidFill>
                  <a:srgbClr val="273239"/>
                </a:solidFill>
                <a:effectLst/>
                <a:highlight>
                  <a:srgbClr val="FFFFFF"/>
                </a:highlight>
                <a:latin typeface="Nunito" pitchFamily="2" charset="0"/>
              </a:rPr>
              <a:t>except for the trophy and the fire state (V = 0)</a:t>
            </a:r>
            <a:r>
              <a:rPr lang="en-IN" b="0" i="0" dirty="0">
                <a:solidFill>
                  <a:srgbClr val="273239"/>
                </a:solidFill>
                <a:effectLst/>
                <a:highlight>
                  <a:srgbClr val="FFFFFF"/>
                </a:highlight>
                <a:latin typeface="Nunito" pitchFamily="2" charset="0"/>
              </a:rPr>
              <a:t>, they cannot have values since they are the </a:t>
            </a:r>
            <a:r>
              <a:rPr lang="en-IN" b="1" i="0" dirty="0">
                <a:solidFill>
                  <a:srgbClr val="273239"/>
                </a:solidFill>
                <a:effectLst/>
                <a:highlight>
                  <a:srgbClr val="FFFFFF"/>
                </a:highlight>
                <a:latin typeface="Nunito" pitchFamily="2" charset="0"/>
              </a:rPr>
              <a:t>end of the maze</a:t>
            </a:r>
            <a:r>
              <a:rPr lang="en-IN" b="0" i="0" dirty="0">
                <a:solidFill>
                  <a:srgbClr val="273239"/>
                </a:solidFill>
                <a:effectLst/>
                <a:highlight>
                  <a:srgbClr val="FFFFFF"/>
                </a:highlight>
                <a:latin typeface="Nunito" pitchFamily="2" charset="0"/>
              </a:rPr>
              <a:t>.</a:t>
            </a:r>
            <a:endParaRPr lang="en-IN" dirty="0"/>
          </a:p>
        </p:txBody>
      </p:sp>
    </p:spTree>
    <p:extLst>
      <p:ext uri="{BB962C8B-B14F-4D97-AF65-F5344CB8AC3E}">
        <p14:creationId xmlns:p14="http://schemas.microsoft.com/office/powerpoint/2010/main" val="2224027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74E5D-0454-EDFB-C81B-978E8DAB8C84}"/>
              </a:ext>
            </a:extLst>
          </p:cNvPr>
          <p:cNvSpPr>
            <a:spLocks noGrp="1"/>
          </p:cNvSpPr>
          <p:nvPr>
            <p:ph type="title"/>
          </p:nvPr>
        </p:nvSpPr>
        <p:spPr/>
        <p:txBody>
          <a:bodyPr/>
          <a:lstStyle/>
          <a:p>
            <a:r>
              <a:rPr lang="en-US" dirty="0"/>
              <a:t>Policy Evolution using Monte Carlo</a:t>
            </a:r>
            <a:endParaRPr lang="en-IN" dirty="0"/>
          </a:p>
        </p:txBody>
      </p:sp>
      <p:sp>
        <p:nvSpPr>
          <p:cNvPr id="3" name="Content Placeholder 2">
            <a:extLst>
              <a:ext uri="{FF2B5EF4-FFF2-40B4-BE49-F238E27FC236}">
                <a16:creationId xmlns:a16="http://schemas.microsoft.com/office/drawing/2014/main" id="{34929C20-F209-68E6-1A4A-139895480A98}"/>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Monte Carlo policy evaluation is a technique within the field of reinforcement learning that estimates the effectiveness of a policy—a strategy for making decisions in an environment.</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It’s a bit like learning the rules of a game by playing it many times, rather than studying its manual.</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This approach doesn’t require a pre-built model of the environment; instead, it learns exclusively from the outcomes of the episodes it experiences.</a:t>
            </a:r>
          </a:p>
          <a:p>
            <a:endParaRPr lang="en-IN" dirty="0">
              <a:solidFill>
                <a:srgbClr val="273239"/>
              </a:solidFill>
              <a:highlight>
                <a:srgbClr val="FFFFFF"/>
              </a:highlight>
              <a:latin typeface="Nunito" pitchFamily="2" charset="0"/>
            </a:endParaRPr>
          </a:p>
          <a:p>
            <a:endParaRPr lang="en-IN" dirty="0"/>
          </a:p>
        </p:txBody>
      </p:sp>
    </p:spTree>
    <p:extLst>
      <p:ext uri="{BB962C8B-B14F-4D97-AF65-F5344CB8AC3E}">
        <p14:creationId xmlns:p14="http://schemas.microsoft.com/office/powerpoint/2010/main" val="3959604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D7A1-EA4F-21AE-B98F-58E4C110B25E}"/>
              </a:ext>
            </a:extLst>
          </p:cNvPr>
          <p:cNvSpPr>
            <a:spLocks noGrp="1"/>
          </p:cNvSpPr>
          <p:nvPr>
            <p:ph type="title"/>
          </p:nvPr>
        </p:nvSpPr>
        <p:spPr/>
        <p:txBody>
          <a:bodyPr/>
          <a:lstStyle/>
          <a:p>
            <a:r>
              <a:rPr lang="en-IN" dirty="0"/>
              <a:t>How Monte Carlo Policy Evaluation Works?</a:t>
            </a:r>
          </a:p>
        </p:txBody>
      </p:sp>
      <p:sp>
        <p:nvSpPr>
          <p:cNvPr id="3" name="Content Placeholder 2">
            <a:extLst>
              <a:ext uri="{FF2B5EF4-FFF2-40B4-BE49-F238E27FC236}">
                <a16:creationId xmlns:a16="http://schemas.microsoft.com/office/drawing/2014/main" id="{AB397009-ED56-2A7F-5DCE-967C9ACAF949}"/>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The method works by running simulations or episodes(</a:t>
            </a:r>
            <a:r>
              <a:rPr lang="en-IN" b="0" i="0" dirty="0">
                <a:solidFill>
                  <a:srgbClr val="0D0D0D"/>
                </a:solidFill>
                <a:effectLst/>
                <a:highlight>
                  <a:srgbClr val="FFFFFF"/>
                </a:highlight>
                <a:latin typeface="Söhne"/>
              </a:rPr>
              <a:t>repeated random sampling)</a:t>
            </a:r>
            <a:r>
              <a:rPr lang="en-IN" b="0" i="0" dirty="0">
                <a:solidFill>
                  <a:srgbClr val="273239"/>
                </a:solidFill>
                <a:effectLst/>
                <a:highlight>
                  <a:srgbClr val="FFFFFF"/>
                </a:highlight>
                <a:latin typeface="Nunito" pitchFamily="2" charset="0"/>
              </a:rPr>
              <a:t> where an agent interacts with the environment until it reaches a terminal state.</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At the end of each episode, the algorithm looks back at the states visited and the rewards received to calculate what’s known as the “return” — the cumulative reward starting from a specific state until the end of the episode.</a:t>
            </a:r>
          </a:p>
          <a:p>
            <a:endParaRPr lang="en-IN" dirty="0">
              <a:solidFill>
                <a:srgbClr val="273239"/>
              </a:solidFill>
              <a:highlight>
                <a:srgbClr val="FFFFFF"/>
              </a:highlight>
              <a:latin typeface="Nunito" pitchFamily="2" charset="0"/>
            </a:endParaRPr>
          </a:p>
          <a:p>
            <a:endParaRPr lang="en-IN" dirty="0"/>
          </a:p>
        </p:txBody>
      </p:sp>
    </p:spTree>
    <p:extLst>
      <p:ext uri="{BB962C8B-B14F-4D97-AF65-F5344CB8AC3E}">
        <p14:creationId xmlns:p14="http://schemas.microsoft.com/office/powerpoint/2010/main" val="1440636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DDB7C-A15D-6C12-4BD8-A0331771D0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6769C3-66FA-F697-09B5-4BD57BC6F203}"/>
              </a:ext>
            </a:extLst>
          </p:cNvPr>
          <p:cNvSpPr>
            <a:spLocks noGrp="1"/>
          </p:cNvSpPr>
          <p:nvPr>
            <p:ph idx="1"/>
          </p:nvPr>
        </p:nvSpPr>
        <p:spPr/>
        <p:txBody>
          <a:bodyPr>
            <a:normAutofit lnSpcReduction="10000"/>
          </a:bodyPr>
          <a:lstStyle/>
          <a:p>
            <a:r>
              <a:rPr lang="en-IN" b="0" i="0" dirty="0">
                <a:solidFill>
                  <a:srgbClr val="273239"/>
                </a:solidFill>
                <a:effectLst/>
                <a:highlight>
                  <a:srgbClr val="FFFFFF"/>
                </a:highlight>
                <a:latin typeface="Nunito" pitchFamily="2" charset="0"/>
              </a:rPr>
              <a:t>Monte Carlo policy evaluation repeatedly simulates episodes, tracking the total rewards that follow each state and then calculating the average.</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These averages give an estimate of the state value under the policy being followed.</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By aggregating the results over many episodes, the method converges to the true value of each state when following the policy. </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These values are useful because they help us understand which states are more valuable and thus guide the agent toward better decision-making in the future.</a:t>
            </a:r>
            <a:endParaRPr lang="en-IN" dirty="0"/>
          </a:p>
        </p:txBody>
      </p:sp>
    </p:spTree>
    <p:extLst>
      <p:ext uri="{BB962C8B-B14F-4D97-AF65-F5344CB8AC3E}">
        <p14:creationId xmlns:p14="http://schemas.microsoft.com/office/powerpoint/2010/main" val="2134667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C97E-2105-1C7A-46D7-8E014637C8D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AB5500-25CC-7C07-D61E-ECE05240F9A9}"/>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Over time, as the agent learns the value of different states, it can refine its policy, </a:t>
            </a:r>
            <a:r>
              <a:rPr lang="en-IN" b="0" i="0" dirty="0" err="1">
                <a:solidFill>
                  <a:srgbClr val="273239"/>
                </a:solidFill>
                <a:effectLst/>
                <a:highlight>
                  <a:srgbClr val="FFFFFF"/>
                </a:highlight>
                <a:latin typeface="Nunito" pitchFamily="2" charset="0"/>
              </a:rPr>
              <a:t>favoring</a:t>
            </a:r>
            <a:r>
              <a:rPr lang="en-IN" b="0" i="0" dirty="0">
                <a:solidFill>
                  <a:srgbClr val="273239"/>
                </a:solidFill>
                <a:effectLst/>
                <a:highlight>
                  <a:srgbClr val="FFFFFF"/>
                </a:highlight>
                <a:latin typeface="Nunito" pitchFamily="2" charset="0"/>
              </a:rPr>
              <a:t> actions that lead to higher rewards.</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In Monte Carlo policy evaluation, the value V of a state “s” under a policy π is estimated by the average return G following that state. The return is the cumulative reward obtained after visiting state “s”:</a:t>
            </a:r>
            <a:endParaRPr lang="en-IN" dirty="0"/>
          </a:p>
        </p:txBody>
      </p:sp>
      <p:sp>
        <p:nvSpPr>
          <p:cNvPr id="4" name="AutoShape 2" descr="V(s) = \frac{1}{N(s)} \sum_{i=1}^{N(s)} G_i     ">
            <a:extLst>
              <a:ext uri="{FF2B5EF4-FFF2-40B4-BE49-F238E27FC236}">
                <a16:creationId xmlns:a16="http://schemas.microsoft.com/office/drawing/2014/main" id="{0F51A09B-FD56-4140-D23F-C737F30B8BF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BD134718-7C7C-F68F-DDC7-F20B86A45CD8}"/>
              </a:ext>
            </a:extLst>
          </p:cNvPr>
          <p:cNvPicPr>
            <a:picLocks noChangeAspect="1"/>
          </p:cNvPicPr>
          <p:nvPr/>
        </p:nvPicPr>
        <p:blipFill>
          <a:blip r:embed="rId2"/>
          <a:stretch>
            <a:fillRect/>
          </a:stretch>
        </p:blipFill>
        <p:spPr>
          <a:xfrm>
            <a:off x="962899" y="4790394"/>
            <a:ext cx="2409825" cy="542925"/>
          </a:xfrm>
          <a:prstGeom prst="rect">
            <a:avLst/>
          </a:prstGeom>
        </p:spPr>
      </p:pic>
      <p:sp>
        <p:nvSpPr>
          <p:cNvPr id="7" name="TextBox 6">
            <a:extLst>
              <a:ext uri="{FF2B5EF4-FFF2-40B4-BE49-F238E27FC236}">
                <a16:creationId xmlns:a16="http://schemas.microsoft.com/office/drawing/2014/main" id="{475A0A3A-81E9-ADB1-FE37-94223D5D096C}"/>
              </a:ext>
            </a:extLst>
          </p:cNvPr>
          <p:cNvSpPr txBox="1"/>
          <p:nvPr/>
        </p:nvSpPr>
        <p:spPr>
          <a:xfrm>
            <a:off x="962898" y="5287875"/>
            <a:ext cx="8097126" cy="646331"/>
          </a:xfrm>
          <a:prstGeom prst="rect">
            <a:avLst/>
          </a:prstGeom>
          <a:noFill/>
        </p:spPr>
        <p:txBody>
          <a:bodyPr wrap="square">
            <a:spAutoFit/>
          </a:bodyPr>
          <a:lstStyle/>
          <a:p>
            <a:r>
              <a:rPr lang="en-IN" b="0" i="0" dirty="0">
                <a:solidFill>
                  <a:srgbClr val="273239"/>
                </a:solidFill>
                <a:effectLst/>
                <a:highlight>
                  <a:srgbClr val="FFFFFF"/>
                </a:highlight>
                <a:latin typeface="Nunito" pitchFamily="2" charset="0"/>
              </a:rPr>
              <a:t>N(s) is the number of times state “s” is visited across episodes, and Gi is the return from the </a:t>
            </a:r>
            <a:r>
              <a:rPr lang="en-IN" b="0" i="0" dirty="0" err="1">
                <a:solidFill>
                  <a:srgbClr val="273239"/>
                </a:solidFill>
                <a:effectLst/>
                <a:highlight>
                  <a:srgbClr val="FFFFFF"/>
                </a:highlight>
                <a:latin typeface="Nunito" pitchFamily="2" charset="0"/>
              </a:rPr>
              <a:t>i-th</a:t>
            </a:r>
            <a:r>
              <a:rPr lang="en-IN" b="0" i="0" dirty="0">
                <a:solidFill>
                  <a:srgbClr val="273239"/>
                </a:solidFill>
                <a:effectLst/>
                <a:highlight>
                  <a:srgbClr val="FFFFFF"/>
                </a:highlight>
                <a:latin typeface="Nunito" pitchFamily="2" charset="0"/>
              </a:rPr>
              <a:t> episode after visiting state “s”.</a:t>
            </a:r>
            <a:endParaRPr lang="en-IN" dirty="0"/>
          </a:p>
        </p:txBody>
      </p:sp>
    </p:spTree>
    <p:extLst>
      <p:ext uri="{BB962C8B-B14F-4D97-AF65-F5344CB8AC3E}">
        <p14:creationId xmlns:p14="http://schemas.microsoft.com/office/powerpoint/2010/main" val="3336250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7B7C5-4030-DE35-8D2A-C50A048D31B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1A3905A-CA63-35FA-F0E6-4205DD83C5B9}"/>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Monte Carlo policy evaluation is like learning through full experience. It’s a hands-on way to measure how effective certain actions are, based on the rewards they yield over many trials. </a:t>
            </a:r>
            <a:endParaRPr lang="en-IN" dirty="0"/>
          </a:p>
        </p:txBody>
      </p:sp>
    </p:spTree>
    <p:extLst>
      <p:ext uri="{BB962C8B-B14F-4D97-AF65-F5344CB8AC3E}">
        <p14:creationId xmlns:p14="http://schemas.microsoft.com/office/powerpoint/2010/main" val="206245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0018-706E-E61F-7D11-9FD72660FFF8}"/>
              </a:ext>
            </a:extLst>
          </p:cNvPr>
          <p:cNvSpPr>
            <a:spLocks noGrp="1"/>
          </p:cNvSpPr>
          <p:nvPr>
            <p:ph type="title"/>
          </p:nvPr>
        </p:nvSpPr>
        <p:spPr/>
        <p:txBody>
          <a:bodyPr/>
          <a:lstStyle/>
          <a:p>
            <a:r>
              <a:rPr lang="en-US" dirty="0"/>
              <a:t>Q Learning </a:t>
            </a:r>
            <a:endParaRPr lang="en-IN" dirty="0"/>
          </a:p>
        </p:txBody>
      </p:sp>
      <p:sp>
        <p:nvSpPr>
          <p:cNvPr id="3" name="Content Placeholder 2">
            <a:extLst>
              <a:ext uri="{FF2B5EF4-FFF2-40B4-BE49-F238E27FC236}">
                <a16:creationId xmlns:a16="http://schemas.microsoft.com/office/drawing/2014/main" id="{F08D1747-3E50-6260-176E-F8BEB34D57DC}"/>
              </a:ext>
            </a:extLst>
          </p:cNvPr>
          <p:cNvSpPr>
            <a:spLocks noGrp="1"/>
          </p:cNvSpPr>
          <p:nvPr>
            <p:ph idx="1"/>
          </p:nvPr>
        </p:nvSpPr>
        <p:spPr/>
        <p:txBody>
          <a:bodyPr/>
          <a:lstStyle/>
          <a:p>
            <a:r>
              <a:rPr lang="en-IN" b="1" i="0" dirty="0">
                <a:solidFill>
                  <a:srgbClr val="273239"/>
                </a:solidFill>
                <a:effectLst/>
                <a:highlight>
                  <a:srgbClr val="FFFFFF"/>
                </a:highlight>
                <a:latin typeface="Nunito" pitchFamily="2" charset="0"/>
              </a:rPr>
              <a:t>Q-learning </a:t>
            </a:r>
            <a:r>
              <a:rPr lang="en-IN" b="0" i="0" dirty="0">
                <a:solidFill>
                  <a:srgbClr val="273239"/>
                </a:solidFill>
                <a:effectLst/>
                <a:highlight>
                  <a:srgbClr val="FFFFFF"/>
                </a:highlight>
                <a:latin typeface="Nunito" pitchFamily="2" charset="0"/>
              </a:rPr>
              <a:t>is a basic form of Reinforcement Learning that uses Q-values (also called action values) to iteratively improve the </a:t>
            </a:r>
            <a:r>
              <a:rPr lang="en-IN" b="0" i="0" dirty="0" err="1">
                <a:solidFill>
                  <a:srgbClr val="273239"/>
                </a:solidFill>
                <a:effectLst/>
                <a:highlight>
                  <a:srgbClr val="FFFFFF"/>
                </a:highlight>
                <a:latin typeface="Nunito" pitchFamily="2" charset="0"/>
              </a:rPr>
              <a:t>behavior</a:t>
            </a:r>
            <a:r>
              <a:rPr lang="en-IN" b="0" i="0" dirty="0">
                <a:solidFill>
                  <a:srgbClr val="273239"/>
                </a:solidFill>
                <a:effectLst/>
                <a:highlight>
                  <a:srgbClr val="FFFFFF"/>
                </a:highlight>
                <a:latin typeface="Nunito" pitchFamily="2" charset="0"/>
              </a:rPr>
              <a:t> of the learning agent.</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Q-learning is a popular model-free reinforcement learning algorithm used in </a:t>
            </a:r>
            <a:r>
              <a:rPr lang="en-IN" dirty="0">
                <a:solidFill>
                  <a:srgbClr val="273239"/>
                </a:solidFill>
                <a:highlight>
                  <a:srgbClr val="FFFFFF"/>
                </a:highlight>
                <a:latin typeface="Nunito" pitchFamily="2" charset="0"/>
              </a:rPr>
              <a:t>machine learning </a:t>
            </a:r>
            <a:r>
              <a:rPr lang="en-IN" b="0" i="0" dirty="0">
                <a:solidFill>
                  <a:srgbClr val="273239"/>
                </a:solidFill>
                <a:effectLst/>
                <a:highlight>
                  <a:srgbClr val="FFFFFF"/>
                </a:highlight>
                <a:latin typeface="Nunito" pitchFamily="2" charset="0"/>
              </a:rPr>
              <a:t>and artificial intelligence applications.</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It falls under the category of temporal difference learning techniques, in which an agent picks up new information by observing results, interacting with the environment, and getting feedback in the form of rewards.</a:t>
            </a:r>
            <a:endParaRPr lang="en-IN" dirty="0"/>
          </a:p>
        </p:txBody>
      </p:sp>
    </p:spTree>
    <p:extLst>
      <p:ext uri="{BB962C8B-B14F-4D97-AF65-F5344CB8AC3E}">
        <p14:creationId xmlns:p14="http://schemas.microsoft.com/office/powerpoint/2010/main" val="4178914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4BBD3-48D7-3AC8-9B5B-B2EC8BD5A67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E58E1E7-EB40-83B5-3975-59813D3BB919}"/>
              </a:ext>
            </a:extLst>
          </p:cNvPr>
          <p:cNvPicPr>
            <a:picLocks noGrp="1" noChangeAspect="1"/>
          </p:cNvPicPr>
          <p:nvPr>
            <p:ph idx="1"/>
          </p:nvPr>
        </p:nvPicPr>
        <p:blipFill>
          <a:blip r:embed="rId2"/>
          <a:stretch>
            <a:fillRect/>
          </a:stretch>
        </p:blipFill>
        <p:spPr>
          <a:xfrm>
            <a:off x="2286000" y="1763338"/>
            <a:ext cx="4922969" cy="4278688"/>
          </a:xfrm>
        </p:spPr>
      </p:pic>
    </p:spTree>
    <p:extLst>
      <p:ext uri="{BB962C8B-B14F-4D97-AF65-F5344CB8AC3E}">
        <p14:creationId xmlns:p14="http://schemas.microsoft.com/office/powerpoint/2010/main" val="1589193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815E-6D8C-9A2A-A6BB-534018FA87D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11DA98B-E2A5-B1F2-F41D-EB0AB17A6A4D}"/>
              </a:ext>
            </a:extLst>
          </p:cNvPr>
          <p:cNvPicPr>
            <a:picLocks noGrp="1" noChangeAspect="1"/>
          </p:cNvPicPr>
          <p:nvPr>
            <p:ph idx="1"/>
          </p:nvPr>
        </p:nvPicPr>
        <p:blipFill>
          <a:blip r:embed="rId3"/>
          <a:stretch>
            <a:fillRect/>
          </a:stretch>
        </p:blipFill>
        <p:spPr>
          <a:xfrm>
            <a:off x="2504281" y="2348706"/>
            <a:ext cx="4943475" cy="3505200"/>
          </a:xfrm>
        </p:spPr>
      </p:pic>
    </p:spTree>
    <p:extLst>
      <p:ext uri="{BB962C8B-B14F-4D97-AF65-F5344CB8AC3E}">
        <p14:creationId xmlns:p14="http://schemas.microsoft.com/office/powerpoint/2010/main" val="2568221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C367D-ACC4-8ED4-D61C-B5D81A41D7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1D9666-9DD5-1812-8B68-C3297AAF2D07}"/>
              </a:ext>
            </a:extLst>
          </p:cNvPr>
          <p:cNvSpPr>
            <a:spLocks noGrp="1"/>
          </p:cNvSpPr>
          <p:nvPr>
            <p:ph idx="1"/>
          </p:nvPr>
        </p:nvSpPr>
        <p:spPr/>
        <p:txBody>
          <a:bodyPr/>
          <a:lstStyle/>
          <a:p>
            <a:r>
              <a:rPr lang="en-IN" b="0" i="0" dirty="0">
                <a:solidFill>
                  <a:srgbClr val="333333"/>
                </a:solidFill>
                <a:effectLst/>
                <a:highlight>
                  <a:srgbClr val="FFFFFF"/>
                </a:highlight>
                <a:latin typeface="inter-regular"/>
              </a:rPr>
              <a:t>we can see there is an agent who has three values options, V(s</a:t>
            </a:r>
            <a:r>
              <a:rPr lang="en-IN" b="0" i="0" baseline="-25000" dirty="0">
                <a:solidFill>
                  <a:srgbClr val="333333"/>
                </a:solidFill>
                <a:effectLst/>
                <a:highlight>
                  <a:srgbClr val="FFFFFF"/>
                </a:highlight>
                <a:latin typeface="inter-regular"/>
              </a:rPr>
              <a:t>1</a:t>
            </a:r>
            <a:r>
              <a:rPr lang="en-IN" b="0" i="0" dirty="0">
                <a:solidFill>
                  <a:srgbClr val="333333"/>
                </a:solidFill>
                <a:effectLst/>
                <a:highlight>
                  <a:srgbClr val="FFFFFF"/>
                </a:highlight>
                <a:latin typeface="inter-regular"/>
              </a:rPr>
              <a:t>), V(s</a:t>
            </a:r>
            <a:r>
              <a:rPr lang="en-IN" b="0" i="0" baseline="-25000" dirty="0">
                <a:solidFill>
                  <a:srgbClr val="333333"/>
                </a:solidFill>
                <a:effectLst/>
                <a:highlight>
                  <a:srgbClr val="FFFFFF"/>
                </a:highlight>
                <a:latin typeface="inter-regular"/>
              </a:rPr>
              <a:t>2</a:t>
            </a:r>
            <a:r>
              <a:rPr lang="en-IN" b="0" i="0" dirty="0">
                <a:solidFill>
                  <a:srgbClr val="333333"/>
                </a:solidFill>
                <a:effectLst/>
                <a:highlight>
                  <a:srgbClr val="FFFFFF"/>
                </a:highlight>
                <a:latin typeface="inter-regular"/>
              </a:rPr>
              <a:t>), V(s</a:t>
            </a:r>
            <a:r>
              <a:rPr lang="en-IN" b="0" i="0" baseline="-25000" dirty="0">
                <a:solidFill>
                  <a:srgbClr val="333333"/>
                </a:solidFill>
                <a:effectLst/>
                <a:highlight>
                  <a:srgbClr val="FFFFFF"/>
                </a:highlight>
                <a:latin typeface="inter-regular"/>
              </a:rPr>
              <a:t>3</a:t>
            </a:r>
            <a:r>
              <a:rPr lang="en-IN" b="0" i="0" dirty="0">
                <a:solidFill>
                  <a:srgbClr val="333333"/>
                </a:solidFill>
                <a:effectLst/>
                <a:highlight>
                  <a:srgbClr val="FFFFFF"/>
                </a:highlight>
                <a:latin typeface="inter-regular"/>
              </a:rPr>
              <a:t>). As this is MDP, so agent only cares for the current state and the future state.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The agent can go to any direction (Up, Left, or Right), so he needs to decide where to go for the optimal path.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Here agent will take a move as per probability bases and changes the state. But if we want some exact moves, so for this, we need to make some changes in terms of Q-value.</a:t>
            </a:r>
            <a:endParaRPr lang="en-IN" dirty="0"/>
          </a:p>
        </p:txBody>
      </p:sp>
    </p:spTree>
    <p:extLst>
      <p:ext uri="{BB962C8B-B14F-4D97-AF65-F5344CB8AC3E}">
        <p14:creationId xmlns:p14="http://schemas.microsoft.com/office/powerpoint/2010/main" val="22343805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F536D-8237-0D52-27E4-50EA01D704A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C6775B7-A42E-FA6E-34D6-66BCF841C542}"/>
              </a:ext>
            </a:extLst>
          </p:cNvPr>
          <p:cNvPicPr>
            <a:picLocks noGrp="1" noChangeAspect="1"/>
          </p:cNvPicPr>
          <p:nvPr>
            <p:ph idx="1"/>
          </p:nvPr>
        </p:nvPicPr>
        <p:blipFill>
          <a:blip r:embed="rId2"/>
          <a:stretch>
            <a:fillRect/>
          </a:stretch>
        </p:blipFill>
        <p:spPr>
          <a:xfrm>
            <a:off x="2513806" y="2267744"/>
            <a:ext cx="4924425" cy="3667125"/>
          </a:xfrm>
        </p:spPr>
      </p:pic>
    </p:spTree>
    <p:extLst>
      <p:ext uri="{BB962C8B-B14F-4D97-AF65-F5344CB8AC3E}">
        <p14:creationId xmlns:p14="http://schemas.microsoft.com/office/powerpoint/2010/main" val="144139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AF60F-CC3A-BFAC-C26A-3E2C7E71C8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68819E-2BF5-BEDB-249E-A00FFE7387DE}"/>
              </a:ext>
            </a:extLst>
          </p:cNvPr>
          <p:cNvSpPr>
            <a:spLocks noGrp="1"/>
          </p:cNvSpPr>
          <p:nvPr>
            <p:ph idx="1"/>
          </p:nvPr>
        </p:nvSpPr>
        <p:spPr/>
        <p:txBody>
          <a:bodyPr/>
          <a:lstStyle/>
          <a:p>
            <a:r>
              <a:rPr lang="en-IN" b="0" i="0" dirty="0">
                <a:solidFill>
                  <a:srgbClr val="333333"/>
                </a:solidFill>
                <a:effectLst/>
                <a:highlight>
                  <a:srgbClr val="FFFFFF"/>
                </a:highlight>
                <a:latin typeface="inter-regular"/>
              </a:rPr>
              <a:t>Q- represents the quality of the actions at each state. So instead of using a value at each state, we will use a pair of state and action, i.e., Q(s, a).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Q-value specifies that which action is more lubricative than others, and according to the best Q-value, the agent takes his next move.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The Bellman equation can be used for deriving the Q-value.</a:t>
            </a:r>
            <a:endParaRPr lang="en-IN" dirty="0"/>
          </a:p>
        </p:txBody>
      </p:sp>
    </p:spTree>
    <p:extLst>
      <p:ext uri="{BB962C8B-B14F-4D97-AF65-F5344CB8AC3E}">
        <p14:creationId xmlns:p14="http://schemas.microsoft.com/office/powerpoint/2010/main" val="402281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A483A-E4C3-860C-A8D6-164A5C0AAD7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C3F2E56-982D-B405-8AF2-F8FDEF063E59}"/>
              </a:ext>
            </a:extLst>
          </p:cNvPr>
          <p:cNvPicPr>
            <a:picLocks noGrp="1" noChangeAspect="1"/>
          </p:cNvPicPr>
          <p:nvPr>
            <p:ph idx="1"/>
          </p:nvPr>
        </p:nvPicPr>
        <p:blipFill>
          <a:blip r:embed="rId2"/>
          <a:stretch>
            <a:fillRect/>
          </a:stretch>
        </p:blipFill>
        <p:spPr>
          <a:xfrm>
            <a:off x="1943764" y="2298749"/>
            <a:ext cx="5467350" cy="2000250"/>
          </a:xfrm>
        </p:spPr>
      </p:pic>
      <p:sp>
        <p:nvSpPr>
          <p:cNvPr id="7" name="TextBox 6">
            <a:extLst>
              <a:ext uri="{FF2B5EF4-FFF2-40B4-BE49-F238E27FC236}">
                <a16:creationId xmlns:a16="http://schemas.microsoft.com/office/drawing/2014/main" id="{3DD1D435-6036-D3B3-3444-D0A70593628B}"/>
              </a:ext>
            </a:extLst>
          </p:cNvPr>
          <p:cNvSpPr txBox="1"/>
          <p:nvPr/>
        </p:nvSpPr>
        <p:spPr>
          <a:xfrm>
            <a:off x="2043404" y="4799341"/>
            <a:ext cx="6102220" cy="646331"/>
          </a:xfrm>
          <a:prstGeom prst="rect">
            <a:avLst/>
          </a:prstGeom>
          <a:noFill/>
        </p:spPr>
        <p:txBody>
          <a:bodyPr wrap="square">
            <a:spAutoFit/>
          </a:bodyPr>
          <a:lstStyle/>
          <a:p>
            <a:r>
              <a:rPr lang="en-IN" b="1" i="0" dirty="0">
                <a:solidFill>
                  <a:srgbClr val="333333"/>
                </a:solidFill>
                <a:effectLst/>
                <a:highlight>
                  <a:srgbClr val="FFFFFF"/>
                </a:highlight>
                <a:latin typeface="inter-bold"/>
              </a:rPr>
              <a:t>The above formula is used to estimate the Q-values in Q-Learning.</a:t>
            </a:r>
            <a:endParaRPr lang="en-IN" dirty="0"/>
          </a:p>
        </p:txBody>
      </p:sp>
    </p:spTree>
    <p:extLst>
      <p:ext uri="{BB962C8B-B14F-4D97-AF65-F5344CB8AC3E}">
        <p14:creationId xmlns:p14="http://schemas.microsoft.com/office/powerpoint/2010/main" val="259900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A8194-F73E-36FE-8C0C-BA78D632F22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B34D031-9496-02A5-A60D-682AFC13D7B2}"/>
              </a:ext>
            </a:extLst>
          </p:cNvPr>
          <p:cNvPicPr>
            <a:picLocks noGrp="1" noChangeAspect="1"/>
          </p:cNvPicPr>
          <p:nvPr>
            <p:ph idx="1"/>
          </p:nvPr>
        </p:nvPicPr>
        <p:blipFill>
          <a:blip r:embed="rId2"/>
          <a:stretch>
            <a:fillRect/>
          </a:stretch>
        </p:blipFill>
        <p:spPr>
          <a:xfrm>
            <a:off x="812236" y="1567544"/>
            <a:ext cx="4597850" cy="508518"/>
          </a:xfrm>
        </p:spPr>
      </p:pic>
      <p:pic>
        <p:nvPicPr>
          <p:cNvPr id="7" name="Picture 6">
            <a:extLst>
              <a:ext uri="{FF2B5EF4-FFF2-40B4-BE49-F238E27FC236}">
                <a16:creationId xmlns:a16="http://schemas.microsoft.com/office/drawing/2014/main" id="{8B1881A4-5C43-9D0C-87B5-52D408213E8F}"/>
              </a:ext>
            </a:extLst>
          </p:cNvPr>
          <p:cNvPicPr>
            <a:picLocks noChangeAspect="1"/>
          </p:cNvPicPr>
          <p:nvPr/>
        </p:nvPicPr>
        <p:blipFill>
          <a:blip r:embed="rId3"/>
          <a:stretch>
            <a:fillRect/>
          </a:stretch>
        </p:blipFill>
        <p:spPr>
          <a:xfrm>
            <a:off x="1040655" y="2879013"/>
            <a:ext cx="7591425" cy="2324100"/>
          </a:xfrm>
          <a:prstGeom prst="rect">
            <a:avLst/>
          </a:prstGeom>
        </p:spPr>
      </p:pic>
    </p:spTree>
    <p:extLst>
      <p:ext uri="{BB962C8B-B14F-4D97-AF65-F5344CB8AC3E}">
        <p14:creationId xmlns:p14="http://schemas.microsoft.com/office/powerpoint/2010/main" val="3634036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9AE4E-EB0D-967D-A92F-D1EB7420A2C3}"/>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F47EAB38-1C61-D420-BEDB-5F08CE81344F}"/>
              </a:ext>
            </a:extLst>
          </p:cNvPr>
          <p:cNvPicPr>
            <a:picLocks noGrp="1" noChangeAspect="1"/>
          </p:cNvPicPr>
          <p:nvPr>
            <p:ph idx="1"/>
          </p:nvPr>
        </p:nvPicPr>
        <p:blipFill>
          <a:blip r:embed="rId3"/>
          <a:stretch>
            <a:fillRect/>
          </a:stretch>
        </p:blipFill>
        <p:spPr>
          <a:xfrm>
            <a:off x="677334" y="1270000"/>
            <a:ext cx="7421144" cy="5094515"/>
          </a:xfrm>
        </p:spPr>
      </p:pic>
    </p:spTree>
    <p:extLst>
      <p:ext uri="{BB962C8B-B14F-4D97-AF65-F5344CB8AC3E}">
        <p14:creationId xmlns:p14="http://schemas.microsoft.com/office/powerpoint/2010/main" val="31063382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FE6E-FD63-BB19-EF3F-2075038A711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2AE6246-3AE6-C408-5D9C-7741732C2079}"/>
              </a:ext>
            </a:extLst>
          </p:cNvPr>
          <p:cNvPicPr>
            <a:picLocks noGrp="1" noChangeAspect="1"/>
          </p:cNvPicPr>
          <p:nvPr>
            <p:ph idx="1"/>
          </p:nvPr>
        </p:nvPicPr>
        <p:blipFill>
          <a:blip r:embed="rId2"/>
          <a:stretch>
            <a:fillRect/>
          </a:stretch>
        </p:blipFill>
        <p:spPr>
          <a:xfrm>
            <a:off x="2183363" y="1460892"/>
            <a:ext cx="4845271" cy="4581134"/>
          </a:xfrm>
        </p:spPr>
      </p:pic>
    </p:spTree>
    <p:extLst>
      <p:ext uri="{BB962C8B-B14F-4D97-AF65-F5344CB8AC3E}">
        <p14:creationId xmlns:p14="http://schemas.microsoft.com/office/powerpoint/2010/main" val="3293066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448F3-AF52-E58A-387C-30B5C9739C45}"/>
              </a:ext>
            </a:extLst>
          </p:cNvPr>
          <p:cNvSpPr>
            <a:spLocks noGrp="1"/>
          </p:cNvSpPr>
          <p:nvPr>
            <p:ph type="title"/>
          </p:nvPr>
        </p:nvSpPr>
        <p:spPr/>
        <p:txBody>
          <a:bodyPr/>
          <a:lstStyle/>
          <a:p>
            <a:r>
              <a:rPr lang="en-US" dirty="0"/>
              <a:t>SARSA </a:t>
            </a:r>
            <a:endParaRPr lang="en-IN" dirty="0"/>
          </a:p>
        </p:txBody>
      </p:sp>
      <p:sp>
        <p:nvSpPr>
          <p:cNvPr id="3" name="Content Placeholder 2">
            <a:extLst>
              <a:ext uri="{FF2B5EF4-FFF2-40B4-BE49-F238E27FC236}">
                <a16:creationId xmlns:a16="http://schemas.microsoft.com/office/drawing/2014/main" id="{858EAF1D-6E2C-570D-ADBD-82C3A8144F6B}"/>
              </a:ext>
            </a:extLst>
          </p:cNvPr>
          <p:cNvSpPr>
            <a:spLocks noGrp="1"/>
          </p:cNvSpPr>
          <p:nvPr>
            <p:ph idx="1"/>
          </p:nvPr>
        </p:nvSpPr>
        <p:spPr/>
        <p:txBody>
          <a:bodyPr/>
          <a:lstStyle/>
          <a:p>
            <a:r>
              <a:rPr lang="en-IN" b="0" i="0" dirty="0">
                <a:solidFill>
                  <a:srgbClr val="333333"/>
                </a:solidFill>
                <a:effectLst/>
                <a:highlight>
                  <a:srgbClr val="FFFFFF"/>
                </a:highlight>
                <a:latin typeface="inter-regular"/>
              </a:rPr>
              <a:t>State-Action-Reward-State-Action</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Consider teaching a computer to play a game, operate a car, or manage resources.</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SARSA is a reinforcement learning algorithm that teaches computers how to make good decisions by interacting with an environment.</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 It helps computers learn from their experiences to determine the best actions.</a:t>
            </a:r>
            <a:endParaRPr lang="en-IN" dirty="0"/>
          </a:p>
        </p:txBody>
      </p:sp>
    </p:spTree>
    <p:extLst>
      <p:ext uri="{BB962C8B-B14F-4D97-AF65-F5344CB8AC3E}">
        <p14:creationId xmlns:p14="http://schemas.microsoft.com/office/powerpoint/2010/main" val="36076640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AC663-83BF-3B31-6353-63EA57814780}"/>
              </a:ext>
            </a:extLst>
          </p:cNvPr>
          <p:cNvSpPr>
            <a:spLocks noGrp="1"/>
          </p:cNvSpPr>
          <p:nvPr>
            <p:ph type="title"/>
          </p:nvPr>
        </p:nvSpPr>
        <p:spPr/>
        <p:txBody>
          <a:bodyPr/>
          <a:lstStyle/>
          <a:p>
            <a:r>
              <a:rPr lang="en-IN" dirty="0"/>
              <a:t>Explanation of SARSA:</a:t>
            </a:r>
          </a:p>
        </p:txBody>
      </p:sp>
      <p:sp>
        <p:nvSpPr>
          <p:cNvPr id="3" name="Content Placeholder 2">
            <a:extLst>
              <a:ext uri="{FF2B5EF4-FFF2-40B4-BE49-F238E27FC236}">
                <a16:creationId xmlns:a16="http://schemas.microsoft.com/office/drawing/2014/main" id="{4557565A-CC8F-3FC9-D4BB-2DA7E8209962}"/>
              </a:ext>
            </a:extLst>
          </p:cNvPr>
          <p:cNvSpPr>
            <a:spLocks noGrp="1"/>
          </p:cNvSpPr>
          <p:nvPr>
            <p:ph idx="1"/>
          </p:nvPr>
        </p:nvSpPr>
        <p:spPr/>
        <p:txBody>
          <a:bodyPr/>
          <a:lstStyle/>
          <a:p>
            <a:r>
              <a:rPr lang="en-IN" b="0" i="0" dirty="0">
                <a:solidFill>
                  <a:srgbClr val="333333"/>
                </a:solidFill>
                <a:effectLst/>
                <a:highlight>
                  <a:srgbClr val="FFFFFF"/>
                </a:highlight>
                <a:latin typeface="inter-regular"/>
              </a:rPr>
              <a:t>Assume you're teaching a robot to navigate a maze. The robot begins at a specific location (the "State" - where it is), and you want it to discover the best path to the maze's finish.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The robot can proceed in numerous directions at each step (these are the "Actions" - what it does). As it travels, the robot receives input through incentives - positive or negative numbers indicating its performance.</a:t>
            </a:r>
            <a:endParaRPr lang="en-IN" dirty="0"/>
          </a:p>
        </p:txBody>
      </p:sp>
    </p:spTree>
    <p:extLst>
      <p:ext uri="{BB962C8B-B14F-4D97-AF65-F5344CB8AC3E}">
        <p14:creationId xmlns:p14="http://schemas.microsoft.com/office/powerpoint/2010/main" val="23085458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29EC-518C-67B7-ADFE-46F3E2343576}"/>
              </a:ext>
            </a:extLst>
          </p:cNvPr>
          <p:cNvSpPr>
            <a:spLocks noGrp="1"/>
          </p:cNvSpPr>
          <p:nvPr>
            <p:ph type="title"/>
          </p:nvPr>
        </p:nvSpPr>
        <p:spPr/>
        <p:txBody>
          <a:bodyPr/>
          <a:lstStyle/>
          <a:p>
            <a:r>
              <a:rPr lang="en-IN" dirty="0"/>
              <a:t>Explanation of SARSA:</a:t>
            </a:r>
          </a:p>
        </p:txBody>
      </p:sp>
      <p:sp>
        <p:nvSpPr>
          <p:cNvPr id="3" name="Content Placeholder 2">
            <a:extLst>
              <a:ext uri="{FF2B5EF4-FFF2-40B4-BE49-F238E27FC236}">
                <a16:creationId xmlns:a16="http://schemas.microsoft.com/office/drawing/2014/main" id="{68DC759F-1F95-86FF-03AF-DD00A5B8B724}"/>
              </a:ext>
            </a:extLst>
          </p:cNvPr>
          <p:cNvSpPr>
            <a:spLocks noGrp="1"/>
          </p:cNvSpPr>
          <p:nvPr>
            <p:ph idx="1"/>
          </p:nvPr>
        </p:nvSpPr>
        <p:spPr/>
        <p:txBody>
          <a:bodyPr/>
          <a:lstStyle/>
          <a:p>
            <a:r>
              <a:rPr lang="en-IN" b="0" i="0" dirty="0">
                <a:solidFill>
                  <a:srgbClr val="333333"/>
                </a:solidFill>
                <a:effectLst/>
                <a:highlight>
                  <a:srgbClr val="FFFFFF"/>
                </a:highlight>
                <a:latin typeface="inter-regular"/>
              </a:rPr>
              <a:t>The amazing thing about SARSA is that it doesn't need a map of the maze or explicit instructions on what to do.</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 It learns by trial and error, discovering which actions work best in different situations. This way, SARSA helps computers learn to make decisions in various scenarios, from games to driving cars to managing resources efficiently.</a:t>
            </a:r>
            <a:endParaRPr lang="en-IN" dirty="0"/>
          </a:p>
        </p:txBody>
      </p:sp>
    </p:spTree>
    <p:extLst>
      <p:ext uri="{BB962C8B-B14F-4D97-AF65-F5344CB8AC3E}">
        <p14:creationId xmlns:p14="http://schemas.microsoft.com/office/powerpoint/2010/main" val="6228587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0AF01-A6E5-1DB1-4CFB-23C5C80992D0}"/>
              </a:ext>
            </a:extLst>
          </p:cNvPr>
          <p:cNvSpPr>
            <a:spLocks noGrp="1"/>
          </p:cNvSpPr>
          <p:nvPr>
            <p:ph type="title"/>
          </p:nvPr>
        </p:nvSpPr>
        <p:spPr/>
        <p:txBody>
          <a:bodyPr/>
          <a:lstStyle/>
          <a:p>
            <a:r>
              <a:rPr lang="en-US" dirty="0"/>
              <a:t>Equation</a:t>
            </a:r>
            <a:endParaRPr lang="en-IN" dirty="0"/>
          </a:p>
        </p:txBody>
      </p:sp>
      <p:pic>
        <p:nvPicPr>
          <p:cNvPr id="5" name="Content Placeholder 4">
            <a:extLst>
              <a:ext uri="{FF2B5EF4-FFF2-40B4-BE49-F238E27FC236}">
                <a16:creationId xmlns:a16="http://schemas.microsoft.com/office/drawing/2014/main" id="{B85AF520-8EC1-EC02-1219-CCCB593F06E7}"/>
              </a:ext>
            </a:extLst>
          </p:cNvPr>
          <p:cNvPicPr>
            <a:picLocks noGrp="1" noChangeAspect="1"/>
          </p:cNvPicPr>
          <p:nvPr>
            <p:ph idx="1"/>
          </p:nvPr>
        </p:nvPicPr>
        <p:blipFill>
          <a:blip r:embed="rId2"/>
          <a:stretch>
            <a:fillRect/>
          </a:stretch>
        </p:blipFill>
        <p:spPr>
          <a:xfrm>
            <a:off x="825257" y="2182991"/>
            <a:ext cx="8096250" cy="1000125"/>
          </a:xfrm>
        </p:spPr>
      </p:pic>
      <p:sp>
        <p:nvSpPr>
          <p:cNvPr id="7" name="TextBox 6">
            <a:extLst>
              <a:ext uri="{FF2B5EF4-FFF2-40B4-BE49-F238E27FC236}">
                <a16:creationId xmlns:a16="http://schemas.microsoft.com/office/drawing/2014/main" id="{42F524AE-FBBD-07F5-961E-23EEB5CA1B3B}"/>
              </a:ext>
            </a:extLst>
          </p:cNvPr>
          <p:cNvSpPr txBox="1"/>
          <p:nvPr/>
        </p:nvSpPr>
        <p:spPr>
          <a:xfrm>
            <a:off x="825257" y="3435707"/>
            <a:ext cx="7992172" cy="646331"/>
          </a:xfrm>
          <a:prstGeom prst="rect">
            <a:avLst/>
          </a:prstGeom>
          <a:noFill/>
        </p:spPr>
        <p:txBody>
          <a:bodyPr wrap="square">
            <a:spAutoFit/>
          </a:bodyPr>
          <a:lstStyle/>
          <a:p>
            <a:r>
              <a:rPr lang="en-IN" b="0" i="0" dirty="0">
                <a:solidFill>
                  <a:srgbClr val="273239"/>
                </a:solidFill>
                <a:effectLst/>
                <a:highlight>
                  <a:srgbClr val="FFFFFF"/>
                </a:highlight>
                <a:latin typeface="Nunito" pitchFamily="2" charset="0"/>
              </a:rPr>
              <a:t>Here, the update equation for SARSA depends on the current state, current action, reward obtained, next state and next action. </a:t>
            </a:r>
            <a:endParaRPr lang="en-IN" dirty="0"/>
          </a:p>
        </p:txBody>
      </p:sp>
    </p:spTree>
    <p:extLst>
      <p:ext uri="{BB962C8B-B14F-4D97-AF65-F5344CB8AC3E}">
        <p14:creationId xmlns:p14="http://schemas.microsoft.com/office/powerpoint/2010/main" val="11601615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5073E-A3E1-3050-8102-385039ECACEE}"/>
              </a:ext>
            </a:extLst>
          </p:cNvPr>
          <p:cNvSpPr>
            <a:spLocks noGrp="1"/>
          </p:cNvSpPr>
          <p:nvPr>
            <p:ph type="title"/>
          </p:nvPr>
        </p:nvSpPr>
        <p:spPr/>
        <p:txBody>
          <a:bodyPr/>
          <a:lstStyle/>
          <a:p>
            <a:r>
              <a:rPr lang="en-US" dirty="0"/>
              <a:t>Code Snippet</a:t>
            </a:r>
            <a:endParaRPr lang="en-IN" dirty="0"/>
          </a:p>
        </p:txBody>
      </p:sp>
      <p:pic>
        <p:nvPicPr>
          <p:cNvPr id="5" name="Content Placeholder 4">
            <a:extLst>
              <a:ext uri="{FF2B5EF4-FFF2-40B4-BE49-F238E27FC236}">
                <a16:creationId xmlns:a16="http://schemas.microsoft.com/office/drawing/2014/main" id="{73A8A0E9-A01F-933C-2E42-C597298CA569}"/>
              </a:ext>
            </a:extLst>
          </p:cNvPr>
          <p:cNvPicPr>
            <a:picLocks noGrp="1" noChangeAspect="1"/>
          </p:cNvPicPr>
          <p:nvPr>
            <p:ph idx="1"/>
          </p:nvPr>
        </p:nvPicPr>
        <p:blipFill>
          <a:blip r:embed="rId2"/>
          <a:stretch>
            <a:fillRect/>
          </a:stretch>
        </p:blipFill>
        <p:spPr>
          <a:xfrm>
            <a:off x="677334" y="2848575"/>
            <a:ext cx="8315325" cy="695325"/>
          </a:xfrm>
        </p:spPr>
      </p:pic>
    </p:spTree>
    <p:extLst>
      <p:ext uri="{BB962C8B-B14F-4D97-AF65-F5344CB8AC3E}">
        <p14:creationId xmlns:p14="http://schemas.microsoft.com/office/powerpoint/2010/main" val="17730554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5B9C5-F448-1268-66E4-8D8CE0EE0E69}"/>
              </a:ext>
            </a:extLst>
          </p:cNvPr>
          <p:cNvSpPr>
            <a:spLocks noGrp="1"/>
          </p:cNvSpPr>
          <p:nvPr>
            <p:ph type="title"/>
          </p:nvPr>
        </p:nvSpPr>
        <p:spPr/>
        <p:txBody>
          <a:bodyPr/>
          <a:lstStyle/>
          <a:p>
            <a:r>
              <a:rPr lang="en-US" dirty="0"/>
              <a:t>Output</a:t>
            </a:r>
            <a:endParaRPr lang="en-IN" dirty="0"/>
          </a:p>
        </p:txBody>
      </p:sp>
      <p:pic>
        <p:nvPicPr>
          <p:cNvPr id="5" name="Content Placeholder 4">
            <a:extLst>
              <a:ext uri="{FF2B5EF4-FFF2-40B4-BE49-F238E27FC236}">
                <a16:creationId xmlns:a16="http://schemas.microsoft.com/office/drawing/2014/main" id="{1806ECF1-50C7-55AD-CC5E-88271361DDE0}"/>
              </a:ext>
            </a:extLst>
          </p:cNvPr>
          <p:cNvPicPr>
            <a:picLocks noGrp="1" noChangeAspect="1"/>
          </p:cNvPicPr>
          <p:nvPr>
            <p:ph idx="1"/>
          </p:nvPr>
        </p:nvPicPr>
        <p:blipFill>
          <a:blip r:embed="rId2"/>
          <a:stretch>
            <a:fillRect/>
          </a:stretch>
        </p:blipFill>
        <p:spPr>
          <a:xfrm>
            <a:off x="975471" y="1930400"/>
            <a:ext cx="7863811" cy="2931480"/>
          </a:xfrm>
        </p:spPr>
      </p:pic>
    </p:spTree>
    <p:extLst>
      <p:ext uri="{BB962C8B-B14F-4D97-AF65-F5344CB8AC3E}">
        <p14:creationId xmlns:p14="http://schemas.microsoft.com/office/powerpoint/2010/main" val="27764317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36733-08BB-A318-4FCF-CA3AB9FC8520}"/>
              </a:ext>
            </a:extLst>
          </p:cNvPr>
          <p:cNvSpPr>
            <a:spLocks noGrp="1"/>
          </p:cNvSpPr>
          <p:nvPr>
            <p:ph type="title"/>
          </p:nvPr>
        </p:nvSpPr>
        <p:spPr/>
        <p:txBody>
          <a:bodyPr/>
          <a:lstStyle/>
          <a:p>
            <a:r>
              <a:rPr lang="en-US" dirty="0"/>
              <a:t>Model Based Reinforcement Learning</a:t>
            </a:r>
            <a:endParaRPr lang="en-IN" dirty="0"/>
          </a:p>
        </p:txBody>
      </p:sp>
      <p:sp>
        <p:nvSpPr>
          <p:cNvPr id="3" name="Content Placeholder 2">
            <a:extLst>
              <a:ext uri="{FF2B5EF4-FFF2-40B4-BE49-F238E27FC236}">
                <a16:creationId xmlns:a16="http://schemas.microsoft.com/office/drawing/2014/main" id="{3E976241-2A6B-32AA-2A1F-0239BDCC84B4}"/>
              </a:ext>
            </a:extLst>
          </p:cNvPr>
          <p:cNvSpPr>
            <a:spLocks noGrp="1"/>
          </p:cNvSpPr>
          <p:nvPr>
            <p:ph idx="1"/>
          </p:nvPr>
        </p:nvSpPr>
        <p:spPr>
          <a:xfrm>
            <a:off x="677334" y="1930401"/>
            <a:ext cx="8596668" cy="4110962"/>
          </a:xfrm>
        </p:spPr>
        <p:txBody>
          <a:bodyPr>
            <a:normAutofit fontScale="92500" lnSpcReduction="10000"/>
          </a:bodyPr>
          <a:lstStyle/>
          <a:p>
            <a:r>
              <a:rPr lang="en-IN" dirty="0"/>
              <a:t>The model is used for planning, which means it provides a way to take a course of action by considering all future situations before actually experiencing those situations. </a:t>
            </a:r>
          </a:p>
          <a:p>
            <a:endParaRPr lang="en-IN" dirty="0"/>
          </a:p>
          <a:p>
            <a:r>
              <a:rPr lang="en-US" dirty="0"/>
              <a:t>In Model-based </a:t>
            </a:r>
            <a:r>
              <a:rPr lang="en-IN" dirty="0"/>
              <a:t>reinforcement learning which mimics the </a:t>
            </a:r>
            <a:r>
              <a:rPr lang="en-IN" dirty="0" err="1"/>
              <a:t>behavior</a:t>
            </a:r>
            <a:r>
              <a:rPr lang="en-IN" dirty="0"/>
              <a:t> of the environment.</a:t>
            </a:r>
          </a:p>
          <a:p>
            <a:endParaRPr lang="en-IN" dirty="0"/>
          </a:p>
          <a:p>
            <a:r>
              <a:rPr lang="en-IN" dirty="0"/>
              <a:t>The approaches for solving the RL problems with the help of the model are termed as the model-based approach.</a:t>
            </a:r>
            <a:endParaRPr lang="en-US" dirty="0"/>
          </a:p>
          <a:p>
            <a:endParaRPr lang="en-US" dirty="0"/>
          </a:p>
          <a:p>
            <a:endParaRPr lang="en-IN" dirty="0"/>
          </a:p>
          <a:p>
            <a:r>
              <a:rPr lang="en-IN" dirty="0"/>
              <a:t>With the help of the model, one can make inferences(idea or conclusions) about how the environment will behave. </a:t>
            </a:r>
          </a:p>
          <a:p>
            <a:endParaRPr lang="en-IN" dirty="0"/>
          </a:p>
          <a:p>
            <a:endParaRPr lang="en-IN" dirty="0"/>
          </a:p>
          <a:p>
            <a:endParaRPr lang="en-IN" dirty="0"/>
          </a:p>
        </p:txBody>
      </p:sp>
    </p:spTree>
    <p:extLst>
      <p:ext uri="{BB962C8B-B14F-4D97-AF65-F5344CB8AC3E}">
        <p14:creationId xmlns:p14="http://schemas.microsoft.com/office/powerpoint/2010/main" val="2453785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CD44A-178F-DFA2-0179-DEC9ACDF3F8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6C22AD-9B77-7D8D-82B9-DFA255219D52}"/>
              </a:ext>
            </a:extLst>
          </p:cNvPr>
          <p:cNvSpPr>
            <a:spLocks noGrp="1"/>
          </p:cNvSpPr>
          <p:nvPr>
            <p:ph idx="1"/>
          </p:nvPr>
        </p:nvSpPr>
        <p:spPr/>
        <p:txBody>
          <a:bodyPr/>
          <a:lstStyle/>
          <a:p>
            <a:r>
              <a:rPr lang="en-IN" dirty="0"/>
              <a:t>Such as, if a state and an action are given, then a model can predict the next state and reward.</a:t>
            </a:r>
          </a:p>
          <a:p>
            <a:endParaRPr lang="en-IN" dirty="0"/>
          </a:p>
          <a:p>
            <a:endParaRPr lang="en-IN" dirty="0"/>
          </a:p>
          <a:p>
            <a:r>
              <a:rPr lang="en-IN" b="0" i="0" dirty="0">
                <a:solidFill>
                  <a:srgbClr val="0D0D0D"/>
                </a:solidFill>
                <a:effectLst/>
                <a:highlight>
                  <a:srgbClr val="FFFFFF"/>
                </a:highlight>
                <a:latin typeface="Söhne"/>
              </a:rPr>
              <a:t>Model-based reinforcement learning (MBRL) is an approach within the field of reinforcement learning (RL) that incorporates a model of the environment to improve the efficiency and effectiveness of the learning process.</a:t>
            </a:r>
            <a:endParaRPr lang="en-IN" dirty="0"/>
          </a:p>
          <a:p>
            <a:endParaRPr lang="en-IN" dirty="0"/>
          </a:p>
        </p:txBody>
      </p:sp>
    </p:spTree>
    <p:extLst>
      <p:ext uri="{BB962C8B-B14F-4D97-AF65-F5344CB8AC3E}">
        <p14:creationId xmlns:p14="http://schemas.microsoft.com/office/powerpoint/2010/main" val="291903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A7D6-82F3-C695-39DB-B88C1F6EED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B5EB64-54F6-899A-2268-E30A19617E2C}"/>
              </a:ext>
            </a:extLst>
          </p:cNvPr>
          <p:cNvSpPr>
            <a:spLocks noGrp="1"/>
          </p:cNvSpPr>
          <p:nvPr>
            <p:ph idx="1"/>
          </p:nvPr>
        </p:nvSpPr>
        <p:spPr/>
        <p:txBody>
          <a:bodyPr/>
          <a:lstStyle/>
          <a:p>
            <a:r>
              <a:rPr lang="en-IN" b="0" i="0" dirty="0">
                <a:solidFill>
                  <a:srgbClr val="0D0D0D"/>
                </a:solidFill>
                <a:effectLst/>
                <a:highlight>
                  <a:srgbClr val="FFFFFF"/>
                </a:highlight>
                <a:latin typeface="Söhne"/>
              </a:rPr>
              <a:t>In MBRL, an agent not only learns from interactions with the environment but also builds and utilizes a model of the environment.</a:t>
            </a:r>
          </a:p>
          <a:p>
            <a:endParaRPr lang="en-IN" dirty="0"/>
          </a:p>
          <a:p>
            <a:endParaRPr lang="en-IN" dirty="0"/>
          </a:p>
          <a:p>
            <a:r>
              <a:rPr lang="en-IN" b="0" i="0" dirty="0">
                <a:solidFill>
                  <a:srgbClr val="0D0D0D"/>
                </a:solidFill>
                <a:effectLst/>
                <a:highlight>
                  <a:srgbClr val="FFFFFF"/>
                </a:highlight>
                <a:latin typeface="Söhne"/>
              </a:rPr>
              <a:t>This model can predict the next state and reward given the current state and action. It helps the agent to simulate future states and outcomes without direct interaction.</a:t>
            </a:r>
          </a:p>
          <a:p>
            <a:endParaRPr lang="en-IN" dirty="0"/>
          </a:p>
        </p:txBody>
      </p:sp>
    </p:spTree>
    <p:extLst>
      <p:ext uri="{BB962C8B-B14F-4D97-AF65-F5344CB8AC3E}">
        <p14:creationId xmlns:p14="http://schemas.microsoft.com/office/powerpoint/2010/main" val="24268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EEDF-777C-9B32-5179-18F1ADBCDC46}"/>
              </a:ext>
            </a:extLst>
          </p:cNvPr>
          <p:cNvSpPr>
            <a:spLocks noGrp="1"/>
          </p:cNvSpPr>
          <p:nvPr>
            <p:ph type="title"/>
          </p:nvPr>
        </p:nvSpPr>
        <p:spPr/>
        <p:txBody>
          <a:bodyPr/>
          <a:lstStyle/>
          <a:p>
            <a:r>
              <a:rPr lang="en-US" dirty="0"/>
              <a:t>Approach in MBRL </a:t>
            </a:r>
            <a:endParaRPr lang="en-IN" dirty="0"/>
          </a:p>
        </p:txBody>
      </p:sp>
      <p:sp>
        <p:nvSpPr>
          <p:cNvPr id="3" name="Content Placeholder 2">
            <a:extLst>
              <a:ext uri="{FF2B5EF4-FFF2-40B4-BE49-F238E27FC236}">
                <a16:creationId xmlns:a16="http://schemas.microsoft.com/office/drawing/2014/main" id="{3E06F3A5-9928-37CF-439F-3E6AD3BF7EC5}"/>
              </a:ext>
            </a:extLst>
          </p:cNvPr>
          <p:cNvSpPr>
            <a:spLocks noGrp="1"/>
          </p:cNvSpPr>
          <p:nvPr>
            <p:ph idx="1"/>
          </p:nvPr>
        </p:nvSpPr>
        <p:spPr/>
        <p:txBody>
          <a:bodyPr/>
          <a:lstStyle/>
          <a:p>
            <a:r>
              <a:rPr lang="en-IN" b="0" i="0" dirty="0">
                <a:solidFill>
                  <a:srgbClr val="0D0D0D"/>
                </a:solidFill>
                <a:effectLst/>
                <a:highlight>
                  <a:srgbClr val="FFFFFF"/>
                </a:highlight>
                <a:latin typeface="Söhne"/>
              </a:rPr>
              <a:t>1. </a:t>
            </a:r>
            <a:r>
              <a:rPr lang="en-IN" b="1" i="0" dirty="0">
                <a:solidFill>
                  <a:srgbClr val="0D0D0D"/>
                </a:solidFill>
                <a:effectLst/>
                <a:highlight>
                  <a:srgbClr val="FFFFFF"/>
                </a:highlight>
                <a:latin typeface="Söhne"/>
              </a:rPr>
              <a:t>Model Learning</a:t>
            </a:r>
            <a:r>
              <a:rPr lang="en-IN" b="0" i="0" dirty="0">
                <a:solidFill>
                  <a:srgbClr val="0D0D0D"/>
                </a:solidFill>
                <a:effectLst/>
                <a:highlight>
                  <a:srgbClr val="FFFFFF"/>
                </a:highlight>
                <a:latin typeface="Söhne"/>
              </a:rPr>
              <a:t>:</a:t>
            </a:r>
          </a:p>
          <a:p>
            <a:pPr lvl="1"/>
            <a:r>
              <a:rPr lang="en-IN">
                <a:solidFill>
                  <a:srgbClr val="0D0D0D"/>
                </a:solidFill>
                <a:highlight>
                  <a:srgbClr val="FFFFFF"/>
                </a:highlight>
                <a:latin typeface="Söhne"/>
              </a:rPr>
              <a:t>Implicit - </a:t>
            </a:r>
            <a:r>
              <a:rPr lang="en-IN" b="0" i="0">
                <a:solidFill>
                  <a:srgbClr val="0D0D0D"/>
                </a:solidFill>
                <a:effectLst/>
                <a:highlight>
                  <a:srgbClr val="FFFFFF"/>
                </a:highlight>
                <a:latin typeface="Söhne"/>
              </a:rPr>
              <a:t>Indirectly learning models, often through latent variable representations or embeddings.</a:t>
            </a:r>
            <a:endParaRPr lang="en-IN" dirty="0">
              <a:solidFill>
                <a:srgbClr val="0D0D0D"/>
              </a:solidFill>
              <a:highlight>
                <a:srgbClr val="FFFFFF"/>
              </a:highlight>
              <a:latin typeface="Söhne"/>
            </a:endParaRPr>
          </a:p>
          <a:p>
            <a:pPr lvl="1"/>
            <a:r>
              <a:rPr lang="en-IN" b="0" i="0" dirty="0">
                <a:solidFill>
                  <a:srgbClr val="0D0D0D"/>
                </a:solidFill>
                <a:effectLst/>
                <a:highlight>
                  <a:srgbClr val="FFFFFF"/>
                </a:highlight>
                <a:latin typeface="Söhne"/>
              </a:rPr>
              <a:t>Explicit- Directly learning the dynamics of the environment (e.g., using neural networks or Gaussian processes).</a:t>
            </a:r>
          </a:p>
          <a:p>
            <a:r>
              <a:rPr lang="en-IN" dirty="0">
                <a:solidFill>
                  <a:srgbClr val="0D0D0D"/>
                </a:solidFill>
                <a:highlight>
                  <a:srgbClr val="FFFFFF"/>
                </a:highlight>
                <a:latin typeface="Söhne"/>
              </a:rPr>
              <a:t>2. </a:t>
            </a:r>
            <a:r>
              <a:rPr lang="en-IN" b="1" i="0" dirty="0">
                <a:solidFill>
                  <a:srgbClr val="0D0D0D"/>
                </a:solidFill>
                <a:effectLst/>
                <a:highlight>
                  <a:srgbClr val="FFFFFF"/>
                </a:highlight>
                <a:latin typeface="Söhne"/>
              </a:rPr>
              <a:t>Planning Algorithms</a:t>
            </a:r>
            <a:r>
              <a:rPr lang="en-IN" b="0" i="0" dirty="0">
                <a:solidFill>
                  <a:srgbClr val="0D0D0D"/>
                </a:solidFill>
                <a:effectLst/>
                <a:highlight>
                  <a:srgbClr val="FFFFFF"/>
                </a:highlight>
                <a:latin typeface="Söhne"/>
              </a:rPr>
              <a:t>:</a:t>
            </a:r>
          </a:p>
          <a:p>
            <a:pPr lvl="1"/>
            <a:r>
              <a:rPr lang="en-IN" b="0" i="0" dirty="0">
                <a:solidFill>
                  <a:srgbClr val="0D0D0D"/>
                </a:solidFill>
                <a:effectLst/>
                <a:highlight>
                  <a:srgbClr val="FFFFFF"/>
                </a:highlight>
                <a:latin typeface="Söhne"/>
              </a:rPr>
              <a:t>Planning involves using the model to simulate multiple future scenarios, enabling the agent to choose actions that maximize long-term rewards.</a:t>
            </a:r>
          </a:p>
          <a:p>
            <a:pPr lvl="1"/>
            <a:endParaRPr lang="en-IN" b="0" i="0" dirty="0">
              <a:solidFill>
                <a:srgbClr val="0D0D0D"/>
              </a:solidFill>
              <a:effectLst/>
              <a:highlight>
                <a:srgbClr val="FFFFFF"/>
              </a:highlight>
              <a:latin typeface="Söhne"/>
            </a:endParaRPr>
          </a:p>
          <a:p>
            <a:r>
              <a:rPr lang="en-IN" dirty="0">
                <a:solidFill>
                  <a:srgbClr val="0D0D0D"/>
                </a:solidFill>
                <a:highlight>
                  <a:srgbClr val="FFFFFF"/>
                </a:highlight>
                <a:latin typeface="Söhne"/>
              </a:rPr>
              <a:t>3. </a:t>
            </a:r>
            <a:r>
              <a:rPr lang="en-IN" b="1" dirty="0">
                <a:solidFill>
                  <a:srgbClr val="0D0D0D"/>
                </a:solidFill>
                <a:highlight>
                  <a:srgbClr val="FFFFFF"/>
                </a:highlight>
                <a:latin typeface="Söhne"/>
              </a:rPr>
              <a:t>Hybrid Approach</a:t>
            </a:r>
            <a:endParaRPr lang="en-IN" dirty="0">
              <a:solidFill>
                <a:srgbClr val="0D0D0D"/>
              </a:solidFill>
              <a:highlight>
                <a:srgbClr val="FFFFFF"/>
              </a:highlight>
              <a:latin typeface="Söhne"/>
            </a:endParaRPr>
          </a:p>
          <a:p>
            <a:pPr lvl="1"/>
            <a:r>
              <a:rPr lang="en-IN" b="0" i="0" dirty="0">
                <a:solidFill>
                  <a:srgbClr val="0D0D0D"/>
                </a:solidFill>
                <a:effectLst/>
                <a:highlight>
                  <a:srgbClr val="FFFFFF"/>
                </a:highlight>
                <a:latin typeface="Söhne"/>
              </a:rPr>
              <a:t>Combining MBRL with model-free methods can leverage the strengths of both approaches. </a:t>
            </a:r>
            <a:endParaRPr lang="en-IN" b="1" i="0" dirty="0">
              <a:solidFill>
                <a:srgbClr val="0D0D0D"/>
              </a:solidFill>
              <a:effectLst/>
              <a:highlight>
                <a:srgbClr val="FFFFFF"/>
              </a:highlight>
              <a:latin typeface="Söhne"/>
            </a:endParaRPr>
          </a:p>
          <a:p>
            <a:endParaRPr lang="en-IN" dirty="0">
              <a:solidFill>
                <a:srgbClr val="0D0D0D"/>
              </a:solidFill>
              <a:highlight>
                <a:srgbClr val="FFFFFF"/>
              </a:highlight>
              <a:latin typeface="Söhne"/>
            </a:endParaRPr>
          </a:p>
          <a:p>
            <a:endParaRPr lang="en-IN" dirty="0"/>
          </a:p>
        </p:txBody>
      </p:sp>
    </p:spTree>
    <p:extLst>
      <p:ext uri="{BB962C8B-B14F-4D97-AF65-F5344CB8AC3E}">
        <p14:creationId xmlns:p14="http://schemas.microsoft.com/office/powerpoint/2010/main" val="109073366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8228</TotalTime>
  <Words>2663</Words>
  <Application>Microsoft Office PowerPoint</Application>
  <PresentationFormat>Widescreen</PresentationFormat>
  <Paragraphs>188</Paragraphs>
  <Slides>49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AmazonEmber</vt:lpstr>
      <vt:lpstr>Arial</vt:lpstr>
      <vt:lpstr>Calibri</vt:lpstr>
      <vt:lpstr>Google Sans</vt:lpstr>
      <vt:lpstr>inter-bold</vt:lpstr>
      <vt:lpstr>inter-regular</vt:lpstr>
      <vt:lpstr>Nunito</vt:lpstr>
      <vt:lpstr>Söhne</vt:lpstr>
      <vt:lpstr>Trebuchet MS</vt:lpstr>
      <vt:lpstr>Wingdings 3</vt:lpstr>
      <vt:lpstr>Facet</vt:lpstr>
      <vt:lpstr>Semi Supervised Learning,</vt:lpstr>
      <vt:lpstr>Semi Supervised Learning</vt:lpstr>
      <vt:lpstr>Examples of Semi-Supervised Learning</vt:lpstr>
      <vt:lpstr>Reinforcement Learning</vt:lpstr>
      <vt:lpstr>PowerPoint Presentation</vt:lpstr>
      <vt:lpstr>Types of Reinforcement: </vt:lpstr>
      <vt:lpstr>Types of Reinforcement: </vt:lpstr>
      <vt:lpstr>PowerPoint Presentation</vt:lpstr>
      <vt:lpstr>PowerPoint Presentation</vt:lpstr>
      <vt:lpstr>Markov Decision Process</vt:lpstr>
      <vt:lpstr>PowerPoint Presentation</vt:lpstr>
      <vt:lpstr>PowerPoint Presentation</vt:lpstr>
      <vt:lpstr>Markov Property</vt:lpstr>
      <vt:lpstr>PowerPoint Presentation</vt:lpstr>
      <vt:lpstr>Bellman Equation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Policy Evolution using Monte Carlo</vt:lpstr>
      <vt:lpstr>How Monte Carlo Policy Evaluation Works?</vt:lpstr>
      <vt:lpstr>PowerPoint Presentation</vt:lpstr>
      <vt:lpstr>PowerPoint Presentation</vt:lpstr>
      <vt:lpstr>Conclusion</vt:lpstr>
      <vt:lpstr>Q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SARSA </vt:lpstr>
      <vt:lpstr>Explanation of SARSA:</vt:lpstr>
      <vt:lpstr>Explanation of SARSA:</vt:lpstr>
      <vt:lpstr>Equation</vt:lpstr>
      <vt:lpstr>Code Snippet</vt:lpstr>
      <vt:lpstr>Output</vt:lpstr>
      <vt:lpstr>Model Based Reinforcement Learning</vt:lpstr>
      <vt:lpstr>PowerPoint Presentation</vt:lpstr>
      <vt:lpstr>PowerPoint Presentation</vt:lpstr>
      <vt:lpstr>Approach in MBRL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Supervised Learning,</dc:title>
  <dc:creator>ankit taneja</dc:creator>
  <cp:lastModifiedBy>ankit taneja</cp:lastModifiedBy>
  <cp:revision>124</cp:revision>
  <dcterms:created xsi:type="dcterms:W3CDTF">2024-05-02T03:53:39Z</dcterms:created>
  <dcterms:modified xsi:type="dcterms:W3CDTF">2024-05-21T04:40:04Z</dcterms:modified>
</cp:coreProperties>
</file>