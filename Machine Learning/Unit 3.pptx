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52"/>
  </p:notesMasterIdLst>
  <p:sldIdLst>
    <p:sldId id="256" r:id="rId2"/>
    <p:sldId id="257" r:id="rId3"/>
    <p:sldId id="258" r:id="rId4"/>
    <p:sldId id="259" r:id="rId5"/>
    <p:sldId id="263" r:id="rId6"/>
    <p:sldId id="260" r:id="rId7"/>
    <p:sldId id="261" r:id="rId8"/>
    <p:sldId id="262" r:id="rId9"/>
    <p:sldId id="264" r:id="rId10"/>
    <p:sldId id="267" r:id="rId11"/>
    <p:sldId id="265" r:id="rId12"/>
    <p:sldId id="268" r:id="rId13"/>
    <p:sldId id="266" r:id="rId14"/>
    <p:sldId id="269" r:id="rId15"/>
    <p:sldId id="270" r:id="rId16"/>
    <p:sldId id="271" r:id="rId17"/>
    <p:sldId id="272" r:id="rId18"/>
    <p:sldId id="273" r:id="rId19"/>
    <p:sldId id="274" r:id="rId20"/>
    <p:sldId id="275" r:id="rId21"/>
    <p:sldId id="276" r:id="rId22"/>
    <p:sldId id="278" r:id="rId23"/>
    <p:sldId id="279" r:id="rId24"/>
    <p:sldId id="277" r:id="rId25"/>
    <p:sldId id="280" r:id="rId26"/>
    <p:sldId id="282" r:id="rId27"/>
    <p:sldId id="281" r:id="rId28"/>
    <p:sldId id="283" r:id="rId29"/>
    <p:sldId id="284" r:id="rId30"/>
    <p:sldId id="286"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4" r:id="rId48"/>
    <p:sldId id="305" r:id="rId49"/>
    <p:sldId id="302" r:id="rId50"/>
    <p:sldId id="303"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19559-8868-4340-A380-2476BF4BD170}" type="datetimeFigureOut">
              <a:rPr lang="en-IN" smtClean="0"/>
              <a:t>01-05-2024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7EDB99-6880-4A2F-9D93-1596E83CD30A}" type="slidenum">
              <a:rPr lang="en-IN" smtClean="0"/>
              <a:t>‹#›</a:t>
            </a:fld>
            <a:endParaRPr lang="en-IN"/>
          </a:p>
        </p:txBody>
      </p:sp>
    </p:spTree>
    <p:extLst>
      <p:ext uri="{BB962C8B-B14F-4D97-AF65-F5344CB8AC3E}">
        <p14:creationId xmlns:p14="http://schemas.microsoft.com/office/powerpoint/2010/main" val="4134617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https://arismuhandisin.medium.com/understanding-wrapper-methods-in-machine-learning-a-guide-to-feature-selection-23f71059abf8</a:t>
            </a:r>
          </a:p>
        </p:txBody>
      </p:sp>
      <p:sp>
        <p:nvSpPr>
          <p:cNvPr id="4" name="Slide Number Placeholder 3"/>
          <p:cNvSpPr>
            <a:spLocks noGrp="1"/>
          </p:cNvSpPr>
          <p:nvPr>
            <p:ph type="sldNum" sz="quarter" idx="5"/>
          </p:nvPr>
        </p:nvSpPr>
        <p:spPr/>
        <p:txBody>
          <a:bodyPr/>
          <a:lstStyle/>
          <a:p>
            <a:fld id="{757EDB99-6880-4A2F-9D93-1596E83CD30A}" type="slidenum">
              <a:rPr lang="en-IN" smtClean="0"/>
              <a:t>28</a:t>
            </a:fld>
            <a:endParaRPr lang="en-IN"/>
          </a:p>
        </p:txBody>
      </p:sp>
    </p:spTree>
    <p:extLst>
      <p:ext uri="{BB962C8B-B14F-4D97-AF65-F5344CB8AC3E}">
        <p14:creationId xmlns:p14="http://schemas.microsoft.com/office/powerpoint/2010/main" val="2642221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410007"/>
                </a:solidFill>
                <a:effectLst/>
                <a:highlight>
                  <a:srgbClr val="FFFFFF"/>
                </a:highlight>
                <a:latin typeface="Google Sans"/>
              </a:rPr>
              <a:t>In machine learning, overfitting occurs </a:t>
            </a:r>
            <a:r>
              <a:rPr lang="en-IN" dirty="0"/>
              <a:t>when a model learns the training data too well, including its noise and outliers, resulting in poor performance on unseen data</a:t>
            </a:r>
            <a:r>
              <a:rPr lang="en-IN" b="0" i="0" dirty="0">
                <a:solidFill>
                  <a:srgbClr val="410007"/>
                </a:solidFill>
                <a:effectLst/>
                <a:highlight>
                  <a:srgbClr val="FFFFFF"/>
                </a:highlight>
                <a:latin typeface="Google Sans"/>
              </a:rPr>
              <a:t>.</a:t>
            </a:r>
            <a:endParaRPr lang="en-IN" dirty="0"/>
          </a:p>
        </p:txBody>
      </p:sp>
      <p:sp>
        <p:nvSpPr>
          <p:cNvPr id="4" name="Slide Number Placeholder 3"/>
          <p:cNvSpPr>
            <a:spLocks noGrp="1"/>
          </p:cNvSpPr>
          <p:nvPr>
            <p:ph type="sldNum" sz="quarter" idx="5"/>
          </p:nvPr>
        </p:nvSpPr>
        <p:spPr/>
        <p:txBody>
          <a:bodyPr/>
          <a:lstStyle/>
          <a:p>
            <a:fld id="{757EDB99-6880-4A2F-9D93-1596E83CD30A}" type="slidenum">
              <a:rPr lang="en-IN" smtClean="0"/>
              <a:t>42</a:t>
            </a:fld>
            <a:endParaRPr lang="en-IN"/>
          </a:p>
        </p:txBody>
      </p:sp>
    </p:spTree>
    <p:extLst>
      <p:ext uri="{BB962C8B-B14F-4D97-AF65-F5344CB8AC3E}">
        <p14:creationId xmlns:p14="http://schemas.microsoft.com/office/powerpoint/2010/main" val="1350967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410839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77204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23788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CC741A-AEEA-4775-A6F0-AE296BD22E38}"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1741295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CC741A-AEEA-4775-A6F0-AE296BD22E38}" type="datetimeFigureOut">
              <a:rPr lang="en-IN" smtClean="0"/>
              <a:t>01-05-2024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1247305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CC741A-AEEA-4775-A6F0-AE296BD22E38}" type="datetimeFigureOut">
              <a:rPr lang="en-IN" smtClean="0"/>
              <a:t>01-05-2024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3420306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CC741A-AEEA-4775-A6F0-AE296BD22E38}" type="datetimeFigureOut">
              <a:rPr lang="en-IN" smtClean="0"/>
              <a:t>01-05-2024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520491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CC741A-AEEA-4775-A6F0-AE296BD22E38}"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2967591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CC741A-AEEA-4775-A6F0-AE296BD22E38}" type="datetimeFigureOut">
              <a:rPr lang="en-IN" smtClean="0"/>
              <a:t>01-05-2024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566652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1092623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13811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216429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13062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3846397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3209716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CC741A-AEEA-4775-A6F0-AE296BD22E38}" type="datetimeFigureOut">
              <a:rPr lang="en-IN" smtClean="0"/>
              <a:t>01-05-2024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60B704-D964-49F7-956F-DD657B412E3D}" type="slidenum">
              <a:rPr lang="en-IN" smtClean="0"/>
              <a:t>‹#›</a:t>
            </a:fld>
            <a:endParaRPr lang="en-IN"/>
          </a:p>
        </p:txBody>
      </p:sp>
    </p:spTree>
    <p:extLst>
      <p:ext uri="{BB962C8B-B14F-4D97-AF65-F5344CB8AC3E}">
        <p14:creationId xmlns:p14="http://schemas.microsoft.com/office/powerpoint/2010/main" val="634013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FCC741A-AEEA-4775-A6F0-AE296BD22E38}" type="datetimeFigureOut">
              <a:rPr lang="en-IN" smtClean="0"/>
              <a:t>01-05-2024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B460B704-D964-49F7-956F-DD657B412E3D}" type="slidenum">
              <a:rPr lang="en-IN" smtClean="0"/>
              <a:t>‹#›</a:t>
            </a:fld>
            <a:endParaRPr lang="en-IN"/>
          </a:p>
        </p:txBody>
      </p:sp>
    </p:spTree>
    <p:extLst>
      <p:ext uri="{BB962C8B-B14F-4D97-AF65-F5344CB8AC3E}">
        <p14:creationId xmlns:p14="http://schemas.microsoft.com/office/powerpoint/2010/main" val="275621787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6AFD-BC97-CF19-F2CC-305663CD9784}"/>
              </a:ext>
            </a:extLst>
          </p:cNvPr>
          <p:cNvSpPr>
            <a:spLocks noGrp="1"/>
          </p:cNvSpPr>
          <p:nvPr>
            <p:ph type="ctrTitle"/>
          </p:nvPr>
        </p:nvSpPr>
        <p:spPr/>
        <p:txBody>
          <a:bodyPr/>
          <a:lstStyle/>
          <a:p>
            <a:r>
              <a:rPr lang="en-US" dirty="0"/>
              <a:t>Statistical Learning </a:t>
            </a:r>
            <a:endParaRPr lang="en-IN" dirty="0"/>
          </a:p>
        </p:txBody>
      </p:sp>
      <p:sp>
        <p:nvSpPr>
          <p:cNvPr id="3" name="Subtitle 2">
            <a:extLst>
              <a:ext uri="{FF2B5EF4-FFF2-40B4-BE49-F238E27FC236}">
                <a16:creationId xmlns:a16="http://schemas.microsoft.com/office/drawing/2014/main" id="{AC8AA5B5-ADD5-030F-4FF3-65AC1773141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00725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52CA-68DA-CB7A-FE1A-891C8D4B6C54}"/>
              </a:ext>
            </a:extLst>
          </p:cNvPr>
          <p:cNvSpPr>
            <a:spLocks noGrp="1"/>
          </p:cNvSpPr>
          <p:nvPr>
            <p:ph type="title"/>
          </p:nvPr>
        </p:nvSpPr>
        <p:spPr/>
        <p:txBody>
          <a:bodyPr/>
          <a:lstStyle/>
          <a:p>
            <a:r>
              <a:rPr lang="en-US" dirty="0"/>
              <a:t>Feature Extraction</a:t>
            </a:r>
            <a:endParaRPr lang="en-IN" dirty="0"/>
          </a:p>
        </p:txBody>
      </p:sp>
      <p:sp>
        <p:nvSpPr>
          <p:cNvPr id="3" name="Content Placeholder 2">
            <a:extLst>
              <a:ext uri="{FF2B5EF4-FFF2-40B4-BE49-F238E27FC236}">
                <a16:creationId xmlns:a16="http://schemas.microsoft.com/office/drawing/2014/main" id="{48A26C63-C5A0-366F-2732-76C313E9B1BC}"/>
              </a:ext>
            </a:extLst>
          </p:cNvPr>
          <p:cNvSpPr>
            <a:spLocks noGrp="1"/>
          </p:cNvSpPr>
          <p:nvPr>
            <p:ph idx="1"/>
          </p:nvPr>
        </p:nvSpPr>
        <p:spPr/>
        <p:txBody>
          <a:bodyPr/>
          <a:lstStyle/>
          <a:p>
            <a:r>
              <a:rPr lang="en-IN" b="0" i="0" dirty="0">
                <a:solidFill>
                  <a:srgbClr val="410007"/>
                </a:solidFill>
                <a:effectLst/>
                <a:highlight>
                  <a:srgbClr val="FFFFFF"/>
                </a:highlight>
                <a:latin typeface="Google Sans"/>
              </a:rPr>
              <a:t>Feature extraction is </a:t>
            </a:r>
            <a:r>
              <a:rPr lang="en-IN" dirty="0"/>
              <a:t>a machine learning and data analysis process that transforms raw data into numerical features</a:t>
            </a:r>
            <a:r>
              <a:rPr lang="en-IN" b="0" i="0" dirty="0">
                <a:solidFill>
                  <a:srgbClr val="410007"/>
                </a:solidFill>
                <a:effectLst/>
                <a:highlight>
                  <a:srgbClr val="FFFFFF"/>
                </a:highlight>
                <a:latin typeface="Google Sans"/>
              </a:rPr>
              <a:t>.</a:t>
            </a:r>
          </a:p>
          <a:p>
            <a:endParaRPr lang="en-IN" dirty="0">
              <a:solidFill>
                <a:srgbClr val="410007"/>
              </a:solidFill>
              <a:highlight>
                <a:srgbClr val="FFFFFF"/>
              </a:highlight>
              <a:latin typeface="Google Sans"/>
            </a:endParaRPr>
          </a:p>
          <a:p>
            <a:r>
              <a:rPr lang="en-IN" dirty="0"/>
              <a:t>Feature extraction refers to the process of transforming raw data into numerical features that can be processed while preserving the information in the original data set.</a:t>
            </a:r>
          </a:p>
          <a:p>
            <a:endParaRPr lang="en-IN" dirty="0"/>
          </a:p>
          <a:p>
            <a:r>
              <a:rPr lang="en-IN" dirty="0"/>
              <a:t>Feature extraction is a process used in machine learning to reduce the number of resources needed for processing without losing important or relevant information.</a:t>
            </a:r>
          </a:p>
        </p:txBody>
      </p:sp>
    </p:spTree>
    <p:extLst>
      <p:ext uri="{BB962C8B-B14F-4D97-AF65-F5344CB8AC3E}">
        <p14:creationId xmlns:p14="http://schemas.microsoft.com/office/powerpoint/2010/main" val="3669761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9A91-0602-77E7-4C31-0DF041F998C3}"/>
              </a:ext>
            </a:extLst>
          </p:cNvPr>
          <p:cNvSpPr>
            <a:spLocks noGrp="1"/>
          </p:cNvSpPr>
          <p:nvPr>
            <p:ph type="title"/>
          </p:nvPr>
        </p:nvSpPr>
        <p:spPr/>
        <p:txBody>
          <a:bodyPr/>
          <a:lstStyle/>
          <a:p>
            <a:r>
              <a:rPr lang="en-IN" dirty="0"/>
              <a:t>Why is Feature Extraction Important?</a:t>
            </a:r>
          </a:p>
        </p:txBody>
      </p:sp>
      <p:sp>
        <p:nvSpPr>
          <p:cNvPr id="3" name="Content Placeholder 2">
            <a:extLst>
              <a:ext uri="{FF2B5EF4-FFF2-40B4-BE49-F238E27FC236}">
                <a16:creationId xmlns:a16="http://schemas.microsoft.com/office/drawing/2014/main" id="{16045C19-6A11-47F2-D880-A39EEDDC0AD8}"/>
              </a:ext>
            </a:extLst>
          </p:cNvPr>
          <p:cNvSpPr>
            <a:spLocks noGrp="1"/>
          </p:cNvSpPr>
          <p:nvPr>
            <p:ph idx="1"/>
          </p:nvPr>
        </p:nvSpPr>
        <p:spPr/>
        <p:txBody>
          <a:bodyPr>
            <a:normAutofit fontScale="92500" lnSpcReduction="20000"/>
          </a:bodyPr>
          <a:lstStyle/>
          <a:p>
            <a:r>
              <a:rPr lang="en-IN" b="1" i="0" dirty="0">
                <a:solidFill>
                  <a:srgbClr val="101010"/>
                </a:solidFill>
                <a:effectLst/>
                <a:highlight>
                  <a:srgbClr val="FFFFFF"/>
                </a:highlight>
                <a:latin typeface="Helvetica Neue"/>
              </a:rPr>
              <a:t>Reduction of Computational Cost:</a:t>
            </a:r>
            <a:r>
              <a:rPr lang="en-IN" b="0" i="0" dirty="0">
                <a:solidFill>
                  <a:srgbClr val="101010"/>
                </a:solidFill>
                <a:effectLst/>
                <a:highlight>
                  <a:srgbClr val="FFFFFF"/>
                </a:highlight>
                <a:latin typeface="Helvetica Neue"/>
              </a:rPr>
              <a:t> By reducing the dimensionality of the data, machine learning algorithms can run more quickly. </a:t>
            </a:r>
          </a:p>
          <a:p>
            <a:endParaRPr lang="en-IN" dirty="0">
              <a:solidFill>
                <a:srgbClr val="101010"/>
              </a:solidFill>
              <a:highlight>
                <a:srgbClr val="FFFFFF"/>
              </a:highlight>
              <a:latin typeface="Helvetica Neue"/>
            </a:endParaRPr>
          </a:p>
          <a:p>
            <a:r>
              <a:rPr lang="en-IN" b="1" i="0" dirty="0">
                <a:solidFill>
                  <a:srgbClr val="101010"/>
                </a:solidFill>
                <a:effectLst/>
                <a:highlight>
                  <a:srgbClr val="FFFFFF"/>
                </a:highlight>
                <a:latin typeface="Helvetica Neue"/>
              </a:rPr>
              <a:t>Improved Performance:</a:t>
            </a:r>
            <a:r>
              <a:rPr lang="en-IN" b="0" i="0" dirty="0">
                <a:solidFill>
                  <a:srgbClr val="101010"/>
                </a:solidFill>
                <a:effectLst/>
                <a:highlight>
                  <a:srgbClr val="FFFFFF"/>
                </a:highlight>
                <a:latin typeface="Helvetica Neue"/>
              </a:rPr>
              <a:t> Algorithms often perform better with a reduced number of features. This is because noise and irrelevant details are removed, allowing the algorithm to focus on the most important aspects of the data.</a:t>
            </a:r>
          </a:p>
          <a:p>
            <a:endParaRPr lang="en-IN" dirty="0">
              <a:solidFill>
                <a:srgbClr val="101010"/>
              </a:solidFill>
              <a:highlight>
                <a:srgbClr val="FFFFFF"/>
              </a:highlight>
              <a:latin typeface="Helvetica Neue"/>
            </a:endParaRPr>
          </a:p>
          <a:p>
            <a:r>
              <a:rPr lang="en-IN" b="1" i="0" dirty="0">
                <a:solidFill>
                  <a:srgbClr val="101010"/>
                </a:solidFill>
                <a:effectLst/>
                <a:highlight>
                  <a:srgbClr val="FFFFFF"/>
                </a:highlight>
                <a:latin typeface="Helvetica Neue"/>
              </a:rPr>
              <a:t>Prevention of Overfitting:</a:t>
            </a:r>
            <a:r>
              <a:rPr lang="en-IN" b="0" i="0" dirty="0">
                <a:solidFill>
                  <a:srgbClr val="101010"/>
                </a:solidFill>
                <a:effectLst/>
                <a:highlight>
                  <a:srgbClr val="FFFFFF"/>
                </a:highlight>
                <a:latin typeface="Helvetica Neue"/>
              </a:rPr>
              <a:t> With too many features, models can become overfitted to the training data, meaning they may not generalize well to new, unseen data. Feature extraction helps to prevent this by simplifying the model.</a:t>
            </a:r>
          </a:p>
          <a:p>
            <a:endParaRPr lang="en-IN" dirty="0">
              <a:solidFill>
                <a:srgbClr val="101010"/>
              </a:solidFill>
              <a:highlight>
                <a:srgbClr val="FFFFFF"/>
              </a:highlight>
              <a:latin typeface="Helvetica Neue"/>
            </a:endParaRPr>
          </a:p>
          <a:p>
            <a:r>
              <a:rPr lang="en-IN" b="1" i="0" dirty="0">
                <a:solidFill>
                  <a:srgbClr val="101010"/>
                </a:solidFill>
                <a:effectLst/>
                <a:highlight>
                  <a:srgbClr val="FFFFFF"/>
                </a:highlight>
                <a:latin typeface="Helvetica Neue"/>
              </a:rPr>
              <a:t>Better Understanding of Data:</a:t>
            </a:r>
            <a:r>
              <a:rPr lang="en-IN" b="0" i="0" dirty="0">
                <a:solidFill>
                  <a:srgbClr val="101010"/>
                </a:solidFill>
                <a:effectLst/>
                <a:highlight>
                  <a:srgbClr val="FFFFFF"/>
                </a:highlight>
                <a:latin typeface="Helvetica Neue"/>
              </a:rPr>
              <a:t> Extracting and selecting important features can provide insights into the underlying processes that generated the data.</a:t>
            </a:r>
          </a:p>
          <a:p>
            <a:pPr marL="0" indent="0">
              <a:buNone/>
            </a:pPr>
            <a:endParaRPr lang="en-IN" dirty="0"/>
          </a:p>
        </p:txBody>
      </p:sp>
    </p:spTree>
    <p:extLst>
      <p:ext uri="{BB962C8B-B14F-4D97-AF65-F5344CB8AC3E}">
        <p14:creationId xmlns:p14="http://schemas.microsoft.com/office/powerpoint/2010/main" val="4267350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8F3F-E83D-F241-AC39-B6434203FEB5}"/>
              </a:ext>
            </a:extLst>
          </p:cNvPr>
          <p:cNvSpPr>
            <a:spLocks noGrp="1"/>
          </p:cNvSpPr>
          <p:nvPr>
            <p:ph type="title"/>
          </p:nvPr>
        </p:nvSpPr>
        <p:spPr/>
        <p:txBody>
          <a:bodyPr/>
          <a:lstStyle/>
          <a:p>
            <a:r>
              <a:rPr lang="en-US" dirty="0"/>
              <a:t>Principal Component Analysis</a:t>
            </a:r>
            <a:endParaRPr lang="en-IN" dirty="0"/>
          </a:p>
        </p:txBody>
      </p:sp>
      <p:sp>
        <p:nvSpPr>
          <p:cNvPr id="3" name="Content Placeholder 2">
            <a:extLst>
              <a:ext uri="{FF2B5EF4-FFF2-40B4-BE49-F238E27FC236}">
                <a16:creationId xmlns:a16="http://schemas.microsoft.com/office/drawing/2014/main" id="{19C2FA88-451B-4C08-B7F0-9681444097E6}"/>
              </a:ext>
            </a:extLst>
          </p:cNvPr>
          <p:cNvSpPr>
            <a:spLocks noGrp="1"/>
          </p:cNvSpPr>
          <p:nvPr>
            <p:ph idx="1"/>
          </p:nvPr>
        </p:nvSpPr>
        <p:spPr/>
        <p:txBody>
          <a:bodyPr/>
          <a:lstStyle/>
          <a:p>
            <a:r>
              <a:rPr lang="en-IN" dirty="0"/>
              <a:t>Principal Component Analysis is an unsupervised learning algorithm that is used for the dimensionality(or features) reduction in machine learning.</a:t>
            </a:r>
          </a:p>
          <a:p>
            <a:endParaRPr lang="en-IN" dirty="0"/>
          </a:p>
          <a:p>
            <a:r>
              <a:rPr lang="en-IN" dirty="0"/>
              <a:t>Dimensionality reduction in machine learning refers to the process of reducing the number of random variables (or features) under consideration. </a:t>
            </a:r>
          </a:p>
          <a:p>
            <a:endParaRPr lang="en-IN" dirty="0"/>
          </a:p>
          <a:p>
            <a:r>
              <a:rPr lang="en-IN" dirty="0"/>
              <a:t>This reduction can be achieved by obtaining a set of principal variables. </a:t>
            </a:r>
          </a:p>
          <a:p>
            <a:endParaRPr lang="en-IN" dirty="0"/>
          </a:p>
          <a:p>
            <a:r>
              <a:rPr lang="en-IN" dirty="0"/>
              <a:t>Dimensionality reduction can be used for feature selection, feature extraction, or a combination of the two.</a:t>
            </a:r>
          </a:p>
        </p:txBody>
      </p:sp>
    </p:spTree>
    <p:extLst>
      <p:ext uri="{BB962C8B-B14F-4D97-AF65-F5344CB8AC3E}">
        <p14:creationId xmlns:p14="http://schemas.microsoft.com/office/powerpoint/2010/main" val="836317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34F7-F5D5-9298-6112-F99DE9E3F2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7E0C13-EA74-DA70-9687-7EBBE7B75390}"/>
              </a:ext>
            </a:extLst>
          </p:cNvPr>
          <p:cNvSpPr>
            <a:spLocks noGrp="1"/>
          </p:cNvSpPr>
          <p:nvPr>
            <p:ph idx="1"/>
          </p:nvPr>
        </p:nvSpPr>
        <p:spPr/>
        <p:txBody>
          <a:bodyPr/>
          <a:lstStyle/>
          <a:p>
            <a:r>
              <a:rPr lang="en-IN" dirty="0"/>
              <a:t>Principal Component Analysis (PCA) is an unsupervised learning algorithm technique used to examine the interrelations among a set of variables. It is also known as a general factor analysis</a:t>
            </a:r>
          </a:p>
          <a:p>
            <a:pPr marL="0" indent="0">
              <a:buNone/>
            </a:pPr>
            <a:endParaRPr lang="en-IN" dirty="0"/>
          </a:p>
        </p:txBody>
      </p:sp>
    </p:spTree>
    <p:extLst>
      <p:ext uri="{BB962C8B-B14F-4D97-AF65-F5344CB8AC3E}">
        <p14:creationId xmlns:p14="http://schemas.microsoft.com/office/powerpoint/2010/main" val="267336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D522-84FD-EF28-B9AF-B50BBACDAA7F}"/>
              </a:ext>
            </a:extLst>
          </p:cNvPr>
          <p:cNvSpPr>
            <a:spLocks noGrp="1"/>
          </p:cNvSpPr>
          <p:nvPr>
            <p:ph type="title"/>
          </p:nvPr>
        </p:nvSpPr>
        <p:spPr/>
        <p:txBody>
          <a:bodyPr/>
          <a:lstStyle/>
          <a:p>
            <a:r>
              <a:rPr lang="en-US" dirty="0"/>
              <a:t>Principal Component Analysis</a:t>
            </a:r>
            <a:endParaRPr lang="en-IN" dirty="0"/>
          </a:p>
        </p:txBody>
      </p:sp>
      <p:sp>
        <p:nvSpPr>
          <p:cNvPr id="3" name="Content Placeholder 2">
            <a:extLst>
              <a:ext uri="{FF2B5EF4-FFF2-40B4-BE49-F238E27FC236}">
                <a16:creationId xmlns:a16="http://schemas.microsoft.com/office/drawing/2014/main" id="{80A7BBB2-CC8F-26AE-4CEA-0BB05DCD0AAC}"/>
              </a:ext>
            </a:extLst>
          </p:cNvPr>
          <p:cNvSpPr>
            <a:spLocks noGrp="1"/>
          </p:cNvSpPr>
          <p:nvPr>
            <p:ph idx="1"/>
          </p:nvPr>
        </p:nvSpPr>
        <p:spPr/>
        <p:txBody>
          <a:bodyPr/>
          <a:lstStyle/>
          <a:p>
            <a:r>
              <a:rPr lang="en-IN" dirty="0"/>
              <a:t>Principal Component Analysis (PCA) is a statistical procedure that uses an orthogonal transformation that converts a set of correlated variables to a set of uncorrelated variables.</a:t>
            </a:r>
          </a:p>
          <a:p>
            <a:endParaRPr lang="en-IN" dirty="0"/>
          </a:p>
          <a:p>
            <a:endParaRPr lang="en-IN" dirty="0"/>
          </a:p>
          <a:p>
            <a:r>
              <a:rPr lang="en-IN" b="1" i="0" dirty="0">
                <a:solidFill>
                  <a:srgbClr val="0D0D0D"/>
                </a:solidFill>
                <a:effectLst/>
                <a:highlight>
                  <a:srgbClr val="FFFFFF"/>
                </a:highlight>
                <a:latin typeface="Söhne"/>
              </a:rPr>
              <a:t>Set of Correlated Variables</a:t>
            </a:r>
            <a:r>
              <a:rPr lang="en-IN" b="0" i="0" dirty="0">
                <a:solidFill>
                  <a:srgbClr val="0D0D0D"/>
                </a:solidFill>
                <a:effectLst/>
                <a:highlight>
                  <a:srgbClr val="FFFFFF"/>
                </a:highlight>
                <a:latin typeface="Söhne"/>
              </a:rPr>
              <a:t>: </a:t>
            </a:r>
            <a:r>
              <a:rPr lang="en-IN" dirty="0"/>
              <a:t>PCA is typically applied to a dataset containing multiple correlated variables (features). The goal of PCA is to find a new set of variables (principal components) that are linear combinations of the original variables but are uncorrelated with each other.</a:t>
            </a:r>
          </a:p>
          <a:p>
            <a:endParaRPr lang="en-IN" dirty="0"/>
          </a:p>
          <a:p>
            <a:endParaRPr lang="en-IN" dirty="0"/>
          </a:p>
          <a:p>
            <a:endParaRPr lang="en-IN" dirty="0"/>
          </a:p>
        </p:txBody>
      </p:sp>
    </p:spTree>
    <p:extLst>
      <p:ext uri="{BB962C8B-B14F-4D97-AF65-F5344CB8AC3E}">
        <p14:creationId xmlns:p14="http://schemas.microsoft.com/office/powerpoint/2010/main" val="2092551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4B57-E4C4-3637-7112-A4A113D409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3909C6-E977-2240-20C8-D64E22F9D03D}"/>
              </a:ext>
            </a:extLst>
          </p:cNvPr>
          <p:cNvSpPr>
            <a:spLocks noGrp="1"/>
          </p:cNvSpPr>
          <p:nvPr>
            <p:ph idx="1"/>
          </p:nvPr>
        </p:nvSpPr>
        <p:spPr/>
        <p:txBody>
          <a:bodyPr/>
          <a:lstStyle/>
          <a:p>
            <a:r>
              <a:rPr lang="en-IN" b="1" i="0" dirty="0">
                <a:solidFill>
                  <a:srgbClr val="0D0D0D"/>
                </a:solidFill>
                <a:effectLst/>
                <a:highlight>
                  <a:srgbClr val="FFFFFF"/>
                </a:highlight>
                <a:latin typeface="Söhne"/>
              </a:rPr>
              <a:t>Uncorrelated Variables</a:t>
            </a:r>
            <a:r>
              <a:rPr lang="en-IN" b="0" i="0" dirty="0">
                <a:solidFill>
                  <a:srgbClr val="0D0D0D"/>
                </a:solidFill>
                <a:effectLst/>
                <a:highlight>
                  <a:srgbClr val="FFFFFF"/>
                </a:highlight>
                <a:latin typeface="Söhne"/>
              </a:rPr>
              <a:t>: </a:t>
            </a:r>
            <a:r>
              <a:rPr lang="en-IN" dirty="0"/>
              <a:t>The principal components derived from PCA are uncorrelated, which means that the covariance between any pair of principal components is zero.</a:t>
            </a:r>
          </a:p>
          <a:p>
            <a:endParaRPr lang="en-IN" dirty="0"/>
          </a:p>
          <a:p>
            <a:endParaRPr lang="en-IN" dirty="0"/>
          </a:p>
        </p:txBody>
      </p:sp>
    </p:spTree>
    <p:extLst>
      <p:ext uri="{BB962C8B-B14F-4D97-AF65-F5344CB8AC3E}">
        <p14:creationId xmlns:p14="http://schemas.microsoft.com/office/powerpoint/2010/main" val="2812241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D9C4-A245-8D2B-D2E8-1735CBD83C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DC260B3-A728-E031-C1E7-6A6DDF537DEE}"/>
              </a:ext>
            </a:extLst>
          </p:cNvPr>
          <p:cNvSpPr>
            <a:spLocks noGrp="1"/>
          </p:cNvSpPr>
          <p:nvPr>
            <p:ph idx="1"/>
          </p:nvPr>
        </p:nvSpPr>
        <p:spPr/>
        <p:txBody>
          <a:bodyPr/>
          <a:lstStyle/>
          <a:p>
            <a:pPr algn="just"/>
            <a:r>
              <a:rPr lang="en-IN" b="0" i="0" dirty="0">
                <a:solidFill>
                  <a:srgbClr val="333333"/>
                </a:solidFill>
                <a:effectLst/>
                <a:highlight>
                  <a:srgbClr val="FFFFFF"/>
                </a:highlight>
                <a:latin typeface="inter-regular"/>
              </a:rPr>
              <a:t>The PCA algorithm is based on some mathematical concepts such as:</a:t>
            </a:r>
          </a:p>
          <a:p>
            <a:pPr algn="just">
              <a:buFont typeface="Arial" panose="020B0604020202020204" pitchFamily="34" charset="0"/>
              <a:buChar char="•"/>
            </a:pPr>
            <a:r>
              <a:rPr lang="en-IN" b="0" i="0" dirty="0">
                <a:solidFill>
                  <a:srgbClr val="000000"/>
                </a:solidFill>
                <a:effectLst/>
                <a:highlight>
                  <a:srgbClr val="FFFFFF"/>
                </a:highlight>
                <a:latin typeface="inter-regular"/>
              </a:rPr>
              <a:t>Variance and Covariance</a:t>
            </a:r>
          </a:p>
          <a:p>
            <a:pPr algn="just">
              <a:buFont typeface="Arial" panose="020B0604020202020204" pitchFamily="34" charset="0"/>
              <a:buChar char="•"/>
            </a:pPr>
            <a:r>
              <a:rPr lang="en-IN" b="0" i="0" dirty="0">
                <a:solidFill>
                  <a:srgbClr val="000000"/>
                </a:solidFill>
                <a:effectLst/>
                <a:highlight>
                  <a:srgbClr val="FFFFFF"/>
                </a:highlight>
                <a:latin typeface="inter-regular"/>
              </a:rPr>
              <a:t>Eigenvalues and Eigen vectors</a:t>
            </a:r>
          </a:p>
          <a:p>
            <a:endParaRPr lang="en-IN" dirty="0"/>
          </a:p>
        </p:txBody>
      </p:sp>
    </p:spTree>
    <p:extLst>
      <p:ext uri="{BB962C8B-B14F-4D97-AF65-F5344CB8AC3E}">
        <p14:creationId xmlns:p14="http://schemas.microsoft.com/office/powerpoint/2010/main" val="2327702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EB287-9031-FB1A-27E0-095684CB53CC}"/>
              </a:ext>
            </a:extLst>
          </p:cNvPr>
          <p:cNvSpPr>
            <a:spLocks noGrp="1"/>
          </p:cNvSpPr>
          <p:nvPr>
            <p:ph type="title"/>
          </p:nvPr>
        </p:nvSpPr>
        <p:spPr/>
        <p:txBody>
          <a:bodyPr/>
          <a:lstStyle/>
          <a:p>
            <a:r>
              <a:rPr lang="en-IN" dirty="0"/>
              <a:t>STEP 1: Standardization</a:t>
            </a:r>
          </a:p>
        </p:txBody>
      </p:sp>
      <p:pic>
        <p:nvPicPr>
          <p:cNvPr id="5" name="Content Placeholder 4">
            <a:extLst>
              <a:ext uri="{FF2B5EF4-FFF2-40B4-BE49-F238E27FC236}">
                <a16:creationId xmlns:a16="http://schemas.microsoft.com/office/drawing/2014/main" id="{DBA73A0C-97D4-C3FE-3E14-9701D7EF51B7}"/>
              </a:ext>
            </a:extLst>
          </p:cNvPr>
          <p:cNvPicPr>
            <a:picLocks noGrp="1" noChangeAspect="1"/>
          </p:cNvPicPr>
          <p:nvPr>
            <p:ph idx="1"/>
          </p:nvPr>
        </p:nvPicPr>
        <p:blipFill>
          <a:blip r:embed="rId2"/>
          <a:stretch>
            <a:fillRect/>
          </a:stretch>
        </p:blipFill>
        <p:spPr>
          <a:xfrm>
            <a:off x="1549158" y="2145668"/>
            <a:ext cx="3905250" cy="1000125"/>
          </a:xfrm>
        </p:spPr>
      </p:pic>
      <p:pic>
        <p:nvPicPr>
          <p:cNvPr id="7" name="Picture 6">
            <a:extLst>
              <a:ext uri="{FF2B5EF4-FFF2-40B4-BE49-F238E27FC236}">
                <a16:creationId xmlns:a16="http://schemas.microsoft.com/office/drawing/2014/main" id="{D8F5C292-F02F-281B-25C5-AFAE9AF3EDC2}"/>
              </a:ext>
            </a:extLst>
          </p:cNvPr>
          <p:cNvPicPr>
            <a:picLocks noChangeAspect="1"/>
          </p:cNvPicPr>
          <p:nvPr/>
        </p:nvPicPr>
        <p:blipFill>
          <a:blip r:embed="rId3"/>
          <a:stretch>
            <a:fillRect/>
          </a:stretch>
        </p:blipFill>
        <p:spPr>
          <a:xfrm>
            <a:off x="2059150" y="3761663"/>
            <a:ext cx="2419350" cy="1123950"/>
          </a:xfrm>
          <a:prstGeom prst="rect">
            <a:avLst/>
          </a:prstGeom>
        </p:spPr>
      </p:pic>
    </p:spTree>
    <p:extLst>
      <p:ext uri="{BB962C8B-B14F-4D97-AF65-F5344CB8AC3E}">
        <p14:creationId xmlns:p14="http://schemas.microsoft.com/office/powerpoint/2010/main" val="1892864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53662-0032-BC66-8083-E7537D68DB1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39F923E-8DAB-0658-AC4D-A826AD5D46F6}"/>
              </a:ext>
            </a:extLst>
          </p:cNvPr>
          <p:cNvPicPr>
            <a:picLocks noGrp="1" noChangeAspect="1"/>
          </p:cNvPicPr>
          <p:nvPr>
            <p:ph idx="1"/>
          </p:nvPr>
        </p:nvPicPr>
        <p:blipFill>
          <a:blip r:embed="rId2"/>
          <a:stretch>
            <a:fillRect/>
          </a:stretch>
        </p:blipFill>
        <p:spPr>
          <a:xfrm>
            <a:off x="2074911" y="2221194"/>
            <a:ext cx="4021089" cy="3238105"/>
          </a:xfrm>
        </p:spPr>
      </p:pic>
    </p:spTree>
    <p:extLst>
      <p:ext uri="{BB962C8B-B14F-4D97-AF65-F5344CB8AC3E}">
        <p14:creationId xmlns:p14="http://schemas.microsoft.com/office/powerpoint/2010/main" val="4294478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C3D90-2A41-1CC5-7ABE-2830C8FB51FE}"/>
              </a:ext>
            </a:extLst>
          </p:cNvPr>
          <p:cNvSpPr>
            <a:spLocks noGrp="1"/>
          </p:cNvSpPr>
          <p:nvPr>
            <p:ph type="title"/>
          </p:nvPr>
        </p:nvSpPr>
        <p:spPr/>
        <p:txBody>
          <a:bodyPr/>
          <a:lstStyle/>
          <a:p>
            <a:r>
              <a:rPr lang="en-IN" dirty="0"/>
              <a:t>STEP 2: Covariance Matrix Computation</a:t>
            </a:r>
          </a:p>
        </p:txBody>
      </p:sp>
      <p:pic>
        <p:nvPicPr>
          <p:cNvPr id="5" name="Content Placeholder 4">
            <a:extLst>
              <a:ext uri="{FF2B5EF4-FFF2-40B4-BE49-F238E27FC236}">
                <a16:creationId xmlns:a16="http://schemas.microsoft.com/office/drawing/2014/main" id="{A863CF01-954B-AD94-850F-3654D6E358F3}"/>
              </a:ext>
            </a:extLst>
          </p:cNvPr>
          <p:cNvPicPr>
            <a:picLocks noGrp="1" noChangeAspect="1"/>
          </p:cNvPicPr>
          <p:nvPr>
            <p:ph idx="1"/>
          </p:nvPr>
        </p:nvPicPr>
        <p:blipFill>
          <a:blip r:embed="rId2"/>
          <a:stretch>
            <a:fillRect/>
          </a:stretch>
        </p:blipFill>
        <p:spPr>
          <a:xfrm>
            <a:off x="1710401" y="2767012"/>
            <a:ext cx="5019675" cy="1323975"/>
          </a:xfrm>
        </p:spPr>
      </p:pic>
    </p:spTree>
    <p:extLst>
      <p:ext uri="{BB962C8B-B14F-4D97-AF65-F5344CB8AC3E}">
        <p14:creationId xmlns:p14="http://schemas.microsoft.com/office/powerpoint/2010/main" val="107601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F542-98A7-9796-BD73-6069946D08B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2FC4E26-D7B3-EBFF-38FA-27654869DDB5}"/>
              </a:ext>
            </a:extLst>
          </p:cNvPr>
          <p:cNvPicPr>
            <a:picLocks noGrp="1" noChangeAspect="1"/>
          </p:cNvPicPr>
          <p:nvPr>
            <p:ph idx="1"/>
          </p:nvPr>
        </p:nvPicPr>
        <p:blipFill>
          <a:blip r:embed="rId2"/>
          <a:stretch>
            <a:fillRect/>
          </a:stretch>
        </p:blipFill>
        <p:spPr>
          <a:xfrm>
            <a:off x="2164702" y="2348239"/>
            <a:ext cx="4200023" cy="2579362"/>
          </a:xfrm>
        </p:spPr>
      </p:pic>
    </p:spTree>
    <p:extLst>
      <p:ext uri="{BB962C8B-B14F-4D97-AF65-F5344CB8AC3E}">
        <p14:creationId xmlns:p14="http://schemas.microsoft.com/office/powerpoint/2010/main" val="1281663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1E618-A620-656C-A587-63D226D1A46F}"/>
              </a:ext>
            </a:extLst>
          </p:cNvPr>
          <p:cNvSpPr>
            <a:spLocks noGrp="1"/>
          </p:cNvSpPr>
          <p:nvPr>
            <p:ph type="title"/>
          </p:nvPr>
        </p:nvSpPr>
        <p:spPr/>
        <p:txBody>
          <a:bodyPr>
            <a:normAutofit fontScale="90000"/>
          </a:bodyPr>
          <a:lstStyle/>
          <a:p>
            <a:r>
              <a:rPr lang="en-IN" dirty="0"/>
              <a:t>Step 3: Compute Eigenvalues and Eigenvectors of Covariance Matrix to Identify Principal Components</a:t>
            </a:r>
          </a:p>
        </p:txBody>
      </p:sp>
      <p:pic>
        <p:nvPicPr>
          <p:cNvPr id="5" name="Content Placeholder 4">
            <a:extLst>
              <a:ext uri="{FF2B5EF4-FFF2-40B4-BE49-F238E27FC236}">
                <a16:creationId xmlns:a16="http://schemas.microsoft.com/office/drawing/2014/main" id="{5DE6D9E6-B0CA-B186-6236-00EA280DEEE0}"/>
              </a:ext>
            </a:extLst>
          </p:cNvPr>
          <p:cNvPicPr>
            <a:picLocks noGrp="1" noChangeAspect="1"/>
          </p:cNvPicPr>
          <p:nvPr>
            <p:ph idx="1"/>
          </p:nvPr>
        </p:nvPicPr>
        <p:blipFill>
          <a:blip r:embed="rId2"/>
          <a:stretch>
            <a:fillRect/>
          </a:stretch>
        </p:blipFill>
        <p:spPr>
          <a:xfrm>
            <a:off x="1169412" y="2901820"/>
            <a:ext cx="6734475" cy="1623057"/>
          </a:xfrm>
        </p:spPr>
      </p:pic>
    </p:spTree>
    <p:extLst>
      <p:ext uri="{BB962C8B-B14F-4D97-AF65-F5344CB8AC3E}">
        <p14:creationId xmlns:p14="http://schemas.microsoft.com/office/powerpoint/2010/main" val="4132171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4CCFD-C9A9-CFC7-2075-99F6695F2687}"/>
              </a:ext>
            </a:extLst>
          </p:cNvPr>
          <p:cNvSpPr>
            <a:spLocks noGrp="1"/>
          </p:cNvSpPr>
          <p:nvPr>
            <p:ph type="title"/>
          </p:nvPr>
        </p:nvSpPr>
        <p:spPr/>
        <p:txBody>
          <a:bodyPr/>
          <a:lstStyle/>
          <a:p>
            <a:r>
              <a:rPr lang="en-US" dirty="0"/>
              <a:t>Singular Value Decomposition(SVD)</a:t>
            </a:r>
            <a:endParaRPr lang="en-IN" dirty="0"/>
          </a:p>
        </p:txBody>
      </p:sp>
      <p:sp>
        <p:nvSpPr>
          <p:cNvPr id="3" name="Content Placeholder 2">
            <a:extLst>
              <a:ext uri="{FF2B5EF4-FFF2-40B4-BE49-F238E27FC236}">
                <a16:creationId xmlns:a16="http://schemas.microsoft.com/office/drawing/2014/main" id="{675A7434-6B94-2978-4BBE-5A8C9F0FD061}"/>
              </a:ext>
            </a:extLst>
          </p:cNvPr>
          <p:cNvSpPr>
            <a:spLocks noGrp="1"/>
          </p:cNvSpPr>
          <p:nvPr>
            <p:ph idx="1"/>
          </p:nvPr>
        </p:nvSpPr>
        <p:spPr/>
        <p:txBody>
          <a:bodyPr/>
          <a:lstStyle/>
          <a:p>
            <a:r>
              <a:rPr lang="en-US" dirty="0"/>
              <a:t>The singular value decomposition(SVD) of a matrix is a factorization of that matrix into three matrices.</a:t>
            </a:r>
          </a:p>
          <a:p>
            <a:endParaRPr lang="en-US" dirty="0"/>
          </a:p>
          <a:p>
            <a:r>
              <a:rPr lang="en-IN" dirty="0"/>
              <a:t> Singular-value decomposition is also one of the popular dimensionality reduction techniques.</a:t>
            </a:r>
          </a:p>
          <a:p>
            <a:endParaRPr lang="en-IN" dirty="0"/>
          </a:p>
          <a:p>
            <a:r>
              <a:rPr lang="en-IN" dirty="0"/>
              <a:t>It is the matrix-factorization method of linear algebra, and it is widely used in different applications such as feature selection, visualization, noise reduction, and many more.</a:t>
            </a:r>
          </a:p>
          <a:p>
            <a:endParaRPr lang="en-IN" dirty="0"/>
          </a:p>
          <a:p>
            <a:endParaRPr lang="en-US" dirty="0"/>
          </a:p>
          <a:p>
            <a:endParaRPr lang="en-IN" dirty="0"/>
          </a:p>
        </p:txBody>
      </p:sp>
    </p:spTree>
    <p:extLst>
      <p:ext uri="{BB962C8B-B14F-4D97-AF65-F5344CB8AC3E}">
        <p14:creationId xmlns:p14="http://schemas.microsoft.com/office/powerpoint/2010/main" val="2477496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7AFB-DE56-FCE8-9A97-1E56E0D1A87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D97BD9C-816B-B46E-A2D0-C4D8B5B7640B}"/>
              </a:ext>
            </a:extLst>
          </p:cNvPr>
          <p:cNvPicPr>
            <a:picLocks noGrp="1" noChangeAspect="1"/>
          </p:cNvPicPr>
          <p:nvPr>
            <p:ph idx="1"/>
          </p:nvPr>
        </p:nvPicPr>
        <p:blipFill>
          <a:blip r:embed="rId2"/>
          <a:stretch>
            <a:fillRect/>
          </a:stretch>
        </p:blipFill>
        <p:spPr>
          <a:xfrm>
            <a:off x="677690" y="2299531"/>
            <a:ext cx="8596312" cy="2969069"/>
          </a:xfrm>
        </p:spPr>
      </p:pic>
    </p:spTree>
    <p:extLst>
      <p:ext uri="{BB962C8B-B14F-4D97-AF65-F5344CB8AC3E}">
        <p14:creationId xmlns:p14="http://schemas.microsoft.com/office/powerpoint/2010/main" val="1087111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8F770-D23F-8F01-4C5E-FC22B6B90CA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86BDD7E-ED07-A2FD-A8EB-3E9DEAA866CF}"/>
              </a:ext>
            </a:extLst>
          </p:cNvPr>
          <p:cNvPicPr>
            <a:picLocks noGrp="1" noChangeAspect="1"/>
          </p:cNvPicPr>
          <p:nvPr>
            <p:ph idx="1"/>
          </p:nvPr>
        </p:nvPicPr>
        <p:blipFill>
          <a:blip r:embed="rId2"/>
          <a:stretch>
            <a:fillRect/>
          </a:stretch>
        </p:blipFill>
        <p:spPr>
          <a:xfrm>
            <a:off x="677863" y="2300847"/>
            <a:ext cx="8596312" cy="3600919"/>
          </a:xfrm>
        </p:spPr>
      </p:pic>
    </p:spTree>
    <p:extLst>
      <p:ext uri="{BB962C8B-B14F-4D97-AF65-F5344CB8AC3E}">
        <p14:creationId xmlns:p14="http://schemas.microsoft.com/office/powerpoint/2010/main" val="508309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3F1E8-6A9A-F331-22F6-9B92707E87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2BB234-B11A-ADF2-E2C5-4C1269C9551C}"/>
              </a:ext>
            </a:extLst>
          </p:cNvPr>
          <p:cNvSpPr>
            <a:spLocks noGrp="1"/>
          </p:cNvSpPr>
          <p:nvPr>
            <p:ph idx="1"/>
          </p:nvPr>
        </p:nvSpPr>
        <p:spPr/>
        <p:txBody>
          <a:bodyPr/>
          <a:lstStyle/>
          <a:p>
            <a:r>
              <a:rPr lang="en-US" dirty="0"/>
              <a:t>Intensity Level of the image(Which is applicable in Discrete signal)</a:t>
            </a:r>
          </a:p>
          <a:p>
            <a:endParaRPr lang="en-US" dirty="0"/>
          </a:p>
          <a:p>
            <a:r>
              <a:rPr lang="en-IN"/>
              <a:t>Since </a:t>
            </a:r>
            <a:r>
              <a:rPr lang="en-IN" dirty="0"/>
              <a:t>an image is contiguous, the values of most pixels depend on the pixels around them. </a:t>
            </a:r>
          </a:p>
        </p:txBody>
      </p:sp>
    </p:spTree>
    <p:extLst>
      <p:ext uri="{BB962C8B-B14F-4D97-AF65-F5344CB8AC3E}">
        <p14:creationId xmlns:p14="http://schemas.microsoft.com/office/powerpoint/2010/main" val="172557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790B2-960F-41DD-43D3-7F1026CCF16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8AAABF2-0017-90FF-5532-56E53528D4AC}"/>
              </a:ext>
            </a:extLst>
          </p:cNvPr>
          <p:cNvPicPr>
            <a:picLocks noGrp="1" noChangeAspect="1"/>
          </p:cNvPicPr>
          <p:nvPr>
            <p:ph idx="1"/>
          </p:nvPr>
        </p:nvPicPr>
        <p:blipFill>
          <a:blip r:embed="rId2"/>
          <a:stretch>
            <a:fillRect/>
          </a:stretch>
        </p:blipFill>
        <p:spPr>
          <a:xfrm>
            <a:off x="2276670" y="1320158"/>
            <a:ext cx="4582988" cy="4721867"/>
          </a:xfrm>
        </p:spPr>
      </p:pic>
    </p:spTree>
    <p:extLst>
      <p:ext uri="{BB962C8B-B14F-4D97-AF65-F5344CB8AC3E}">
        <p14:creationId xmlns:p14="http://schemas.microsoft.com/office/powerpoint/2010/main" val="2154532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51DB2-91C3-1D57-ACC2-E8028BA42415}"/>
              </a:ext>
            </a:extLst>
          </p:cNvPr>
          <p:cNvSpPr>
            <a:spLocks noGrp="1"/>
          </p:cNvSpPr>
          <p:nvPr>
            <p:ph type="title"/>
          </p:nvPr>
        </p:nvSpPr>
        <p:spPr/>
        <p:txBody>
          <a:bodyPr/>
          <a:lstStyle/>
          <a:p>
            <a:r>
              <a:rPr lang="en-US" dirty="0"/>
              <a:t>Application of SVD</a:t>
            </a:r>
            <a:endParaRPr lang="en-IN" dirty="0"/>
          </a:p>
        </p:txBody>
      </p:sp>
      <p:sp>
        <p:nvSpPr>
          <p:cNvPr id="3" name="Content Placeholder 2">
            <a:extLst>
              <a:ext uri="{FF2B5EF4-FFF2-40B4-BE49-F238E27FC236}">
                <a16:creationId xmlns:a16="http://schemas.microsoft.com/office/drawing/2014/main" id="{D9984533-FE0A-A5B8-0142-C4961725AB63}"/>
              </a:ext>
            </a:extLst>
          </p:cNvPr>
          <p:cNvSpPr>
            <a:spLocks noGrp="1"/>
          </p:cNvSpPr>
          <p:nvPr>
            <p:ph idx="1"/>
          </p:nvPr>
        </p:nvSpPr>
        <p:spPr/>
        <p:txBody>
          <a:bodyPr/>
          <a:lstStyle/>
          <a:p>
            <a:r>
              <a:rPr lang="en-IN" b="0" i="0" dirty="0">
                <a:solidFill>
                  <a:srgbClr val="383838"/>
                </a:solidFill>
                <a:effectLst/>
                <a:highlight>
                  <a:srgbClr val="FFFFFF"/>
                </a:highlight>
                <a:latin typeface="Inter"/>
              </a:rPr>
              <a:t>Image Recovery</a:t>
            </a:r>
          </a:p>
          <a:p>
            <a:endParaRPr lang="en-IN" dirty="0"/>
          </a:p>
          <a:p>
            <a:r>
              <a:rPr lang="en-IN" b="0" i="0">
                <a:solidFill>
                  <a:srgbClr val="383838"/>
                </a:solidFill>
                <a:effectLst/>
                <a:highlight>
                  <a:srgbClr val="FFFFFF"/>
                </a:highlight>
                <a:latin typeface="Inter"/>
              </a:rPr>
              <a:t>Image Compression</a:t>
            </a:r>
          </a:p>
          <a:p>
            <a:endParaRPr lang="en-IN"/>
          </a:p>
        </p:txBody>
      </p:sp>
    </p:spTree>
    <p:extLst>
      <p:ext uri="{BB962C8B-B14F-4D97-AF65-F5344CB8AC3E}">
        <p14:creationId xmlns:p14="http://schemas.microsoft.com/office/powerpoint/2010/main" val="3755233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E58A3-CAF9-A7E2-5D1E-8528E9A7D212}"/>
              </a:ext>
            </a:extLst>
          </p:cNvPr>
          <p:cNvSpPr>
            <a:spLocks noGrp="1"/>
          </p:cNvSpPr>
          <p:nvPr>
            <p:ph type="title"/>
          </p:nvPr>
        </p:nvSpPr>
        <p:spPr/>
        <p:txBody>
          <a:bodyPr/>
          <a:lstStyle/>
          <a:p>
            <a:r>
              <a:rPr lang="en-US" dirty="0"/>
              <a:t>Feature Selection</a:t>
            </a:r>
            <a:endParaRPr lang="en-IN" dirty="0"/>
          </a:p>
        </p:txBody>
      </p:sp>
      <p:sp>
        <p:nvSpPr>
          <p:cNvPr id="3" name="Content Placeholder 2">
            <a:extLst>
              <a:ext uri="{FF2B5EF4-FFF2-40B4-BE49-F238E27FC236}">
                <a16:creationId xmlns:a16="http://schemas.microsoft.com/office/drawing/2014/main" id="{86A3D470-81CC-4E28-F6C1-6FDCED2D12FF}"/>
              </a:ext>
            </a:extLst>
          </p:cNvPr>
          <p:cNvSpPr>
            <a:spLocks noGrp="1"/>
          </p:cNvSpPr>
          <p:nvPr>
            <p:ph idx="1"/>
          </p:nvPr>
        </p:nvSpPr>
        <p:spPr/>
        <p:txBody>
          <a:bodyPr/>
          <a:lstStyle/>
          <a:p>
            <a:r>
              <a:rPr lang="en-IN" b="0" i="0" dirty="0">
                <a:solidFill>
                  <a:srgbClr val="333333"/>
                </a:solidFill>
                <a:effectLst/>
                <a:highlight>
                  <a:srgbClr val="FFFFFF"/>
                </a:highlight>
                <a:latin typeface="inter-regular"/>
              </a:rPr>
              <a:t>While developing the machine learning model, only a few variables in the dataset are useful for building the model, and the rest features are either redundant or irrelevant.</a:t>
            </a:r>
          </a:p>
          <a:p>
            <a:pPr marL="0" indent="0">
              <a:buNone/>
            </a:pPr>
            <a:endParaRPr lang="en-IN" b="0" i="0" dirty="0">
              <a:solidFill>
                <a:srgbClr val="333333"/>
              </a:solidFill>
              <a:effectLst/>
              <a:highlight>
                <a:srgbClr val="FFFFFF"/>
              </a:highlight>
              <a:latin typeface="inter-regular"/>
            </a:endParaRPr>
          </a:p>
          <a:p>
            <a:r>
              <a:rPr lang="en-IN" b="0" i="0" dirty="0">
                <a:solidFill>
                  <a:srgbClr val="333333"/>
                </a:solidFill>
                <a:effectLst/>
                <a:highlight>
                  <a:srgbClr val="FFFFFF"/>
                </a:highlight>
                <a:latin typeface="inter-regular"/>
              </a:rPr>
              <a:t> If we input the dataset with all these redundant and irrelevant features, it may negatively impact and reduce the overall performance and accuracy of the model.</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A feature is an attribute that has an impact on a problem or is useful for the problem, and choosing the important features for the model is known as feature selection. </a:t>
            </a:r>
          </a:p>
          <a:p>
            <a:endParaRPr lang="en-IN" dirty="0"/>
          </a:p>
        </p:txBody>
      </p:sp>
    </p:spTree>
    <p:extLst>
      <p:ext uri="{BB962C8B-B14F-4D97-AF65-F5344CB8AC3E}">
        <p14:creationId xmlns:p14="http://schemas.microsoft.com/office/powerpoint/2010/main" val="2101428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9FF4-B286-8123-49DB-82AAE72AEC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6D6E39-128C-A161-F908-DA85B9F8D7E4}"/>
              </a:ext>
            </a:extLst>
          </p:cNvPr>
          <p:cNvSpPr>
            <a:spLocks noGrp="1"/>
          </p:cNvSpPr>
          <p:nvPr>
            <p:ph idx="1"/>
          </p:nvPr>
        </p:nvSpPr>
        <p:spPr/>
        <p:txBody>
          <a:bodyPr/>
          <a:lstStyle/>
          <a:p>
            <a:r>
              <a:rPr lang="en-IN" b="0" i="0" dirty="0">
                <a:solidFill>
                  <a:srgbClr val="333333"/>
                </a:solidFill>
                <a:effectLst/>
                <a:highlight>
                  <a:srgbClr val="FFFFFF"/>
                </a:highlight>
                <a:latin typeface="inter-regular"/>
              </a:rPr>
              <a:t>The main difference between them is that feature selection is about selecting the subset of the original feature set, whereas feature extraction creates new features.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Feature selection is a way of reducing the input variable for the model by using only relevant data to reduce overfitting in the model.</a:t>
            </a:r>
          </a:p>
          <a:p>
            <a:endParaRPr lang="en-IN" dirty="0">
              <a:solidFill>
                <a:srgbClr val="333333"/>
              </a:solidFill>
              <a:highlight>
                <a:srgbClr val="FFFFFF"/>
              </a:highlight>
              <a:latin typeface="inter-regular"/>
            </a:endParaRPr>
          </a:p>
          <a:p>
            <a:r>
              <a:rPr lang="en-IN" b="1" i="1" dirty="0">
                <a:solidFill>
                  <a:srgbClr val="333333"/>
                </a:solidFill>
                <a:effectLst/>
                <a:highlight>
                  <a:srgbClr val="FFFFFF"/>
                </a:highlight>
                <a:latin typeface="inter-bold"/>
              </a:rPr>
              <a:t>It is a process of automatically or manually selecting the subset of most appropriate and relevant features to be used in model building</a:t>
            </a:r>
            <a:r>
              <a:rPr lang="en-IN" b="0" i="0" dirty="0">
                <a:solidFill>
                  <a:srgbClr val="333333"/>
                </a:solidFill>
                <a:effectLst/>
                <a:highlight>
                  <a:srgbClr val="FFFFFF"/>
                </a:highlight>
                <a:latin typeface="inter-regular"/>
              </a:rPr>
              <a:t>.</a:t>
            </a:r>
            <a:endParaRPr lang="en-IN" dirty="0"/>
          </a:p>
        </p:txBody>
      </p:sp>
    </p:spTree>
    <p:extLst>
      <p:ext uri="{BB962C8B-B14F-4D97-AF65-F5344CB8AC3E}">
        <p14:creationId xmlns:p14="http://schemas.microsoft.com/office/powerpoint/2010/main" val="2267549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7486-882C-3C7E-802B-0AD9836BA658}"/>
              </a:ext>
            </a:extLst>
          </p:cNvPr>
          <p:cNvSpPr>
            <a:spLocks noGrp="1"/>
          </p:cNvSpPr>
          <p:nvPr>
            <p:ph type="title"/>
          </p:nvPr>
        </p:nvSpPr>
        <p:spPr/>
        <p:txBody>
          <a:bodyPr/>
          <a:lstStyle/>
          <a:p>
            <a:r>
              <a:rPr lang="en-US" dirty="0"/>
              <a:t>Need for Feature Selection </a:t>
            </a:r>
            <a:endParaRPr lang="en-IN" dirty="0"/>
          </a:p>
        </p:txBody>
      </p:sp>
      <p:sp>
        <p:nvSpPr>
          <p:cNvPr id="3" name="Content Placeholder 2">
            <a:extLst>
              <a:ext uri="{FF2B5EF4-FFF2-40B4-BE49-F238E27FC236}">
                <a16:creationId xmlns:a16="http://schemas.microsoft.com/office/drawing/2014/main" id="{872755A7-BAAD-F89C-E7AD-82CA05365D78}"/>
              </a:ext>
            </a:extLst>
          </p:cNvPr>
          <p:cNvSpPr>
            <a:spLocks noGrp="1"/>
          </p:cNvSpPr>
          <p:nvPr>
            <p:ph idx="1"/>
          </p:nvPr>
        </p:nvSpPr>
        <p:spPr/>
        <p:txBody>
          <a:bodyPr/>
          <a:lstStyle/>
          <a:p>
            <a:r>
              <a:rPr lang="en-IN" b="0" i="0" dirty="0">
                <a:solidFill>
                  <a:srgbClr val="333333"/>
                </a:solidFill>
                <a:effectLst/>
                <a:highlight>
                  <a:srgbClr val="FFFFFF"/>
                </a:highlight>
                <a:latin typeface="inter-regular"/>
              </a:rPr>
              <a:t>Before implementing any technique, it is really important to understand, need for the technique and so for the Feature Selection. As we know, in machine learning, it is necessary to provide a pre-processed and good input dataset in order to get better outcomes. </a:t>
            </a:r>
          </a:p>
          <a:p>
            <a:r>
              <a:rPr lang="en-IN" b="0" i="0" dirty="0">
                <a:solidFill>
                  <a:srgbClr val="333333"/>
                </a:solidFill>
                <a:effectLst/>
                <a:highlight>
                  <a:srgbClr val="FFFFFF"/>
                </a:highlight>
                <a:latin typeface="inter-regular"/>
              </a:rPr>
              <a:t>We collect a huge amount of data to train our model and help it to learn better. Generally, the dataset consists of noisy data, irrelevant data, and some part of useful data. Moreover, the huge amount of data also slows down the training process of the model, and with noise and irrelevant data, the model may not predict and perform well. </a:t>
            </a:r>
            <a:endParaRPr lang="en-IN" dirty="0"/>
          </a:p>
        </p:txBody>
      </p:sp>
    </p:spTree>
    <p:extLst>
      <p:ext uri="{BB962C8B-B14F-4D97-AF65-F5344CB8AC3E}">
        <p14:creationId xmlns:p14="http://schemas.microsoft.com/office/powerpoint/2010/main" val="1837936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741C3-AFD7-2A9C-6AA7-E0A2DE60EDA9}"/>
              </a:ext>
            </a:extLst>
          </p:cNvPr>
          <p:cNvSpPr>
            <a:spLocks noGrp="1"/>
          </p:cNvSpPr>
          <p:nvPr>
            <p:ph type="title"/>
          </p:nvPr>
        </p:nvSpPr>
        <p:spPr/>
        <p:txBody>
          <a:bodyPr/>
          <a:lstStyle/>
          <a:p>
            <a:r>
              <a:rPr lang="en-IN" dirty="0"/>
              <a:t>Benefits of using feature selection in machine learning:</a:t>
            </a:r>
          </a:p>
        </p:txBody>
      </p:sp>
      <p:sp>
        <p:nvSpPr>
          <p:cNvPr id="3" name="Content Placeholder 2">
            <a:extLst>
              <a:ext uri="{FF2B5EF4-FFF2-40B4-BE49-F238E27FC236}">
                <a16:creationId xmlns:a16="http://schemas.microsoft.com/office/drawing/2014/main" id="{3A188B7F-2085-5F08-3CF8-07A2DB4A6C5B}"/>
              </a:ext>
            </a:extLst>
          </p:cNvPr>
          <p:cNvSpPr>
            <a:spLocks noGrp="1"/>
          </p:cNvSpPr>
          <p:nvPr>
            <p:ph idx="1"/>
          </p:nvPr>
        </p:nvSpPr>
        <p:spPr/>
        <p:txBody>
          <a:bodyPr/>
          <a:lstStyle/>
          <a:p>
            <a:pPr algn="just">
              <a:buFont typeface="Arial" panose="020B0604020202020204" pitchFamily="34" charset="0"/>
              <a:buChar char="•"/>
            </a:pPr>
            <a:r>
              <a:rPr lang="en-IN" b="1" i="0" dirty="0">
                <a:solidFill>
                  <a:srgbClr val="000000"/>
                </a:solidFill>
                <a:effectLst/>
                <a:highlight>
                  <a:srgbClr val="FFFFFF"/>
                </a:highlight>
                <a:latin typeface="inter-bold"/>
              </a:rPr>
              <a:t>It helps in avoiding the curse of dimensionality.</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It helps in the simplification of the model so that it can be easily interpreted by the researchers.</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It reduces the training time.</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It reduces overfitting hence enhance the generalization.</a:t>
            </a:r>
            <a:endParaRPr lang="en-IN" b="0" i="0" dirty="0">
              <a:solidFill>
                <a:srgbClr val="000000"/>
              </a:solidFill>
              <a:effectLst/>
              <a:highlight>
                <a:srgbClr val="FFFFFF"/>
              </a:highlight>
              <a:latin typeface="inter-regular"/>
            </a:endParaRPr>
          </a:p>
          <a:p>
            <a:endParaRPr lang="en-IN" dirty="0"/>
          </a:p>
        </p:txBody>
      </p:sp>
    </p:spTree>
    <p:extLst>
      <p:ext uri="{BB962C8B-B14F-4D97-AF65-F5344CB8AC3E}">
        <p14:creationId xmlns:p14="http://schemas.microsoft.com/office/powerpoint/2010/main" val="2333138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A06D8-119E-E644-DEAE-82BBC0312543}"/>
              </a:ext>
            </a:extLst>
          </p:cNvPr>
          <p:cNvSpPr>
            <a:spLocks noGrp="1"/>
          </p:cNvSpPr>
          <p:nvPr>
            <p:ph type="title"/>
          </p:nvPr>
        </p:nvSpPr>
        <p:spPr/>
        <p:txBody>
          <a:bodyPr/>
          <a:lstStyle/>
          <a:p>
            <a:r>
              <a:rPr lang="en-US" dirty="0"/>
              <a:t>Feature Selection Techniques</a:t>
            </a:r>
            <a:endParaRPr lang="en-IN" dirty="0"/>
          </a:p>
        </p:txBody>
      </p:sp>
      <p:pic>
        <p:nvPicPr>
          <p:cNvPr id="5" name="Content Placeholder 4">
            <a:extLst>
              <a:ext uri="{FF2B5EF4-FFF2-40B4-BE49-F238E27FC236}">
                <a16:creationId xmlns:a16="http://schemas.microsoft.com/office/drawing/2014/main" id="{11EBF4F3-E60A-FCD0-B510-B382029AA29B}"/>
              </a:ext>
            </a:extLst>
          </p:cNvPr>
          <p:cNvPicPr>
            <a:picLocks noGrp="1" noChangeAspect="1"/>
          </p:cNvPicPr>
          <p:nvPr>
            <p:ph idx="1"/>
          </p:nvPr>
        </p:nvPicPr>
        <p:blipFill>
          <a:blip r:embed="rId2"/>
          <a:stretch>
            <a:fillRect/>
          </a:stretch>
        </p:blipFill>
        <p:spPr>
          <a:xfrm>
            <a:off x="1922089" y="3176587"/>
            <a:ext cx="4391025" cy="504825"/>
          </a:xfrm>
        </p:spPr>
      </p:pic>
    </p:spTree>
    <p:extLst>
      <p:ext uri="{BB962C8B-B14F-4D97-AF65-F5344CB8AC3E}">
        <p14:creationId xmlns:p14="http://schemas.microsoft.com/office/powerpoint/2010/main" val="2342367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1018F-345F-31E7-2625-2657F9AEB562}"/>
              </a:ext>
            </a:extLst>
          </p:cNvPr>
          <p:cNvSpPr>
            <a:spLocks noGrp="1"/>
          </p:cNvSpPr>
          <p:nvPr>
            <p:ph type="title"/>
          </p:nvPr>
        </p:nvSpPr>
        <p:spPr/>
        <p:txBody>
          <a:bodyPr/>
          <a:lstStyle/>
          <a:p>
            <a:r>
              <a:rPr lang="en-US" dirty="0"/>
              <a:t>Wrapper Method</a:t>
            </a:r>
            <a:endParaRPr lang="en-IN" dirty="0"/>
          </a:p>
        </p:txBody>
      </p:sp>
      <p:sp>
        <p:nvSpPr>
          <p:cNvPr id="3" name="Content Placeholder 2">
            <a:extLst>
              <a:ext uri="{FF2B5EF4-FFF2-40B4-BE49-F238E27FC236}">
                <a16:creationId xmlns:a16="http://schemas.microsoft.com/office/drawing/2014/main" id="{16CE0853-15EC-BEFB-4A8B-86366E9E6D0B}"/>
              </a:ext>
            </a:extLst>
          </p:cNvPr>
          <p:cNvSpPr>
            <a:spLocks noGrp="1"/>
          </p:cNvSpPr>
          <p:nvPr>
            <p:ph idx="1"/>
          </p:nvPr>
        </p:nvSpPr>
        <p:spPr/>
        <p:txBody>
          <a:bodyPr/>
          <a:lstStyle/>
          <a:p>
            <a:r>
              <a:rPr lang="en-IN" b="0" i="0" dirty="0">
                <a:solidFill>
                  <a:srgbClr val="181E00"/>
                </a:solidFill>
                <a:effectLst/>
                <a:highlight>
                  <a:srgbClr val="FFFFFF"/>
                </a:highlight>
                <a:latin typeface="Google Sans"/>
              </a:rPr>
              <a:t>In wrapper methods, different subsets of features are evaluated by training a model for each subset, and then the performance is compared and the right combination is chosen. </a:t>
            </a:r>
          </a:p>
          <a:p>
            <a:endParaRPr lang="en-IN" dirty="0">
              <a:solidFill>
                <a:srgbClr val="181E00"/>
              </a:solidFill>
              <a:highlight>
                <a:srgbClr val="FFFFFF"/>
              </a:highlight>
              <a:latin typeface="Google Sans"/>
            </a:endParaRPr>
          </a:p>
          <a:p>
            <a:endParaRPr lang="en-IN" dirty="0"/>
          </a:p>
        </p:txBody>
      </p:sp>
    </p:spTree>
    <p:extLst>
      <p:ext uri="{BB962C8B-B14F-4D97-AF65-F5344CB8AC3E}">
        <p14:creationId xmlns:p14="http://schemas.microsoft.com/office/powerpoint/2010/main" val="97902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151E-87D1-84B8-3920-81A88453018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6352E19-49BA-779A-033B-40F3817CCE2D}"/>
              </a:ext>
            </a:extLst>
          </p:cNvPr>
          <p:cNvPicPr>
            <a:picLocks noGrp="1" noChangeAspect="1"/>
          </p:cNvPicPr>
          <p:nvPr>
            <p:ph idx="1"/>
          </p:nvPr>
        </p:nvPicPr>
        <p:blipFill>
          <a:blip r:embed="rId2"/>
          <a:stretch>
            <a:fillRect/>
          </a:stretch>
        </p:blipFill>
        <p:spPr>
          <a:xfrm>
            <a:off x="685006" y="2810669"/>
            <a:ext cx="8582025" cy="2581275"/>
          </a:xfrm>
        </p:spPr>
      </p:pic>
    </p:spTree>
    <p:extLst>
      <p:ext uri="{BB962C8B-B14F-4D97-AF65-F5344CB8AC3E}">
        <p14:creationId xmlns:p14="http://schemas.microsoft.com/office/powerpoint/2010/main" val="1317011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20D1-0ABA-6A14-D659-6FCADAD3C0C5}"/>
              </a:ext>
            </a:extLst>
          </p:cNvPr>
          <p:cNvSpPr>
            <a:spLocks noGrp="1"/>
          </p:cNvSpPr>
          <p:nvPr>
            <p:ph type="title"/>
          </p:nvPr>
        </p:nvSpPr>
        <p:spPr/>
        <p:txBody>
          <a:bodyPr/>
          <a:lstStyle/>
          <a:p>
            <a:r>
              <a:rPr lang="en-IN" dirty="0"/>
              <a:t>Some techniques of wrapper methods:</a:t>
            </a:r>
          </a:p>
        </p:txBody>
      </p:sp>
      <p:sp>
        <p:nvSpPr>
          <p:cNvPr id="3" name="Content Placeholder 2">
            <a:extLst>
              <a:ext uri="{FF2B5EF4-FFF2-40B4-BE49-F238E27FC236}">
                <a16:creationId xmlns:a16="http://schemas.microsoft.com/office/drawing/2014/main" id="{8ACC9C6A-C7EF-E63A-0C20-0DF6D166B545}"/>
              </a:ext>
            </a:extLst>
          </p:cNvPr>
          <p:cNvSpPr>
            <a:spLocks noGrp="1"/>
          </p:cNvSpPr>
          <p:nvPr>
            <p:ph idx="1"/>
          </p:nvPr>
        </p:nvSpPr>
        <p:spPr/>
        <p:txBody>
          <a:bodyPr/>
          <a:lstStyle/>
          <a:p>
            <a:r>
              <a:rPr lang="en-IN" b="1" i="0" dirty="0">
                <a:solidFill>
                  <a:srgbClr val="000000"/>
                </a:solidFill>
                <a:effectLst/>
                <a:highlight>
                  <a:srgbClr val="FFFFFF"/>
                </a:highlight>
                <a:latin typeface="inter-bold"/>
              </a:rPr>
              <a:t>Forward selection</a:t>
            </a:r>
          </a:p>
          <a:p>
            <a:endParaRPr lang="en-IN" b="1" dirty="0">
              <a:solidFill>
                <a:srgbClr val="000000"/>
              </a:solidFill>
              <a:highlight>
                <a:srgbClr val="FFFFFF"/>
              </a:highlight>
              <a:latin typeface="inter-bold"/>
            </a:endParaRPr>
          </a:p>
          <a:p>
            <a:r>
              <a:rPr lang="en-IN" b="1" i="0" dirty="0">
                <a:solidFill>
                  <a:srgbClr val="000000"/>
                </a:solidFill>
                <a:effectLst/>
                <a:highlight>
                  <a:srgbClr val="FFFFFF"/>
                </a:highlight>
                <a:latin typeface="inter-bold"/>
              </a:rPr>
              <a:t>Backward elimination</a:t>
            </a:r>
          </a:p>
          <a:p>
            <a:endParaRPr lang="en-IN" b="1" dirty="0">
              <a:solidFill>
                <a:srgbClr val="000000"/>
              </a:solidFill>
              <a:highlight>
                <a:srgbClr val="FFFFFF"/>
              </a:highlight>
              <a:latin typeface="inter-bold"/>
            </a:endParaRPr>
          </a:p>
          <a:p>
            <a:r>
              <a:rPr lang="en-IN" b="1" i="0" dirty="0">
                <a:solidFill>
                  <a:srgbClr val="000000"/>
                </a:solidFill>
                <a:effectLst/>
                <a:highlight>
                  <a:srgbClr val="FFFFFF"/>
                </a:highlight>
                <a:latin typeface="inter-bold"/>
              </a:rPr>
              <a:t>Exhaustive Feature Selection</a:t>
            </a:r>
          </a:p>
          <a:p>
            <a:endParaRPr lang="en-IN" b="1" dirty="0">
              <a:solidFill>
                <a:srgbClr val="000000"/>
              </a:solidFill>
              <a:highlight>
                <a:srgbClr val="FFFFFF"/>
              </a:highlight>
              <a:latin typeface="inter-bold"/>
            </a:endParaRPr>
          </a:p>
          <a:p>
            <a:r>
              <a:rPr lang="en-IN" b="1" i="0" dirty="0">
                <a:solidFill>
                  <a:srgbClr val="000000"/>
                </a:solidFill>
                <a:effectLst/>
                <a:highlight>
                  <a:srgbClr val="FFFFFF"/>
                </a:highlight>
                <a:latin typeface="inter-bold"/>
              </a:rPr>
              <a:t>Recursive Feature Elimination</a:t>
            </a:r>
            <a:endParaRPr lang="en-IN" dirty="0"/>
          </a:p>
        </p:txBody>
      </p:sp>
    </p:spTree>
    <p:extLst>
      <p:ext uri="{BB962C8B-B14F-4D97-AF65-F5344CB8AC3E}">
        <p14:creationId xmlns:p14="http://schemas.microsoft.com/office/powerpoint/2010/main" val="766893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F3012-6D57-AD90-486F-6369EDC0589E}"/>
              </a:ext>
            </a:extLst>
          </p:cNvPr>
          <p:cNvSpPr>
            <a:spLocks noGrp="1"/>
          </p:cNvSpPr>
          <p:nvPr>
            <p:ph type="title"/>
          </p:nvPr>
        </p:nvSpPr>
        <p:spPr/>
        <p:txBody>
          <a:bodyPr/>
          <a:lstStyle/>
          <a:p>
            <a:r>
              <a:rPr lang="en-IN" dirty="0"/>
              <a:t>Forward Selection</a:t>
            </a:r>
          </a:p>
        </p:txBody>
      </p:sp>
      <p:sp>
        <p:nvSpPr>
          <p:cNvPr id="3" name="Content Placeholder 2">
            <a:extLst>
              <a:ext uri="{FF2B5EF4-FFF2-40B4-BE49-F238E27FC236}">
                <a16:creationId xmlns:a16="http://schemas.microsoft.com/office/drawing/2014/main" id="{6470ABE5-2ADB-6101-1653-10832AE86E5F}"/>
              </a:ext>
            </a:extLst>
          </p:cNvPr>
          <p:cNvSpPr>
            <a:spLocks noGrp="1"/>
          </p:cNvSpPr>
          <p:nvPr>
            <p:ph idx="1"/>
          </p:nvPr>
        </p:nvSpPr>
        <p:spPr/>
        <p:txBody>
          <a:bodyPr/>
          <a:lstStyle/>
          <a:p>
            <a:pPr algn="l">
              <a:buFont typeface="Arial" panose="020B0604020202020204" pitchFamily="34" charset="0"/>
              <a:buChar char="•"/>
            </a:pPr>
            <a:r>
              <a:rPr lang="en-IN" b="1" i="0" dirty="0">
                <a:solidFill>
                  <a:srgbClr val="242424"/>
                </a:solidFill>
                <a:effectLst/>
                <a:highlight>
                  <a:srgbClr val="FFFFFF"/>
                </a:highlight>
                <a:latin typeface="source-serif-pro"/>
              </a:rPr>
              <a:t>Starting from Scratch</a:t>
            </a:r>
            <a:r>
              <a:rPr lang="en-IN" b="0" i="0" dirty="0">
                <a:solidFill>
                  <a:srgbClr val="242424"/>
                </a:solidFill>
                <a:effectLst/>
                <a:highlight>
                  <a:srgbClr val="FFFFFF"/>
                </a:highlight>
                <a:latin typeface="source-serif-pro"/>
              </a:rPr>
              <a:t>: Begin with an empty set of features and iteratively add one feature at a time.</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Model Evaluation</a:t>
            </a:r>
            <a:r>
              <a:rPr lang="en-IN" b="0" i="0" dirty="0">
                <a:solidFill>
                  <a:srgbClr val="242424"/>
                </a:solidFill>
                <a:effectLst/>
                <a:highlight>
                  <a:srgbClr val="FFFFFF"/>
                </a:highlight>
                <a:latin typeface="source-serif-pro"/>
              </a:rPr>
              <a:t>: At each step, train and evaluate the machine learning model using the selected features.</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Stopping Criterion</a:t>
            </a:r>
            <a:r>
              <a:rPr lang="en-IN" b="0" i="0" dirty="0">
                <a:solidFill>
                  <a:srgbClr val="242424"/>
                </a:solidFill>
                <a:effectLst/>
                <a:highlight>
                  <a:srgbClr val="FFFFFF"/>
                </a:highlight>
                <a:latin typeface="source-serif-pro"/>
              </a:rPr>
              <a:t>: Continue until a predefined stopping criterion is met, such as a maximum number of features or a significant drop in performance.</a:t>
            </a:r>
          </a:p>
          <a:p>
            <a:endParaRPr lang="en-IN" dirty="0"/>
          </a:p>
        </p:txBody>
      </p:sp>
    </p:spTree>
    <p:extLst>
      <p:ext uri="{BB962C8B-B14F-4D97-AF65-F5344CB8AC3E}">
        <p14:creationId xmlns:p14="http://schemas.microsoft.com/office/powerpoint/2010/main" val="4150398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44BAB-0DD6-6884-2B75-5A5E72AD2DF6}"/>
              </a:ext>
            </a:extLst>
          </p:cNvPr>
          <p:cNvSpPr>
            <a:spLocks noGrp="1"/>
          </p:cNvSpPr>
          <p:nvPr>
            <p:ph type="title"/>
          </p:nvPr>
        </p:nvSpPr>
        <p:spPr/>
        <p:txBody>
          <a:bodyPr/>
          <a:lstStyle/>
          <a:p>
            <a:r>
              <a:rPr lang="en-IN" dirty="0"/>
              <a:t>Backward Elimination</a:t>
            </a:r>
          </a:p>
        </p:txBody>
      </p:sp>
      <p:sp>
        <p:nvSpPr>
          <p:cNvPr id="3" name="Content Placeholder 2">
            <a:extLst>
              <a:ext uri="{FF2B5EF4-FFF2-40B4-BE49-F238E27FC236}">
                <a16:creationId xmlns:a16="http://schemas.microsoft.com/office/drawing/2014/main" id="{0EDF9801-ED9A-6385-EBEA-90AEAB12BA32}"/>
              </a:ext>
            </a:extLst>
          </p:cNvPr>
          <p:cNvSpPr>
            <a:spLocks noGrp="1"/>
          </p:cNvSpPr>
          <p:nvPr>
            <p:ph idx="1"/>
          </p:nvPr>
        </p:nvSpPr>
        <p:spPr/>
        <p:txBody>
          <a:bodyPr/>
          <a:lstStyle/>
          <a:p>
            <a:pPr algn="l">
              <a:buFont typeface="Arial" panose="020B0604020202020204" pitchFamily="34" charset="0"/>
              <a:buChar char="•"/>
            </a:pPr>
            <a:r>
              <a:rPr lang="en-IN" b="1" i="0" dirty="0">
                <a:solidFill>
                  <a:srgbClr val="242424"/>
                </a:solidFill>
                <a:effectLst/>
                <a:highlight>
                  <a:srgbClr val="FFFFFF"/>
                </a:highlight>
                <a:latin typeface="source-serif-pro"/>
              </a:rPr>
              <a:t>Starting with Everything</a:t>
            </a:r>
            <a:r>
              <a:rPr lang="en-IN" b="0" i="0" dirty="0">
                <a:solidFill>
                  <a:srgbClr val="242424"/>
                </a:solidFill>
                <a:effectLst/>
                <a:highlight>
                  <a:srgbClr val="FFFFFF"/>
                </a:highlight>
                <a:latin typeface="source-serif-pro"/>
              </a:rPr>
              <a:t>: Start with all available features.</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Iterative Removal</a:t>
            </a:r>
            <a:r>
              <a:rPr lang="en-IN" b="0" i="0" dirty="0">
                <a:solidFill>
                  <a:srgbClr val="242424"/>
                </a:solidFill>
                <a:effectLst/>
                <a:highlight>
                  <a:srgbClr val="FFFFFF"/>
                </a:highlight>
                <a:latin typeface="source-serif-pro"/>
              </a:rPr>
              <a:t>: In each iteration, remove the least important feature and evaluate the model.</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Stopping Criterion</a:t>
            </a:r>
            <a:r>
              <a:rPr lang="en-IN" b="0" i="0" dirty="0">
                <a:solidFill>
                  <a:srgbClr val="242424"/>
                </a:solidFill>
                <a:effectLst/>
                <a:highlight>
                  <a:srgbClr val="FFFFFF"/>
                </a:highlight>
                <a:latin typeface="source-serif-pro"/>
              </a:rPr>
              <a:t>: Continue until a stopping condition is met.</a:t>
            </a:r>
          </a:p>
          <a:p>
            <a:endParaRPr lang="en-IN" dirty="0"/>
          </a:p>
        </p:txBody>
      </p:sp>
    </p:spTree>
    <p:extLst>
      <p:ext uri="{BB962C8B-B14F-4D97-AF65-F5344CB8AC3E}">
        <p14:creationId xmlns:p14="http://schemas.microsoft.com/office/powerpoint/2010/main" val="4268564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450CB-F1F6-02C3-E29B-80BF2A9929A5}"/>
              </a:ext>
            </a:extLst>
          </p:cNvPr>
          <p:cNvSpPr>
            <a:spLocks noGrp="1"/>
          </p:cNvSpPr>
          <p:nvPr>
            <p:ph type="title"/>
          </p:nvPr>
        </p:nvSpPr>
        <p:spPr/>
        <p:txBody>
          <a:bodyPr/>
          <a:lstStyle/>
          <a:p>
            <a:r>
              <a:rPr lang="en-IN" dirty="0"/>
              <a:t>Exhaustive Search</a:t>
            </a:r>
          </a:p>
        </p:txBody>
      </p:sp>
      <p:sp>
        <p:nvSpPr>
          <p:cNvPr id="3" name="Content Placeholder 2">
            <a:extLst>
              <a:ext uri="{FF2B5EF4-FFF2-40B4-BE49-F238E27FC236}">
                <a16:creationId xmlns:a16="http://schemas.microsoft.com/office/drawing/2014/main" id="{E956B90E-B781-865C-E755-28287913E37C}"/>
              </a:ext>
            </a:extLst>
          </p:cNvPr>
          <p:cNvSpPr>
            <a:spLocks noGrp="1"/>
          </p:cNvSpPr>
          <p:nvPr>
            <p:ph idx="1"/>
          </p:nvPr>
        </p:nvSpPr>
        <p:spPr/>
        <p:txBody>
          <a:bodyPr/>
          <a:lstStyle/>
          <a:p>
            <a:pPr algn="l">
              <a:buFont typeface="Arial" panose="020B0604020202020204" pitchFamily="34" charset="0"/>
              <a:buChar char="•"/>
            </a:pPr>
            <a:r>
              <a:rPr lang="en-IN" b="1" i="0" dirty="0">
                <a:solidFill>
                  <a:srgbClr val="242424"/>
                </a:solidFill>
                <a:effectLst/>
                <a:highlight>
                  <a:srgbClr val="FFFFFF"/>
                </a:highlight>
                <a:latin typeface="source-serif-pro"/>
              </a:rPr>
              <a:t>Exploring All Possibilities</a:t>
            </a:r>
            <a:r>
              <a:rPr lang="en-IN" b="0" i="0" dirty="0">
                <a:solidFill>
                  <a:srgbClr val="242424"/>
                </a:solidFill>
                <a:effectLst/>
                <a:highlight>
                  <a:srgbClr val="FFFFFF"/>
                </a:highlight>
                <a:latin typeface="source-serif-pro"/>
              </a:rPr>
              <a:t>: Evaluate all possible combinations of features, which ensures finding the best subset for model performance.</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Computational Cost</a:t>
            </a:r>
            <a:r>
              <a:rPr lang="en-IN" b="0" i="0" dirty="0">
                <a:solidFill>
                  <a:srgbClr val="242424"/>
                </a:solidFill>
                <a:effectLst/>
                <a:highlight>
                  <a:srgbClr val="FFFFFF"/>
                </a:highlight>
                <a:latin typeface="source-serif-pro"/>
              </a:rPr>
              <a:t>: This can be computationally expensive, especially with a large number of features.</a:t>
            </a:r>
          </a:p>
          <a:p>
            <a:endParaRPr lang="en-IN" dirty="0"/>
          </a:p>
        </p:txBody>
      </p:sp>
    </p:spTree>
    <p:extLst>
      <p:ext uri="{BB962C8B-B14F-4D97-AF65-F5344CB8AC3E}">
        <p14:creationId xmlns:p14="http://schemas.microsoft.com/office/powerpoint/2010/main" val="1676032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9DD4-0C0B-301D-D747-8333BEDD0570}"/>
              </a:ext>
            </a:extLst>
          </p:cNvPr>
          <p:cNvSpPr>
            <a:spLocks noGrp="1"/>
          </p:cNvSpPr>
          <p:nvPr>
            <p:ph type="title"/>
          </p:nvPr>
        </p:nvSpPr>
        <p:spPr/>
        <p:txBody>
          <a:bodyPr/>
          <a:lstStyle/>
          <a:p>
            <a:r>
              <a:rPr lang="en-IN" dirty="0"/>
              <a:t>Recursive Feature Elimination (RFE)</a:t>
            </a:r>
          </a:p>
        </p:txBody>
      </p:sp>
      <p:sp>
        <p:nvSpPr>
          <p:cNvPr id="3" name="Content Placeholder 2">
            <a:extLst>
              <a:ext uri="{FF2B5EF4-FFF2-40B4-BE49-F238E27FC236}">
                <a16:creationId xmlns:a16="http://schemas.microsoft.com/office/drawing/2014/main" id="{CFAD864C-BDF0-E3EA-425D-CD539DCF349A}"/>
              </a:ext>
            </a:extLst>
          </p:cNvPr>
          <p:cNvSpPr>
            <a:spLocks noGrp="1"/>
          </p:cNvSpPr>
          <p:nvPr>
            <p:ph idx="1"/>
          </p:nvPr>
        </p:nvSpPr>
        <p:spPr/>
        <p:txBody>
          <a:bodyPr/>
          <a:lstStyle/>
          <a:p>
            <a:pPr algn="l">
              <a:buFont typeface="Arial" panose="020B0604020202020204" pitchFamily="34" charset="0"/>
              <a:buChar char="•"/>
            </a:pPr>
            <a:r>
              <a:rPr lang="en-IN" b="1" i="0" dirty="0">
                <a:solidFill>
                  <a:srgbClr val="242424"/>
                </a:solidFill>
                <a:effectLst/>
                <a:highlight>
                  <a:srgbClr val="FFFFFF"/>
                </a:highlight>
                <a:latin typeface="source-serif-pro"/>
              </a:rPr>
              <a:t>Ranking Features</a:t>
            </a:r>
            <a:r>
              <a:rPr lang="en-IN" b="0" i="0" dirty="0">
                <a:solidFill>
                  <a:srgbClr val="242424"/>
                </a:solidFill>
                <a:effectLst/>
                <a:highlight>
                  <a:srgbClr val="FFFFFF"/>
                </a:highlight>
                <a:latin typeface="source-serif-pro"/>
              </a:rPr>
              <a:t>: Start with all features and rank them based on their importance or contribution to the model.</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Iterative Removal</a:t>
            </a:r>
            <a:r>
              <a:rPr lang="en-IN" b="0" i="0" dirty="0">
                <a:solidFill>
                  <a:srgbClr val="242424"/>
                </a:solidFill>
                <a:effectLst/>
                <a:highlight>
                  <a:srgbClr val="FFFFFF"/>
                </a:highlight>
                <a:latin typeface="source-serif-pro"/>
              </a:rPr>
              <a:t>: In each iteration, remove the least important feature(s).</a:t>
            </a:r>
          </a:p>
          <a:p>
            <a:pPr algn="l">
              <a:buFont typeface="Arial" panose="020B0604020202020204" pitchFamily="34" charset="0"/>
              <a:buChar char="•"/>
            </a:pPr>
            <a:endParaRPr lang="en-IN" b="0" i="0" dirty="0">
              <a:solidFill>
                <a:srgbClr val="242424"/>
              </a:solidFill>
              <a:effectLst/>
              <a:highlight>
                <a:srgbClr val="FFFFFF"/>
              </a:highlight>
              <a:latin typeface="source-serif-pro"/>
            </a:endParaRPr>
          </a:p>
          <a:p>
            <a:pPr algn="l">
              <a:buFont typeface="Arial" panose="020B0604020202020204" pitchFamily="34" charset="0"/>
              <a:buChar char="•"/>
            </a:pPr>
            <a:r>
              <a:rPr lang="en-IN" b="1" i="0" dirty="0">
                <a:solidFill>
                  <a:srgbClr val="242424"/>
                </a:solidFill>
                <a:effectLst/>
                <a:highlight>
                  <a:srgbClr val="FFFFFF"/>
                </a:highlight>
                <a:latin typeface="source-serif-pro"/>
              </a:rPr>
              <a:t>Stopping Criterion</a:t>
            </a:r>
            <a:r>
              <a:rPr lang="en-IN" b="0" i="0" dirty="0">
                <a:solidFill>
                  <a:srgbClr val="242424"/>
                </a:solidFill>
                <a:effectLst/>
                <a:highlight>
                  <a:srgbClr val="FFFFFF"/>
                </a:highlight>
                <a:latin typeface="source-serif-pro"/>
              </a:rPr>
              <a:t>: Continue until a desired number of features is reached.</a:t>
            </a:r>
          </a:p>
          <a:p>
            <a:endParaRPr lang="en-IN" dirty="0"/>
          </a:p>
        </p:txBody>
      </p:sp>
    </p:spTree>
    <p:extLst>
      <p:ext uri="{BB962C8B-B14F-4D97-AF65-F5344CB8AC3E}">
        <p14:creationId xmlns:p14="http://schemas.microsoft.com/office/powerpoint/2010/main" val="2977068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03D8A-A32A-AB68-6EF3-1595A50F44F3}"/>
              </a:ext>
            </a:extLst>
          </p:cNvPr>
          <p:cNvSpPr>
            <a:spLocks noGrp="1"/>
          </p:cNvSpPr>
          <p:nvPr>
            <p:ph type="title"/>
          </p:nvPr>
        </p:nvSpPr>
        <p:spPr/>
        <p:txBody>
          <a:bodyPr/>
          <a:lstStyle/>
          <a:p>
            <a:r>
              <a:rPr lang="en-US" dirty="0"/>
              <a:t>Filter Method</a:t>
            </a:r>
            <a:endParaRPr lang="en-IN" dirty="0"/>
          </a:p>
        </p:txBody>
      </p:sp>
      <p:sp>
        <p:nvSpPr>
          <p:cNvPr id="3" name="Content Placeholder 2">
            <a:extLst>
              <a:ext uri="{FF2B5EF4-FFF2-40B4-BE49-F238E27FC236}">
                <a16:creationId xmlns:a16="http://schemas.microsoft.com/office/drawing/2014/main" id="{4EE81780-A397-FCE3-8865-A8DFE7142C02}"/>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These methods are generally used while doing the pre-processing step. These methods select features from the dataset irrespective of the use of any machine learning algorithm.</a:t>
            </a:r>
          </a:p>
          <a:p>
            <a:endParaRPr lang="en-IN" dirty="0">
              <a:solidFill>
                <a:srgbClr val="273239"/>
              </a:solidFill>
              <a:highlight>
                <a:srgbClr val="FFFFFF"/>
              </a:highlight>
              <a:latin typeface="Nunito" pitchFamily="2" charset="0"/>
            </a:endParaRPr>
          </a:p>
          <a:p>
            <a:r>
              <a:rPr lang="en-IN" dirty="0"/>
              <a:t> In terms of computation, they are very fast and inexpensive and are very good for removing duplicated, correlated, redundant features but these methods do not remove multicollinearity.</a:t>
            </a:r>
          </a:p>
        </p:txBody>
      </p:sp>
    </p:spTree>
    <p:extLst>
      <p:ext uri="{BB962C8B-B14F-4D97-AF65-F5344CB8AC3E}">
        <p14:creationId xmlns:p14="http://schemas.microsoft.com/office/powerpoint/2010/main" val="1600334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0367-66A6-AE86-6D59-F39AF0F05959}"/>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01A61D39-5501-E1BB-E207-FEC96D58F898}"/>
              </a:ext>
            </a:extLst>
          </p:cNvPr>
          <p:cNvPicPr>
            <a:picLocks noGrp="1" noChangeAspect="1"/>
          </p:cNvPicPr>
          <p:nvPr>
            <p:ph idx="1"/>
          </p:nvPr>
        </p:nvPicPr>
        <p:blipFill>
          <a:blip r:embed="rId2"/>
          <a:stretch>
            <a:fillRect/>
          </a:stretch>
        </p:blipFill>
        <p:spPr>
          <a:xfrm>
            <a:off x="1051719" y="3825081"/>
            <a:ext cx="7848600" cy="552450"/>
          </a:xfrm>
        </p:spPr>
      </p:pic>
    </p:spTree>
    <p:extLst>
      <p:ext uri="{BB962C8B-B14F-4D97-AF65-F5344CB8AC3E}">
        <p14:creationId xmlns:p14="http://schemas.microsoft.com/office/powerpoint/2010/main" val="740708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E8ACB-7341-3CF0-D159-4B0F1E68B645}"/>
              </a:ext>
            </a:extLst>
          </p:cNvPr>
          <p:cNvSpPr>
            <a:spLocks noGrp="1"/>
          </p:cNvSpPr>
          <p:nvPr>
            <p:ph type="title"/>
          </p:nvPr>
        </p:nvSpPr>
        <p:spPr/>
        <p:txBody>
          <a:bodyPr/>
          <a:lstStyle/>
          <a:p>
            <a:r>
              <a:rPr lang="en-US" dirty="0"/>
              <a:t>Techniques</a:t>
            </a:r>
            <a:endParaRPr lang="en-IN" dirty="0"/>
          </a:p>
        </p:txBody>
      </p:sp>
      <p:sp>
        <p:nvSpPr>
          <p:cNvPr id="3" name="Content Placeholder 2">
            <a:extLst>
              <a:ext uri="{FF2B5EF4-FFF2-40B4-BE49-F238E27FC236}">
                <a16:creationId xmlns:a16="http://schemas.microsoft.com/office/drawing/2014/main" id="{65C8A18D-21DE-73F4-5840-A3069209CCE7}"/>
              </a:ext>
            </a:extLst>
          </p:cNvPr>
          <p:cNvSpPr>
            <a:spLocks noGrp="1"/>
          </p:cNvSpPr>
          <p:nvPr>
            <p:ph idx="1"/>
          </p:nvPr>
        </p:nvSpPr>
        <p:spPr/>
        <p:txBody>
          <a:bodyPr/>
          <a:lstStyle/>
          <a:p>
            <a:r>
              <a:rPr lang="en-IN" b="1" i="0" dirty="0">
                <a:solidFill>
                  <a:srgbClr val="273239"/>
                </a:solidFill>
                <a:effectLst/>
                <a:highlight>
                  <a:srgbClr val="FFFFFF"/>
                </a:highlight>
                <a:latin typeface="Nunito" pitchFamily="2" charset="0"/>
              </a:rPr>
              <a:t>Information Gain </a:t>
            </a:r>
          </a:p>
          <a:p>
            <a:endParaRPr lang="en-IN" b="1" dirty="0">
              <a:solidFill>
                <a:srgbClr val="273239"/>
              </a:solidFill>
              <a:highlight>
                <a:srgbClr val="FFFFFF"/>
              </a:highlight>
              <a:latin typeface="Nunito" pitchFamily="2" charset="0"/>
            </a:endParaRPr>
          </a:p>
          <a:p>
            <a:r>
              <a:rPr lang="en-IN" b="1" i="0" dirty="0">
                <a:solidFill>
                  <a:srgbClr val="273239"/>
                </a:solidFill>
                <a:effectLst/>
                <a:highlight>
                  <a:srgbClr val="FFFFFF"/>
                </a:highlight>
                <a:latin typeface="Nunito" pitchFamily="2" charset="0"/>
              </a:rPr>
              <a:t>Chi-square test </a:t>
            </a:r>
          </a:p>
          <a:p>
            <a:endParaRPr lang="en-IN" b="1" dirty="0">
              <a:solidFill>
                <a:srgbClr val="273239"/>
              </a:solidFill>
              <a:highlight>
                <a:srgbClr val="FFFFFF"/>
              </a:highlight>
              <a:latin typeface="Nunito" pitchFamily="2" charset="0"/>
            </a:endParaRPr>
          </a:p>
          <a:p>
            <a:r>
              <a:rPr lang="en-IN" b="1" i="0" dirty="0">
                <a:solidFill>
                  <a:srgbClr val="273239"/>
                </a:solidFill>
                <a:effectLst/>
                <a:highlight>
                  <a:srgbClr val="FFFFFF"/>
                </a:highlight>
                <a:latin typeface="Nunito" pitchFamily="2" charset="0"/>
              </a:rPr>
              <a:t>Fisher’s Score</a:t>
            </a:r>
          </a:p>
          <a:p>
            <a:endParaRPr lang="en-IN" b="1" dirty="0">
              <a:solidFill>
                <a:srgbClr val="273239"/>
              </a:solidFill>
              <a:highlight>
                <a:srgbClr val="FFFFFF"/>
              </a:highlight>
              <a:latin typeface="Nunito" pitchFamily="2" charset="0"/>
            </a:endParaRPr>
          </a:p>
          <a:p>
            <a:r>
              <a:rPr lang="en-IN" b="1" i="0" dirty="0">
                <a:solidFill>
                  <a:srgbClr val="273239"/>
                </a:solidFill>
                <a:effectLst/>
                <a:highlight>
                  <a:srgbClr val="FFFFFF"/>
                </a:highlight>
                <a:latin typeface="Nunito" pitchFamily="2" charset="0"/>
              </a:rPr>
              <a:t>Correlation Coefficient</a:t>
            </a:r>
            <a:endParaRPr lang="en-IN" dirty="0"/>
          </a:p>
        </p:txBody>
      </p:sp>
    </p:spTree>
    <p:extLst>
      <p:ext uri="{BB962C8B-B14F-4D97-AF65-F5344CB8AC3E}">
        <p14:creationId xmlns:p14="http://schemas.microsoft.com/office/powerpoint/2010/main" val="2959035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C484E-D7F7-6F3A-9BAE-9825E9D9C96D}"/>
              </a:ext>
            </a:extLst>
          </p:cNvPr>
          <p:cNvSpPr>
            <a:spLocks noGrp="1"/>
          </p:cNvSpPr>
          <p:nvPr>
            <p:ph type="title"/>
          </p:nvPr>
        </p:nvSpPr>
        <p:spPr/>
        <p:txBody>
          <a:bodyPr/>
          <a:lstStyle/>
          <a:p>
            <a:r>
              <a:rPr lang="en-IN" dirty="0"/>
              <a:t>Information Gain </a:t>
            </a:r>
            <a:br>
              <a:rPr lang="en-IN" dirty="0"/>
            </a:br>
            <a:endParaRPr lang="en-IN" dirty="0"/>
          </a:p>
        </p:txBody>
      </p:sp>
      <p:sp>
        <p:nvSpPr>
          <p:cNvPr id="3" name="Content Placeholder 2">
            <a:extLst>
              <a:ext uri="{FF2B5EF4-FFF2-40B4-BE49-F238E27FC236}">
                <a16:creationId xmlns:a16="http://schemas.microsoft.com/office/drawing/2014/main" id="{AEA15A05-6538-A750-4378-BA9155188D1A}"/>
              </a:ext>
            </a:extLst>
          </p:cNvPr>
          <p:cNvSpPr>
            <a:spLocks noGrp="1"/>
          </p:cNvSpPr>
          <p:nvPr>
            <p:ph idx="1"/>
          </p:nvPr>
        </p:nvSpPr>
        <p:spPr/>
        <p:txBody>
          <a:bodyPr/>
          <a:lstStyle/>
          <a:p>
            <a:r>
              <a:rPr lang="en-IN" dirty="0"/>
              <a:t> It is defined as the amount of information provided by the feature for identifying the target value and measures reduction in the entropy values. Information gain of each attribute is calculated considering the target values for feature selection.</a:t>
            </a:r>
          </a:p>
          <a:p>
            <a:endParaRPr lang="en-IN" dirty="0"/>
          </a:p>
          <a:p>
            <a:r>
              <a:rPr lang="en-IN" b="0" i="0" dirty="0">
                <a:solidFill>
                  <a:srgbClr val="0D0D0D"/>
                </a:solidFill>
                <a:effectLst/>
                <a:highlight>
                  <a:srgbClr val="FFFFFF"/>
                </a:highlight>
                <a:latin typeface="Söhne"/>
              </a:rPr>
              <a:t>In the context of information theory and machine learning, </a:t>
            </a:r>
            <a:r>
              <a:rPr lang="en-IN" b="1" i="0" dirty="0">
                <a:solidFill>
                  <a:srgbClr val="0D0D0D"/>
                </a:solidFill>
                <a:effectLst/>
                <a:highlight>
                  <a:srgbClr val="FFFFFF"/>
                </a:highlight>
                <a:latin typeface="Söhne"/>
              </a:rPr>
              <a:t>entropy</a:t>
            </a:r>
            <a:r>
              <a:rPr lang="en-IN" b="0" i="0" dirty="0">
                <a:solidFill>
                  <a:srgbClr val="0D0D0D"/>
                </a:solidFill>
                <a:effectLst/>
                <a:highlight>
                  <a:srgbClr val="FFFFFF"/>
                </a:highlight>
                <a:latin typeface="Söhne"/>
              </a:rPr>
              <a:t> is a measure of uncertainty or randomness associated with a random variable.</a:t>
            </a:r>
            <a:endParaRPr lang="en-IN" dirty="0"/>
          </a:p>
        </p:txBody>
      </p:sp>
    </p:spTree>
    <p:extLst>
      <p:ext uri="{BB962C8B-B14F-4D97-AF65-F5344CB8AC3E}">
        <p14:creationId xmlns:p14="http://schemas.microsoft.com/office/powerpoint/2010/main" val="1187330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89B09-5EFC-A80B-F7EA-D0948E665541}"/>
              </a:ext>
            </a:extLst>
          </p:cNvPr>
          <p:cNvSpPr>
            <a:spLocks noGrp="1"/>
          </p:cNvSpPr>
          <p:nvPr>
            <p:ph type="title"/>
          </p:nvPr>
        </p:nvSpPr>
        <p:spPr/>
        <p:txBody>
          <a:bodyPr/>
          <a:lstStyle/>
          <a:p>
            <a:r>
              <a:rPr lang="en-IN" dirty="0"/>
              <a:t>Chi-square test</a:t>
            </a:r>
          </a:p>
        </p:txBody>
      </p:sp>
      <p:sp>
        <p:nvSpPr>
          <p:cNvPr id="3" name="Content Placeholder 2">
            <a:extLst>
              <a:ext uri="{FF2B5EF4-FFF2-40B4-BE49-F238E27FC236}">
                <a16:creationId xmlns:a16="http://schemas.microsoft.com/office/drawing/2014/main" id="{D1161471-C68A-A928-B227-0C9567A6B65D}"/>
              </a:ext>
            </a:extLst>
          </p:cNvPr>
          <p:cNvSpPr>
            <a:spLocks noGrp="1"/>
          </p:cNvSpPr>
          <p:nvPr>
            <p:ph idx="1"/>
          </p:nvPr>
        </p:nvSpPr>
        <p:spPr/>
        <p:txBody>
          <a:bodyPr/>
          <a:lstStyle/>
          <a:p>
            <a:r>
              <a:rPr lang="en-IN" dirty="0"/>
              <a:t>Chi-square method (X2) is generally used to test the relationship between categorical variables. It compares the observed values from different attributes of the dataset to its expected value.</a:t>
            </a:r>
          </a:p>
          <a:p>
            <a:endParaRPr lang="en-IN" dirty="0"/>
          </a:p>
          <a:p>
            <a:endParaRPr lang="en-IN" dirty="0"/>
          </a:p>
        </p:txBody>
      </p:sp>
      <p:pic>
        <p:nvPicPr>
          <p:cNvPr id="5" name="Picture 4">
            <a:extLst>
              <a:ext uri="{FF2B5EF4-FFF2-40B4-BE49-F238E27FC236}">
                <a16:creationId xmlns:a16="http://schemas.microsoft.com/office/drawing/2014/main" id="{80142D86-5731-47AE-68E2-D06A3CD233B6}"/>
              </a:ext>
            </a:extLst>
          </p:cNvPr>
          <p:cNvPicPr>
            <a:picLocks noChangeAspect="1"/>
          </p:cNvPicPr>
          <p:nvPr/>
        </p:nvPicPr>
        <p:blipFill>
          <a:blip r:embed="rId2"/>
          <a:stretch>
            <a:fillRect/>
          </a:stretch>
        </p:blipFill>
        <p:spPr>
          <a:xfrm>
            <a:off x="2368615" y="4246691"/>
            <a:ext cx="4095750" cy="790575"/>
          </a:xfrm>
          <a:prstGeom prst="rect">
            <a:avLst/>
          </a:prstGeom>
        </p:spPr>
      </p:pic>
    </p:spTree>
    <p:extLst>
      <p:ext uri="{BB962C8B-B14F-4D97-AF65-F5344CB8AC3E}">
        <p14:creationId xmlns:p14="http://schemas.microsoft.com/office/powerpoint/2010/main" val="3859153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8870-97DC-A0BA-1539-E3832425448A}"/>
              </a:ext>
            </a:extLst>
          </p:cNvPr>
          <p:cNvSpPr>
            <a:spLocks noGrp="1"/>
          </p:cNvSpPr>
          <p:nvPr>
            <p:ph type="title"/>
          </p:nvPr>
        </p:nvSpPr>
        <p:spPr/>
        <p:txBody>
          <a:bodyPr/>
          <a:lstStyle/>
          <a:p>
            <a:r>
              <a:rPr lang="en-US" dirty="0"/>
              <a:t>Fisher’s Score</a:t>
            </a:r>
            <a:endParaRPr lang="en-IN" dirty="0"/>
          </a:p>
        </p:txBody>
      </p:sp>
      <p:sp>
        <p:nvSpPr>
          <p:cNvPr id="3" name="Content Placeholder 2">
            <a:extLst>
              <a:ext uri="{FF2B5EF4-FFF2-40B4-BE49-F238E27FC236}">
                <a16:creationId xmlns:a16="http://schemas.microsoft.com/office/drawing/2014/main" id="{5B518A06-A40D-9A88-77B6-E27F458B956C}"/>
              </a:ext>
            </a:extLst>
          </p:cNvPr>
          <p:cNvSpPr>
            <a:spLocks noGrp="1"/>
          </p:cNvSpPr>
          <p:nvPr>
            <p:ph idx="1"/>
          </p:nvPr>
        </p:nvSpPr>
        <p:spPr/>
        <p:txBody>
          <a:bodyPr/>
          <a:lstStyle/>
          <a:p>
            <a:r>
              <a:rPr lang="en-IN" dirty="0"/>
              <a:t>Fisher’s Score selects each feature independently according to their scores under Fisher criterion leading to a suboptimal set of features. The larger the Fisher’s score is, the better is the selected feature.</a:t>
            </a:r>
          </a:p>
        </p:txBody>
      </p:sp>
    </p:spTree>
    <p:extLst>
      <p:ext uri="{BB962C8B-B14F-4D97-AF65-F5344CB8AC3E}">
        <p14:creationId xmlns:p14="http://schemas.microsoft.com/office/powerpoint/2010/main" val="1657694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764F-8291-D94D-E46B-DD27A14E1949}"/>
              </a:ext>
            </a:extLst>
          </p:cNvPr>
          <p:cNvSpPr>
            <a:spLocks noGrp="1"/>
          </p:cNvSpPr>
          <p:nvPr>
            <p:ph type="title"/>
          </p:nvPr>
        </p:nvSpPr>
        <p:spPr/>
        <p:txBody>
          <a:bodyPr/>
          <a:lstStyle/>
          <a:p>
            <a:r>
              <a:rPr lang="en-IN" dirty="0"/>
              <a:t>Correlation Coefficient</a:t>
            </a:r>
          </a:p>
        </p:txBody>
      </p:sp>
      <p:sp>
        <p:nvSpPr>
          <p:cNvPr id="3" name="Content Placeholder 2">
            <a:extLst>
              <a:ext uri="{FF2B5EF4-FFF2-40B4-BE49-F238E27FC236}">
                <a16:creationId xmlns:a16="http://schemas.microsoft.com/office/drawing/2014/main" id="{1C1FA1E6-2166-F68F-2A4E-8A4BD43D6FBB}"/>
              </a:ext>
            </a:extLst>
          </p:cNvPr>
          <p:cNvSpPr>
            <a:spLocks noGrp="1"/>
          </p:cNvSpPr>
          <p:nvPr>
            <p:ph idx="1"/>
          </p:nvPr>
        </p:nvSpPr>
        <p:spPr/>
        <p:txBody>
          <a:bodyPr/>
          <a:lstStyle/>
          <a:p>
            <a:r>
              <a:rPr lang="en-IN" dirty="0"/>
              <a:t>Pearson’s Correlation Coefficient is a measure of quantifying the association between the two continuous variables and the direction of the relationship with its values ranging from -1 to 1.</a:t>
            </a:r>
          </a:p>
        </p:txBody>
      </p:sp>
    </p:spTree>
    <p:extLst>
      <p:ext uri="{BB962C8B-B14F-4D97-AF65-F5344CB8AC3E}">
        <p14:creationId xmlns:p14="http://schemas.microsoft.com/office/powerpoint/2010/main" val="3590973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6ABB4-4461-7D06-90A1-3848DDCC4782}"/>
              </a:ext>
            </a:extLst>
          </p:cNvPr>
          <p:cNvSpPr>
            <a:spLocks noGrp="1"/>
          </p:cNvSpPr>
          <p:nvPr>
            <p:ph type="title"/>
          </p:nvPr>
        </p:nvSpPr>
        <p:spPr/>
        <p:txBody>
          <a:bodyPr/>
          <a:lstStyle/>
          <a:p>
            <a:r>
              <a:rPr lang="en-US" dirty="0"/>
              <a:t>Embedded Method</a:t>
            </a:r>
            <a:endParaRPr lang="en-IN" dirty="0"/>
          </a:p>
        </p:txBody>
      </p:sp>
      <p:sp>
        <p:nvSpPr>
          <p:cNvPr id="3" name="Content Placeholder 2">
            <a:extLst>
              <a:ext uri="{FF2B5EF4-FFF2-40B4-BE49-F238E27FC236}">
                <a16:creationId xmlns:a16="http://schemas.microsoft.com/office/drawing/2014/main" id="{BF4804FD-C6A8-835F-3095-4F9BC858898B}"/>
              </a:ext>
            </a:extLst>
          </p:cNvPr>
          <p:cNvSpPr>
            <a:spLocks noGrp="1"/>
          </p:cNvSpPr>
          <p:nvPr>
            <p:ph idx="1"/>
          </p:nvPr>
        </p:nvSpPr>
        <p:spPr/>
        <p:txBody>
          <a:bodyPr/>
          <a:lstStyle/>
          <a:p>
            <a:r>
              <a:rPr lang="en-IN" b="0" i="0" dirty="0">
                <a:solidFill>
                  <a:srgbClr val="242424"/>
                </a:solidFill>
                <a:effectLst/>
                <a:highlight>
                  <a:srgbClr val="FFFFFF"/>
                </a:highlight>
                <a:latin typeface="source-serif-pro"/>
              </a:rPr>
              <a:t>Embedded methods combine the advantageous aspects of both Filter and Wrapper methods. </a:t>
            </a:r>
          </a:p>
          <a:p>
            <a:endParaRPr lang="en-IN" dirty="0">
              <a:solidFill>
                <a:srgbClr val="242424"/>
              </a:solidFill>
              <a:highlight>
                <a:srgbClr val="FFFFFF"/>
              </a:highlight>
              <a:latin typeface="source-serif-pro"/>
            </a:endParaRPr>
          </a:p>
          <a:p>
            <a:r>
              <a:rPr lang="en-IN" b="0" i="0" dirty="0">
                <a:solidFill>
                  <a:srgbClr val="333333"/>
                </a:solidFill>
                <a:effectLst/>
                <a:highlight>
                  <a:srgbClr val="FFFFFF"/>
                </a:highlight>
                <a:latin typeface="inter-regular"/>
              </a:rPr>
              <a:t>Embedded methods combined the advantages of both filter and wrapper methods by considering the interaction of features along with low computational cost. </a:t>
            </a:r>
            <a:endParaRPr lang="en-IN" b="0" i="0" dirty="0">
              <a:solidFill>
                <a:srgbClr val="242424"/>
              </a:solidFill>
              <a:effectLst/>
              <a:highlight>
                <a:srgbClr val="FFFFFF"/>
              </a:highlight>
              <a:latin typeface="source-serif-pro"/>
            </a:endParaRPr>
          </a:p>
          <a:p>
            <a:endParaRPr lang="en-IN" dirty="0">
              <a:solidFill>
                <a:srgbClr val="242424"/>
              </a:solidFill>
              <a:highlight>
                <a:srgbClr val="FFFFFF"/>
              </a:highlight>
              <a:latin typeface="source-serif-pro"/>
            </a:endParaRPr>
          </a:p>
          <a:p>
            <a:r>
              <a:rPr lang="en-IN" b="0" i="0" dirty="0">
                <a:solidFill>
                  <a:srgbClr val="333333"/>
                </a:solidFill>
                <a:effectLst/>
                <a:highlight>
                  <a:srgbClr val="FFFFFF"/>
                </a:highlight>
                <a:latin typeface="inter-regular"/>
              </a:rPr>
              <a:t>These are fast processing methods similar to the filter method but more accurate than the filter method.</a:t>
            </a:r>
            <a:endParaRPr lang="en-IN" dirty="0">
              <a:solidFill>
                <a:srgbClr val="242424"/>
              </a:solidFill>
              <a:highlight>
                <a:srgbClr val="FFFFFF"/>
              </a:highlight>
              <a:latin typeface="source-serif-pro"/>
            </a:endParaRPr>
          </a:p>
          <a:p>
            <a:endParaRPr lang="en-IN" dirty="0"/>
          </a:p>
        </p:txBody>
      </p:sp>
    </p:spTree>
    <p:extLst>
      <p:ext uri="{BB962C8B-B14F-4D97-AF65-F5344CB8AC3E}">
        <p14:creationId xmlns:p14="http://schemas.microsoft.com/office/powerpoint/2010/main" val="806192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5923-20D5-ECA5-1B6F-469BC16A5E8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5D2B0B8-09DD-706D-114C-E59473AF6C00}"/>
              </a:ext>
            </a:extLst>
          </p:cNvPr>
          <p:cNvPicPr>
            <a:picLocks noGrp="1" noChangeAspect="1"/>
          </p:cNvPicPr>
          <p:nvPr>
            <p:ph idx="1"/>
          </p:nvPr>
        </p:nvPicPr>
        <p:blipFill>
          <a:blip r:embed="rId2"/>
          <a:stretch>
            <a:fillRect/>
          </a:stretch>
        </p:blipFill>
        <p:spPr>
          <a:xfrm>
            <a:off x="2118049" y="1530304"/>
            <a:ext cx="5015306" cy="4511721"/>
          </a:xfrm>
        </p:spPr>
      </p:pic>
    </p:spTree>
    <p:extLst>
      <p:ext uri="{BB962C8B-B14F-4D97-AF65-F5344CB8AC3E}">
        <p14:creationId xmlns:p14="http://schemas.microsoft.com/office/powerpoint/2010/main" val="2982764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AA15-BAAF-1006-242A-E2E1EF47CA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5A431D-0D54-6124-9753-892A48866298}"/>
              </a:ext>
            </a:extLst>
          </p:cNvPr>
          <p:cNvSpPr>
            <a:spLocks noGrp="1"/>
          </p:cNvSpPr>
          <p:nvPr>
            <p:ph idx="1"/>
          </p:nvPr>
        </p:nvSpPr>
        <p:spPr/>
        <p:txBody>
          <a:bodyPr/>
          <a:lstStyle/>
          <a:p>
            <a:r>
              <a:rPr lang="en-IN" b="0" i="0" dirty="0">
                <a:solidFill>
                  <a:srgbClr val="333333"/>
                </a:solidFill>
                <a:effectLst/>
                <a:highlight>
                  <a:srgbClr val="FFFFFF"/>
                </a:highlight>
                <a:latin typeface="inter-regular"/>
              </a:rPr>
              <a:t>These methods are also iterative, which evaluates each iteration, and optimally finds the most important features that contribute the most to training in a particular iteration. :</a:t>
            </a:r>
          </a:p>
          <a:p>
            <a:endParaRPr lang="en-IN" dirty="0">
              <a:solidFill>
                <a:srgbClr val="333333"/>
              </a:solidFill>
              <a:highlight>
                <a:srgbClr val="FFFFFF"/>
              </a:highlight>
              <a:latin typeface="inter-regular"/>
            </a:endParaRPr>
          </a:p>
          <a:p>
            <a:endParaRPr lang="en-IN" dirty="0"/>
          </a:p>
        </p:txBody>
      </p:sp>
    </p:spTree>
    <p:extLst>
      <p:ext uri="{BB962C8B-B14F-4D97-AF65-F5344CB8AC3E}">
        <p14:creationId xmlns:p14="http://schemas.microsoft.com/office/powerpoint/2010/main" val="3962318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6EE19-28F3-BFBF-1B10-DC2DE2CC3B72}"/>
              </a:ext>
            </a:extLst>
          </p:cNvPr>
          <p:cNvSpPr>
            <a:spLocks noGrp="1"/>
          </p:cNvSpPr>
          <p:nvPr>
            <p:ph type="title"/>
          </p:nvPr>
        </p:nvSpPr>
        <p:spPr/>
        <p:txBody>
          <a:bodyPr/>
          <a:lstStyle/>
          <a:p>
            <a:r>
              <a:rPr lang="en-IN" dirty="0"/>
              <a:t>Some techniques of embedded methods</a:t>
            </a:r>
          </a:p>
        </p:txBody>
      </p:sp>
      <p:sp>
        <p:nvSpPr>
          <p:cNvPr id="3" name="Content Placeholder 2">
            <a:extLst>
              <a:ext uri="{FF2B5EF4-FFF2-40B4-BE49-F238E27FC236}">
                <a16:creationId xmlns:a16="http://schemas.microsoft.com/office/drawing/2014/main" id="{8ED90DC5-FCE9-7C4C-79B0-D8A5E066DE2B}"/>
              </a:ext>
            </a:extLst>
          </p:cNvPr>
          <p:cNvSpPr>
            <a:spLocks noGrp="1"/>
          </p:cNvSpPr>
          <p:nvPr>
            <p:ph idx="1"/>
          </p:nvPr>
        </p:nvSpPr>
        <p:spPr/>
        <p:txBody>
          <a:bodyPr/>
          <a:lstStyle/>
          <a:p>
            <a:r>
              <a:rPr lang="en-IN" b="1" i="0" dirty="0">
                <a:solidFill>
                  <a:srgbClr val="000000"/>
                </a:solidFill>
                <a:effectLst/>
                <a:highlight>
                  <a:srgbClr val="FFFFFF"/>
                </a:highlight>
                <a:latin typeface="inter-bold"/>
              </a:rPr>
              <a:t>Regularization</a:t>
            </a:r>
          </a:p>
          <a:p>
            <a:endParaRPr lang="en-IN" b="1" dirty="0">
              <a:solidFill>
                <a:srgbClr val="000000"/>
              </a:solidFill>
              <a:highlight>
                <a:srgbClr val="FFFFFF"/>
              </a:highlight>
              <a:latin typeface="inter-bold"/>
            </a:endParaRPr>
          </a:p>
          <a:p>
            <a:r>
              <a:rPr lang="en-IN" b="1" i="0" dirty="0">
                <a:solidFill>
                  <a:srgbClr val="000000"/>
                </a:solidFill>
                <a:effectLst/>
                <a:highlight>
                  <a:srgbClr val="FFFFFF"/>
                </a:highlight>
                <a:latin typeface="inter-bold"/>
              </a:rPr>
              <a:t>Random Forest Importance</a:t>
            </a:r>
            <a:r>
              <a:rPr lang="en-IN" b="0" i="0" dirty="0">
                <a:solidFill>
                  <a:srgbClr val="000000"/>
                </a:solidFill>
                <a:effectLst/>
                <a:highlight>
                  <a:srgbClr val="FFFFFF"/>
                </a:highlight>
                <a:latin typeface="inter-regular"/>
              </a:rPr>
              <a:t> </a:t>
            </a:r>
            <a:endParaRPr lang="en-IN" dirty="0"/>
          </a:p>
        </p:txBody>
      </p:sp>
    </p:spTree>
    <p:extLst>
      <p:ext uri="{BB962C8B-B14F-4D97-AF65-F5344CB8AC3E}">
        <p14:creationId xmlns:p14="http://schemas.microsoft.com/office/powerpoint/2010/main" val="96989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78FB1-A717-6E21-624B-A9B160EB48C4}"/>
              </a:ext>
            </a:extLst>
          </p:cNvPr>
          <p:cNvSpPr>
            <a:spLocks noGrp="1"/>
          </p:cNvSpPr>
          <p:nvPr>
            <p:ph type="title"/>
          </p:nvPr>
        </p:nvSpPr>
        <p:spPr/>
        <p:txBody>
          <a:bodyPr/>
          <a:lstStyle/>
          <a:p>
            <a:r>
              <a:rPr lang="en-IN" dirty="0"/>
              <a:t>Regularization</a:t>
            </a:r>
          </a:p>
        </p:txBody>
      </p:sp>
      <p:sp>
        <p:nvSpPr>
          <p:cNvPr id="3" name="Content Placeholder 2">
            <a:extLst>
              <a:ext uri="{FF2B5EF4-FFF2-40B4-BE49-F238E27FC236}">
                <a16:creationId xmlns:a16="http://schemas.microsoft.com/office/drawing/2014/main" id="{036D1959-F826-F38B-4F18-5166D5323218}"/>
              </a:ext>
            </a:extLst>
          </p:cNvPr>
          <p:cNvSpPr>
            <a:spLocks noGrp="1"/>
          </p:cNvSpPr>
          <p:nvPr>
            <p:ph idx="1"/>
          </p:nvPr>
        </p:nvSpPr>
        <p:spPr/>
        <p:txBody>
          <a:bodyPr/>
          <a:lstStyle/>
          <a:p>
            <a:r>
              <a:rPr lang="en-IN" b="0" i="0" dirty="0">
                <a:solidFill>
                  <a:srgbClr val="000000"/>
                </a:solidFill>
                <a:effectLst/>
                <a:highlight>
                  <a:srgbClr val="FFFFFF"/>
                </a:highlight>
                <a:latin typeface="inter-regular"/>
              </a:rPr>
              <a:t>Regularization adds a penalty term to different parameters of the machine learning model to avoid overfitting in the model. </a:t>
            </a:r>
          </a:p>
          <a:p>
            <a:endParaRPr lang="en-IN" dirty="0">
              <a:solidFill>
                <a:srgbClr val="000000"/>
              </a:solidFill>
              <a:highlight>
                <a:srgbClr val="FFFFFF"/>
              </a:highlight>
              <a:latin typeface="inter-regular"/>
            </a:endParaRPr>
          </a:p>
          <a:p>
            <a:r>
              <a:rPr lang="en-IN" b="0" i="0" dirty="0">
                <a:solidFill>
                  <a:srgbClr val="000000"/>
                </a:solidFill>
                <a:effectLst/>
                <a:highlight>
                  <a:srgbClr val="FFFFFF"/>
                </a:highlight>
                <a:latin typeface="inter-regular"/>
              </a:rPr>
              <a:t>This penalty term is added to the coefficients; hence it shrinks some coefficients to zero. Those features with zero coefficients can be removed from the dataset. </a:t>
            </a:r>
          </a:p>
          <a:p>
            <a:endParaRPr lang="en-IN" dirty="0">
              <a:solidFill>
                <a:srgbClr val="000000"/>
              </a:solidFill>
              <a:highlight>
                <a:srgbClr val="FFFFFF"/>
              </a:highlight>
              <a:latin typeface="inter-regular"/>
            </a:endParaRPr>
          </a:p>
          <a:p>
            <a:r>
              <a:rPr lang="en-IN" b="0" i="0" dirty="0">
                <a:solidFill>
                  <a:srgbClr val="000000"/>
                </a:solidFill>
                <a:effectLst/>
                <a:highlight>
                  <a:srgbClr val="FFFFFF"/>
                </a:highlight>
                <a:latin typeface="inter-regular"/>
              </a:rPr>
              <a:t>The types of regularization techniques are L1 Regularization (Lasso Regularization) or d L2 regularization(Ridge Regularization) </a:t>
            </a:r>
            <a:endParaRPr lang="en-IN" dirty="0"/>
          </a:p>
        </p:txBody>
      </p:sp>
    </p:spTree>
    <p:extLst>
      <p:ext uri="{BB962C8B-B14F-4D97-AF65-F5344CB8AC3E}">
        <p14:creationId xmlns:p14="http://schemas.microsoft.com/office/powerpoint/2010/main" val="236553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445AD-78D7-0386-845F-C74C3760CBC3}"/>
              </a:ext>
            </a:extLst>
          </p:cNvPr>
          <p:cNvSpPr>
            <a:spLocks noGrp="1"/>
          </p:cNvSpPr>
          <p:nvPr>
            <p:ph type="title"/>
          </p:nvPr>
        </p:nvSpPr>
        <p:spPr/>
        <p:txBody>
          <a:bodyPr/>
          <a:lstStyle/>
          <a:p>
            <a:r>
              <a:rPr lang="en-IN" dirty="0"/>
              <a:t>Random Forest Importance</a:t>
            </a:r>
          </a:p>
        </p:txBody>
      </p:sp>
      <p:sp>
        <p:nvSpPr>
          <p:cNvPr id="3" name="Content Placeholder 2">
            <a:extLst>
              <a:ext uri="{FF2B5EF4-FFF2-40B4-BE49-F238E27FC236}">
                <a16:creationId xmlns:a16="http://schemas.microsoft.com/office/drawing/2014/main" id="{B1CAF7F0-5088-172A-595D-CFB52098EF07}"/>
              </a:ext>
            </a:extLst>
          </p:cNvPr>
          <p:cNvSpPr>
            <a:spLocks noGrp="1"/>
          </p:cNvSpPr>
          <p:nvPr>
            <p:ph idx="1"/>
          </p:nvPr>
        </p:nvSpPr>
        <p:spPr/>
        <p:txBody>
          <a:bodyPr/>
          <a:lstStyle/>
          <a:p>
            <a:r>
              <a:rPr lang="en-IN" b="0" i="0" dirty="0">
                <a:solidFill>
                  <a:srgbClr val="000000"/>
                </a:solidFill>
                <a:effectLst/>
                <a:highlight>
                  <a:srgbClr val="FFFFFF"/>
                </a:highlight>
                <a:latin typeface="inter-regular"/>
              </a:rPr>
              <a:t>Different tree-based methods of feature selection help us with feature importance to provide a way of selecting features. Here, feature importance specifies which feature has more importance in model building or has a great impact on the target variable.</a:t>
            </a:r>
          </a:p>
          <a:p>
            <a:endParaRPr lang="en-IN" dirty="0">
              <a:solidFill>
                <a:srgbClr val="000000"/>
              </a:solidFill>
              <a:highlight>
                <a:srgbClr val="FFFFFF"/>
              </a:highlight>
              <a:latin typeface="inter-regular"/>
            </a:endParaRPr>
          </a:p>
          <a:p>
            <a:r>
              <a:rPr lang="en-IN" b="0" i="0" dirty="0">
                <a:solidFill>
                  <a:srgbClr val="000000"/>
                </a:solidFill>
                <a:effectLst/>
                <a:highlight>
                  <a:srgbClr val="FFFFFF"/>
                </a:highlight>
                <a:latin typeface="inter-regular"/>
              </a:rPr>
              <a:t> Random Forest </a:t>
            </a:r>
            <a:r>
              <a:rPr lang="en-IN" b="0" i="0">
                <a:solidFill>
                  <a:srgbClr val="000000"/>
                </a:solidFill>
                <a:effectLst/>
                <a:highlight>
                  <a:srgbClr val="FFFFFF"/>
                </a:highlight>
                <a:latin typeface="inter-regular"/>
              </a:rPr>
              <a:t>is a </a:t>
            </a:r>
            <a:r>
              <a:rPr lang="en-IN" b="0" i="0" dirty="0">
                <a:solidFill>
                  <a:srgbClr val="000000"/>
                </a:solidFill>
                <a:effectLst/>
                <a:highlight>
                  <a:srgbClr val="FFFFFF"/>
                </a:highlight>
                <a:latin typeface="inter-regular"/>
              </a:rPr>
              <a:t>tree-based method, which is a type of bagging algorithm that aggregates a different number of decision trees. </a:t>
            </a:r>
          </a:p>
          <a:p>
            <a:endParaRPr lang="en-IN" dirty="0">
              <a:solidFill>
                <a:srgbClr val="000000"/>
              </a:solidFill>
              <a:highlight>
                <a:srgbClr val="FFFFFF"/>
              </a:highlight>
              <a:latin typeface="inter-regular"/>
            </a:endParaRPr>
          </a:p>
          <a:p>
            <a:endParaRPr lang="en-IN" dirty="0"/>
          </a:p>
        </p:txBody>
      </p:sp>
    </p:spTree>
    <p:extLst>
      <p:ext uri="{BB962C8B-B14F-4D97-AF65-F5344CB8AC3E}">
        <p14:creationId xmlns:p14="http://schemas.microsoft.com/office/powerpoint/2010/main" val="19194857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6C3F0-0945-1BEC-52B0-312DA92D5794}"/>
              </a:ext>
            </a:extLst>
          </p:cNvPr>
          <p:cNvSpPr>
            <a:spLocks noGrp="1"/>
          </p:cNvSpPr>
          <p:nvPr>
            <p:ph type="title"/>
          </p:nvPr>
        </p:nvSpPr>
        <p:spPr/>
        <p:txBody>
          <a:bodyPr/>
          <a:lstStyle/>
          <a:p>
            <a:r>
              <a:rPr lang="en-US" dirty="0"/>
              <a:t>Evaluating ML Algo and </a:t>
            </a:r>
            <a:r>
              <a:rPr lang="en-US"/>
              <a:t>Model Selection</a:t>
            </a:r>
            <a:endParaRPr lang="en-IN" dirty="0"/>
          </a:p>
        </p:txBody>
      </p:sp>
      <p:sp>
        <p:nvSpPr>
          <p:cNvPr id="3" name="Content Placeholder 2">
            <a:extLst>
              <a:ext uri="{FF2B5EF4-FFF2-40B4-BE49-F238E27FC236}">
                <a16:creationId xmlns:a16="http://schemas.microsoft.com/office/drawing/2014/main" id="{44DCF36A-FA2D-18F3-E28A-D8EE70523560}"/>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Model evaluation is the process that uses some metrics that help us to </a:t>
            </a:r>
            <a:r>
              <a:rPr lang="en-IN" b="0" i="0" dirty="0" err="1">
                <a:solidFill>
                  <a:srgbClr val="273239"/>
                </a:solidFill>
                <a:effectLst/>
                <a:highlight>
                  <a:srgbClr val="FFFFFF"/>
                </a:highlight>
                <a:latin typeface="Nunito" pitchFamily="2" charset="0"/>
              </a:rPr>
              <a:t>analyze</a:t>
            </a:r>
            <a:r>
              <a:rPr lang="en-IN" b="0" i="0" dirty="0">
                <a:solidFill>
                  <a:srgbClr val="273239"/>
                </a:solidFill>
                <a:effectLst/>
                <a:highlight>
                  <a:srgbClr val="FFFFFF"/>
                </a:highlight>
                <a:latin typeface="Nunito" pitchFamily="2" charset="0"/>
              </a:rPr>
              <a:t> the performance of the model.</a:t>
            </a:r>
          </a:p>
          <a:p>
            <a:endParaRPr lang="en-IN" dirty="0">
              <a:solidFill>
                <a:srgbClr val="273239"/>
              </a:solidFill>
              <a:highlight>
                <a:srgbClr val="FFFFFF"/>
              </a:highlight>
              <a:latin typeface="Nunito" pitchFamily="2" charset="0"/>
            </a:endParaRPr>
          </a:p>
          <a:p>
            <a:endParaRPr lang="en-IN" dirty="0"/>
          </a:p>
        </p:txBody>
      </p:sp>
    </p:spTree>
    <p:extLst>
      <p:ext uri="{BB962C8B-B14F-4D97-AF65-F5344CB8AC3E}">
        <p14:creationId xmlns:p14="http://schemas.microsoft.com/office/powerpoint/2010/main" val="1445149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137FA-B654-FC8C-1205-34903322B508}"/>
              </a:ext>
            </a:extLst>
          </p:cNvPr>
          <p:cNvSpPr>
            <a:spLocks noGrp="1"/>
          </p:cNvSpPr>
          <p:nvPr>
            <p:ph type="title"/>
          </p:nvPr>
        </p:nvSpPr>
        <p:spPr/>
        <p:txBody>
          <a:bodyPr/>
          <a:lstStyle/>
          <a:p>
            <a:r>
              <a:rPr lang="en-US" dirty="0"/>
              <a:t>Accuracy</a:t>
            </a:r>
            <a:endParaRPr lang="en-IN" dirty="0"/>
          </a:p>
        </p:txBody>
      </p:sp>
      <p:sp>
        <p:nvSpPr>
          <p:cNvPr id="3" name="Content Placeholder 2">
            <a:extLst>
              <a:ext uri="{FF2B5EF4-FFF2-40B4-BE49-F238E27FC236}">
                <a16:creationId xmlns:a16="http://schemas.microsoft.com/office/drawing/2014/main" id="{7DA7312E-AE7C-7C35-C34F-C686F44C2AC3}"/>
              </a:ext>
            </a:extLst>
          </p:cNvPr>
          <p:cNvSpPr>
            <a:spLocks noGrp="1"/>
          </p:cNvSpPr>
          <p:nvPr>
            <p:ph idx="1"/>
          </p:nvPr>
        </p:nvSpPr>
        <p:spPr/>
        <p:txBody>
          <a:bodyPr/>
          <a:lstStyle/>
          <a:p>
            <a:r>
              <a:rPr lang="en-IN" b="1" i="0" dirty="0">
                <a:solidFill>
                  <a:srgbClr val="273239"/>
                </a:solidFill>
                <a:effectLst/>
                <a:highlight>
                  <a:srgbClr val="FFFFFF"/>
                </a:highlight>
                <a:latin typeface="Nunito" pitchFamily="2" charset="0"/>
              </a:rPr>
              <a:t>Accuracy: </a:t>
            </a:r>
            <a:r>
              <a:rPr lang="en-IN" b="0" i="0" dirty="0">
                <a:solidFill>
                  <a:srgbClr val="273239"/>
                </a:solidFill>
                <a:effectLst/>
                <a:highlight>
                  <a:srgbClr val="FFFFFF"/>
                </a:highlight>
                <a:latin typeface="Nunito" pitchFamily="2" charset="0"/>
              </a:rPr>
              <a:t>Accuracy is defined as the ratio of the number of correct predictions to the total number of predictions.</a:t>
            </a:r>
          </a:p>
          <a:p>
            <a:endParaRPr lang="en-IN" dirty="0">
              <a:solidFill>
                <a:srgbClr val="273239"/>
              </a:solidFill>
              <a:highlight>
                <a:srgbClr val="FFFFFF"/>
              </a:highlight>
              <a:latin typeface="Nunito" pitchFamily="2" charset="0"/>
            </a:endParaRPr>
          </a:p>
          <a:p>
            <a:endParaRPr lang="en-IN" b="1" i="0" dirty="0">
              <a:solidFill>
                <a:srgbClr val="273239"/>
              </a:solidFill>
              <a:effectLst/>
              <a:highlight>
                <a:srgbClr val="FFFFFF"/>
              </a:highlight>
              <a:latin typeface="Nunito" pitchFamily="2" charset="0"/>
            </a:endParaRPr>
          </a:p>
        </p:txBody>
      </p:sp>
      <p:sp>
        <p:nvSpPr>
          <p:cNvPr id="5" name="TextBox 4">
            <a:extLst>
              <a:ext uri="{FF2B5EF4-FFF2-40B4-BE49-F238E27FC236}">
                <a16:creationId xmlns:a16="http://schemas.microsoft.com/office/drawing/2014/main" id="{684DDEDA-8468-07DA-B76F-DA130D7DA365}"/>
              </a:ext>
            </a:extLst>
          </p:cNvPr>
          <p:cNvSpPr txBox="1"/>
          <p:nvPr/>
        </p:nvSpPr>
        <p:spPr>
          <a:xfrm>
            <a:off x="1035697" y="3538248"/>
            <a:ext cx="6102220" cy="369332"/>
          </a:xfrm>
          <a:prstGeom prst="rect">
            <a:avLst/>
          </a:prstGeom>
          <a:noFill/>
        </p:spPr>
        <p:txBody>
          <a:bodyPr wrap="square">
            <a:spAutoFit/>
          </a:bodyPr>
          <a:lstStyle/>
          <a:p>
            <a:r>
              <a:rPr lang="en-IN" b="0" i="0" dirty="0" err="1">
                <a:solidFill>
                  <a:srgbClr val="000000"/>
                </a:solidFill>
                <a:effectLst/>
                <a:highlight>
                  <a:srgbClr val="FFFFFF"/>
                </a:highlight>
                <a:latin typeface="Consolas" panose="020B0609020204030204" pitchFamily="49" charset="0"/>
              </a:rPr>
              <a:t>accuracy_score</a:t>
            </a:r>
            <a:endParaRPr lang="en-IN" dirty="0"/>
          </a:p>
        </p:txBody>
      </p:sp>
    </p:spTree>
    <p:extLst>
      <p:ext uri="{BB962C8B-B14F-4D97-AF65-F5344CB8AC3E}">
        <p14:creationId xmlns:p14="http://schemas.microsoft.com/office/powerpoint/2010/main" val="33145058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A0A3-CE5F-3856-EF90-3B108455774F}"/>
              </a:ext>
            </a:extLst>
          </p:cNvPr>
          <p:cNvSpPr>
            <a:spLocks noGrp="1"/>
          </p:cNvSpPr>
          <p:nvPr>
            <p:ph type="title"/>
          </p:nvPr>
        </p:nvSpPr>
        <p:spPr/>
        <p:txBody>
          <a:bodyPr/>
          <a:lstStyle/>
          <a:p>
            <a:r>
              <a:rPr lang="en-US" dirty="0"/>
              <a:t>Precision</a:t>
            </a:r>
            <a:endParaRPr lang="en-IN" dirty="0"/>
          </a:p>
        </p:txBody>
      </p:sp>
      <p:sp>
        <p:nvSpPr>
          <p:cNvPr id="3" name="Content Placeholder 2">
            <a:extLst>
              <a:ext uri="{FF2B5EF4-FFF2-40B4-BE49-F238E27FC236}">
                <a16:creationId xmlns:a16="http://schemas.microsoft.com/office/drawing/2014/main" id="{640AD5F4-3ED3-C8E4-C0A4-29DD56EE93A9}"/>
              </a:ext>
            </a:extLst>
          </p:cNvPr>
          <p:cNvSpPr>
            <a:spLocks noGrp="1"/>
          </p:cNvSpPr>
          <p:nvPr>
            <p:ph idx="1"/>
          </p:nvPr>
        </p:nvSpPr>
        <p:spPr/>
        <p:txBody>
          <a:bodyPr/>
          <a:lstStyle/>
          <a:p>
            <a:r>
              <a:rPr lang="en-IN" b="0" i="0">
                <a:solidFill>
                  <a:srgbClr val="273239"/>
                </a:solidFill>
                <a:effectLst/>
                <a:highlight>
                  <a:srgbClr val="FFFFFF"/>
                </a:highlight>
                <a:latin typeface="Nunito" pitchFamily="2" charset="0"/>
              </a:rPr>
              <a:t>Precision is the ratio of true positives to the summation of true positives and false positives. It basically analyses the positive predictions.</a:t>
            </a:r>
            <a:endParaRPr lang="en-IN" dirty="0"/>
          </a:p>
        </p:txBody>
      </p:sp>
      <p:pic>
        <p:nvPicPr>
          <p:cNvPr id="5" name="Picture 4">
            <a:extLst>
              <a:ext uri="{FF2B5EF4-FFF2-40B4-BE49-F238E27FC236}">
                <a16:creationId xmlns:a16="http://schemas.microsoft.com/office/drawing/2014/main" id="{FA83D3D3-B919-128A-83D8-F397E6E06F33}"/>
              </a:ext>
            </a:extLst>
          </p:cNvPr>
          <p:cNvPicPr>
            <a:picLocks noChangeAspect="1"/>
          </p:cNvPicPr>
          <p:nvPr/>
        </p:nvPicPr>
        <p:blipFill>
          <a:blip r:embed="rId2"/>
          <a:stretch>
            <a:fillRect/>
          </a:stretch>
        </p:blipFill>
        <p:spPr>
          <a:xfrm>
            <a:off x="1263909" y="3529475"/>
            <a:ext cx="2628900" cy="571500"/>
          </a:xfrm>
          <a:prstGeom prst="rect">
            <a:avLst/>
          </a:prstGeom>
        </p:spPr>
      </p:pic>
      <p:sp>
        <p:nvSpPr>
          <p:cNvPr id="7" name="TextBox 6">
            <a:extLst>
              <a:ext uri="{FF2B5EF4-FFF2-40B4-BE49-F238E27FC236}">
                <a16:creationId xmlns:a16="http://schemas.microsoft.com/office/drawing/2014/main" id="{BD423970-4E9C-FF87-961A-059DDEACFDA2}"/>
              </a:ext>
            </a:extLst>
          </p:cNvPr>
          <p:cNvSpPr txBox="1"/>
          <p:nvPr/>
        </p:nvSpPr>
        <p:spPr>
          <a:xfrm>
            <a:off x="942392" y="4798321"/>
            <a:ext cx="8500188" cy="646331"/>
          </a:xfrm>
          <a:prstGeom prst="rect">
            <a:avLst/>
          </a:prstGeom>
          <a:noFill/>
        </p:spPr>
        <p:txBody>
          <a:bodyPr wrap="square">
            <a:spAutoFit/>
          </a:bodyPr>
          <a:lstStyle/>
          <a:p>
            <a:r>
              <a:rPr lang="en-IN" b="0" i="0" dirty="0">
                <a:solidFill>
                  <a:srgbClr val="273239"/>
                </a:solidFill>
                <a:effectLst/>
                <a:highlight>
                  <a:srgbClr val="FFFFFF"/>
                </a:highlight>
                <a:latin typeface="Nunito" pitchFamily="2" charset="0"/>
              </a:rPr>
              <a:t>The drawback of Precision is that it does not consider the True  Negatives and False Negatives.</a:t>
            </a:r>
            <a:endParaRPr lang="en-IN" dirty="0"/>
          </a:p>
        </p:txBody>
      </p:sp>
      <p:sp>
        <p:nvSpPr>
          <p:cNvPr id="9" name="TextBox 8">
            <a:extLst>
              <a:ext uri="{FF2B5EF4-FFF2-40B4-BE49-F238E27FC236}">
                <a16:creationId xmlns:a16="http://schemas.microsoft.com/office/drawing/2014/main" id="{B182B07B-4975-FA79-8CBF-45C5A951003F}"/>
              </a:ext>
            </a:extLst>
          </p:cNvPr>
          <p:cNvSpPr txBox="1"/>
          <p:nvPr/>
        </p:nvSpPr>
        <p:spPr>
          <a:xfrm>
            <a:off x="1035697" y="5730948"/>
            <a:ext cx="6102220" cy="369332"/>
          </a:xfrm>
          <a:prstGeom prst="rect">
            <a:avLst/>
          </a:prstGeom>
          <a:noFill/>
        </p:spPr>
        <p:txBody>
          <a:bodyPr wrap="square">
            <a:spAutoFit/>
          </a:bodyPr>
          <a:lstStyle/>
          <a:p>
            <a:r>
              <a:rPr lang="en-IN" b="0" i="0" dirty="0" err="1">
                <a:solidFill>
                  <a:srgbClr val="000000"/>
                </a:solidFill>
                <a:effectLst/>
                <a:highlight>
                  <a:srgbClr val="FFFFFF"/>
                </a:highlight>
                <a:latin typeface="Consolas" panose="020B0609020204030204" pitchFamily="49" charset="0"/>
              </a:rPr>
              <a:t>precision_score</a:t>
            </a:r>
            <a:r>
              <a:rPr lang="en-IN" b="0" i="0" dirty="0">
                <a:solidFill>
                  <a:srgbClr val="000000"/>
                </a:solidFill>
                <a:effectLst/>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3438537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ED2DB-4B78-FFDB-8EC7-0B9FF6F5E888}"/>
              </a:ext>
            </a:extLst>
          </p:cNvPr>
          <p:cNvSpPr>
            <a:spLocks noGrp="1"/>
          </p:cNvSpPr>
          <p:nvPr>
            <p:ph type="title"/>
          </p:nvPr>
        </p:nvSpPr>
        <p:spPr/>
        <p:txBody>
          <a:bodyPr/>
          <a:lstStyle/>
          <a:p>
            <a:r>
              <a:rPr lang="en-US" dirty="0"/>
              <a:t>Recall</a:t>
            </a:r>
            <a:endParaRPr lang="en-IN" dirty="0"/>
          </a:p>
        </p:txBody>
      </p:sp>
      <p:sp>
        <p:nvSpPr>
          <p:cNvPr id="3" name="Content Placeholder 2">
            <a:extLst>
              <a:ext uri="{FF2B5EF4-FFF2-40B4-BE49-F238E27FC236}">
                <a16:creationId xmlns:a16="http://schemas.microsoft.com/office/drawing/2014/main" id="{2A8C62CF-C813-9EC3-0A42-1F3475ADFD92}"/>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Recall is the ratio of true positives to the summation of true positives and false negatives. It basically analyses the number of correct positive samples.</a:t>
            </a:r>
          </a:p>
          <a:p>
            <a:endParaRPr lang="en-IN" dirty="0">
              <a:solidFill>
                <a:srgbClr val="273239"/>
              </a:solidFill>
              <a:highlight>
                <a:srgbClr val="FFFFFF"/>
              </a:highlight>
              <a:latin typeface="Nunito" pitchFamily="2" charset="0"/>
            </a:endParaRPr>
          </a:p>
          <a:p>
            <a:endParaRPr lang="en-IN" dirty="0"/>
          </a:p>
        </p:txBody>
      </p:sp>
      <p:pic>
        <p:nvPicPr>
          <p:cNvPr id="5" name="Picture 4">
            <a:extLst>
              <a:ext uri="{FF2B5EF4-FFF2-40B4-BE49-F238E27FC236}">
                <a16:creationId xmlns:a16="http://schemas.microsoft.com/office/drawing/2014/main" id="{B26A62DA-D4C6-AFDE-FB64-6B08F27F9B2B}"/>
              </a:ext>
            </a:extLst>
          </p:cNvPr>
          <p:cNvPicPr>
            <a:picLocks noChangeAspect="1"/>
          </p:cNvPicPr>
          <p:nvPr/>
        </p:nvPicPr>
        <p:blipFill>
          <a:blip r:embed="rId2"/>
          <a:stretch>
            <a:fillRect/>
          </a:stretch>
        </p:blipFill>
        <p:spPr>
          <a:xfrm>
            <a:off x="1477442" y="3143250"/>
            <a:ext cx="2276475" cy="571500"/>
          </a:xfrm>
          <a:prstGeom prst="rect">
            <a:avLst/>
          </a:prstGeom>
        </p:spPr>
      </p:pic>
      <p:sp>
        <p:nvSpPr>
          <p:cNvPr id="7" name="TextBox 6">
            <a:extLst>
              <a:ext uri="{FF2B5EF4-FFF2-40B4-BE49-F238E27FC236}">
                <a16:creationId xmlns:a16="http://schemas.microsoft.com/office/drawing/2014/main" id="{6F1F42D5-178D-0A90-313D-D39C34586666}"/>
              </a:ext>
            </a:extLst>
          </p:cNvPr>
          <p:cNvSpPr txBox="1"/>
          <p:nvPr/>
        </p:nvSpPr>
        <p:spPr>
          <a:xfrm>
            <a:off x="914406" y="4891188"/>
            <a:ext cx="6102220" cy="369332"/>
          </a:xfrm>
          <a:prstGeom prst="rect">
            <a:avLst/>
          </a:prstGeom>
          <a:noFill/>
        </p:spPr>
        <p:txBody>
          <a:bodyPr wrap="square">
            <a:spAutoFit/>
          </a:bodyPr>
          <a:lstStyle/>
          <a:p>
            <a:r>
              <a:rPr lang="en-IN" b="0" i="0" dirty="0" err="1">
                <a:solidFill>
                  <a:srgbClr val="000000"/>
                </a:solidFill>
                <a:effectLst/>
                <a:highlight>
                  <a:srgbClr val="FFFFFF"/>
                </a:highlight>
                <a:latin typeface="Consolas" panose="020B0609020204030204" pitchFamily="49" charset="0"/>
              </a:rPr>
              <a:t>recall_score</a:t>
            </a:r>
            <a:r>
              <a:rPr lang="en-IN" b="0" i="0" dirty="0">
                <a:solidFill>
                  <a:srgbClr val="000000"/>
                </a:solidFill>
                <a:effectLst/>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41476431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AE50-B448-4CC2-FD17-E71AFB307F38}"/>
              </a:ext>
            </a:extLst>
          </p:cNvPr>
          <p:cNvSpPr>
            <a:spLocks noGrp="1"/>
          </p:cNvSpPr>
          <p:nvPr>
            <p:ph type="title"/>
          </p:nvPr>
        </p:nvSpPr>
        <p:spPr/>
        <p:txBody>
          <a:bodyPr/>
          <a:lstStyle/>
          <a:p>
            <a:r>
              <a:rPr lang="en-US" dirty="0"/>
              <a:t>Confusion Matrix</a:t>
            </a:r>
            <a:endParaRPr lang="en-IN" dirty="0"/>
          </a:p>
        </p:txBody>
      </p:sp>
      <p:pic>
        <p:nvPicPr>
          <p:cNvPr id="5" name="Content Placeholder 4">
            <a:extLst>
              <a:ext uri="{FF2B5EF4-FFF2-40B4-BE49-F238E27FC236}">
                <a16:creationId xmlns:a16="http://schemas.microsoft.com/office/drawing/2014/main" id="{401A8B9B-3227-F0C8-7B0D-2C5C0F83E00B}"/>
              </a:ext>
            </a:extLst>
          </p:cNvPr>
          <p:cNvPicPr>
            <a:picLocks noGrp="1" noChangeAspect="1"/>
          </p:cNvPicPr>
          <p:nvPr>
            <p:ph idx="1"/>
          </p:nvPr>
        </p:nvPicPr>
        <p:blipFill>
          <a:blip r:embed="rId2"/>
          <a:stretch>
            <a:fillRect/>
          </a:stretch>
        </p:blipFill>
        <p:spPr>
          <a:xfrm>
            <a:off x="746919" y="2810669"/>
            <a:ext cx="8458200" cy="2581275"/>
          </a:xfrm>
        </p:spPr>
      </p:pic>
      <p:sp>
        <p:nvSpPr>
          <p:cNvPr id="7" name="TextBox 6">
            <a:extLst>
              <a:ext uri="{FF2B5EF4-FFF2-40B4-BE49-F238E27FC236}">
                <a16:creationId xmlns:a16="http://schemas.microsoft.com/office/drawing/2014/main" id="{0BE4C320-490B-41CC-F6D8-00F4117691BD}"/>
              </a:ext>
            </a:extLst>
          </p:cNvPr>
          <p:cNvSpPr txBox="1"/>
          <p:nvPr/>
        </p:nvSpPr>
        <p:spPr>
          <a:xfrm>
            <a:off x="746919" y="1813545"/>
            <a:ext cx="7809252" cy="646331"/>
          </a:xfrm>
          <a:prstGeom prst="rect">
            <a:avLst/>
          </a:prstGeom>
          <a:noFill/>
        </p:spPr>
        <p:txBody>
          <a:bodyPr wrap="square">
            <a:spAutoFit/>
          </a:bodyPr>
          <a:lstStyle/>
          <a:p>
            <a:r>
              <a:rPr lang="en-IN" b="0" i="0" dirty="0">
                <a:solidFill>
                  <a:srgbClr val="333333"/>
                </a:solidFill>
                <a:effectLst/>
                <a:highlight>
                  <a:srgbClr val="FFFFFF"/>
                </a:highlight>
                <a:latin typeface="inter-regular"/>
              </a:rPr>
              <a:t>The confusion matrix is a representation of the accuracy of the classification model.</a:t>
            </a:r>
            <a:endParaRPr lang="en-IN" dirty="0"/>
          </a:p>
        </p:txBody>
      </p:sp>
    </p:spTree>
    <p:extLst>
      <p:ext uri="{BB962C8B-B14F-4D97-AF65-F5344CB8AC3E}">
        <p14:creationId xmlns:p14="http://schemas.microsoft.com/office/powerpoint/2010/main" val="134386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B1F4-5275-27D8-2F77-3A3876F5CC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DE327AD-11A1-40EF-E00B-50050DDB1458}"/>
              </a:ext>
            </a:extLst>
          </p:cNvPr>
          <p:cNvSpPr>
            <a:spLocks noGrp="1"/>
          </p:cNvSpPr>
          <p:nvPr>
            <p:ph idx="1"/>
          </p:nvPr>
        </p:nvSpPr>
        <p:spPr/>
        <p:txBody>
          <a:bodyPr/>
          <a:lstStyle/>
          <a:p>
            <a:pPr algn="just"/>
            <a:r>
              <a:rPr lang="en-IN" b="1" i="0" dirty="0">
                <a:solidFill>
                  <a:srgbClr val="333333"/>
                </a:solidFill>
                <a:effectLst/>
                <a:highlight>
                  <a:srgbClr val="FFFFFF"/>
                </a:highlight>
                <a:latin typeface="inter-bold"/>
              </a:rPr>
              <a:t>True Positive: -</a:t>
            </a:r>
            <a:r>
              <a:rPr lang="en-IN" b="0" i="0" dirty="0">
                <a:solidFill>
                  <a:srgbClr val="333333"/>
                </a:solidFill>
                <a:effectLst/>
                <a:highlight>
                  <a:srgbClr val="FFFFFF"/>
                </a:highlight>
                <a:latin typeface="inter-regular"/>
              </a:rPr>
              <a:t> This is the number of times the model predicted an independent variable as positive when the actual value was positive.</a:t>
            </a:r>
          </a:p>
          <a:p>
            <a:pPr algn="just"/>
            <a:r>
              <a:rPr lang="en-IN" b="1" i="0" dirty="0">
                <a:solidFill>
                  <a:srgbClr val="333333"/>
                </a:solidFill>
                <a:effectLst/>
                <a:highlight>
                  <a:srgbClr val="FFFFFF"/>
                </a:highlight>
                <a:latin typeface="inter-bold"/>
              </a:rPr>
              <a:t>False Positive: -</a:t>
            </a:r>
            <a:r>
              <a:rPr lang="en-IN" b="0" i="0" dirty="0">
                <a:solidFill>
                  <a:srgbClr val="333333"/>
                </a:solidFill>
                <a:effectLst/>
                <a:highlight>
                  <a:srgbClr val="FFFFFF"/>
                </a:highlight>
                <a:latin typeface="inter-regular"/>
              </a:rPr>
              <a:t> This is the number of times the model predicted an independent variable as positive when the actual value was negative.</a:t>
            </a:r>
          </a:p>
          <a:p>
            <a:pPr algn="just"/>
            <a:r>
              <a:rPr lang="en-IN" b="1" i="0" dirty="0">
                <a:solidFill>
                  <a:srgbClr val="333333"/>
                </a:solidFill>
                <a:effectLst/>
                <a:highlight>
                  <a:srgbClr val="FFFFFF"/>
                </a:highlight>
                <a:latin typeface="inter-bold"/>
              </a:rPr>
              <a:t>False Negative: -</a:t>
            </a:r>
            <a:r>
              <a:rPr lang="en-IN" b="0" i="0" dirty="0">
                <a:solidFill>
                  <a:srgbClr val="333333"/>
                </a:solidFill>
                <a:effectLst/>
                <a:highlight>
                  <a:srgbClr val="FFFFFF"/>
                </a:highlight>
                <a:latin typeface="inter-regular"/>
              </a:rPr>
              <a:t> This is the number of times the model predicted an independent variable as negative when the actual value was positive.</a:t>
            </a:r>
          </a:p>
          <a:p>
            <a:pPr algn="just"/>
            <a:r>
              <a:rPr lang="en-IN" b="1" i="0" dirty="0">
                <a:solidFill>
                  <a:srgbClr val="333333"/>
                </a:solidFill>
                <a:effectLst/>
                <a:highlight>
                  <a:srgbClr val="FFFFFF"/>
                </a:highlight>
                <a:latin typeface="inter-bold"/>
              </a:rPr>
              <a:t>True Negative: -</a:t>
            </a:r>
            <a:r>
              <a:rPr lang="en-IN" b="0" i="0" dirty="0">
                <a:solidFill>
                  <a:srgbClr val="333333"/>
                </a:solidFill>
                <a:effectLst/>
                <a:highlight>
                  <a:srgbClr val="FFFFFF"/>
                </a:highlight>
                <a:latin typeface="inter-regular"/>
              </a:rPr>
              <a:t> This is the number of times the model predicted an independent variable as negative when the actual value was negative.</a:t>
            </a:r>
          </a:p>
          <a:p>
            <a:pPr algn="just"/>
            <a:endParaRPr lang="en-IN" b="0" i="0" dirty="0">
              <a:solidFill>
                <a:srgbClr val="333333"/>
              </a:solidFill>
              <a:effectLst/>
              <a:highlight>
                <a:srgbClr val="FFFFFF"/>
              </a:highlight>
              <a:latin typeface="inter-regular"/>
            </a:endParaRPr>
          </a:p>
          <a:p>
            <a:endParaRPr lang="en-IN" dirty="0"/>
          </a:p>
        </p:txBody>
      </p:sp>
    </p:spTree>
    <p:extLst>
      <p:ext uri="{BB962C8B-B14F-4D97-AF65-F5344CB8AC3E}">
        <p14:creationId xmlns:p14="http://schemas.microsoft.com/office/powerpoint/2010/main" val="345336075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1263</TotalTime>
  <Words>1935</Words>
  <Application>Microsoft Office PowerPoint</Application>
  <PresentationFormat>Widescreen</PresentationFormat>
  <Paragraphs>168</Paragraphs>
  <Slides>50</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50</vt:i4>
      </vt:variant>
    </vt:vector>
  </HeadingPairs>
  <TitlesOfParts>
    <vt:vector size="64" baseType="lpstr">
      <vt:lpstr>Arial</vt:lpstr>
      <vt:lpstr>Calibri</vt:lpstr>
      <vt:lpstr>Consolas</vt:lpstr>
      <vt:lpstr>Google Sans</vt:lpstr>
      <vt:lpstr>Helvetica Neue</vt:lpstr>
      <vt:lpstr>Inter</vt:lpstr>
      <vt:lpstr>inter-bold</vt:lpstr>
      <vt:lpstr>inter-regular</vt:lpstr>
      <vt:lpstr>Nunito</vt:lpstr>
      <vt:lpstr>Söhne</vt:lpstr>
      <vt:lpstr>source-serif-pro</vt:lpstr>
      <vt:lpstr>Trebuchet MS</vt:lpstr>
      <vt:lpstr>Wingdings 3</vt:lpstr>
      <vt:lpstr>Facet</vt:lpstr>
      <vt:lpstr>Statistical Learning </vt:lpstr>
      <vt:lpstr>Feature Extraction</vt:lpstr>
      <vt:lpstr>Why is Feature Extraction Important?</vt:lpstr>
      <vt:lpstr>Principal Component Analysis</vt:lpstr>
      <vt:lpstr>PowerPoint Presentation</vt:lpstr>
      <vt:lpstr>Principal Component Analysis</vt:lpstr>
      <vt:lpstr>PowerPoint Presentation</vt:lpstr>
      <vt:lpstr>PowerPoint Presentation</vt:lpstr>
      <vt:lpstr>STEP 1: Standardization</vt:lpstr>
      <vt:lpstr>PowerPoint Presentation</vt:lpstr>
      <vt:lpstr>STEP 2: Covariance Matrix Computation</vt:lpstr>
      <vt:lpstr>PowerPoint Presentation</vt:lpstr>
      <vt:lpstr>Step 3: Compute Eigenvalues and Eigenvectors of Covariance Matrix to Identify Principal Components</vt:lpstr>
      <vt:lpstr>Singular Value Decomposition(SVD)</vt:lpstr>
      <vt:lpstr>PowerPoint Presentation</vt:lpstr>
      <vt:lpstr>PowerPoint Presentation</vt:lpstr>
      <vt:lpstr>PowerPoint Presentation</vt:lpstr>
      <vt:lpstr>PowerPoint Presentation</vt:lpstr>
      <vt:lpstr>Application of SVD</vt:lpstr>
      <vt:lpstr>Feature Selection</vt:lpstr>
      <vt:lpstr>PowerPoint Presentation</vt:lpstr>
      <vt:lpstr>Need for Feature Selection </vt:lpstr>
      <vt:lpstr>Benefits of using feature selection in machine learning:</vt:lpstr>
      <vt:lpstr>Feature Selection Techniques</vt:lpstr>
      <vt:lpstr>Wrapper Method</vt:lpstr>
      <vt:lpstr>PowerPoint Presentation</vt:lpstr>
      <vt:lpstr>Some techniques of wrapper methods:</vt:lpstr>
      <vt:lpstr>Forward Selection</vt:lpstr>
      <vt:lpstr>Backward Elimination</vt:lpstr>
      <vt:lpstr>Exhaustive Search</vt:lpstr>
      <vt:lpstr>Recursive Feature Elimination (RFE)</vt:lpstr>
      <vt:lpstr>Filter Method</vt:lpstr>
      <vt:lpstr>PowerPoint Presentation</vt:lpstr>
      <vt:lpstr>Techniques</vt:lpstr>
      <vt:lpstr>Information Gain  </vt:lpstr>
      <vt:lpstr>Chi-square test</vt:lpstr>
      <vt:lpstr>Fisher’s Score</vt:lpstr>
      <vt:lpstr>Correlation Coefficient</vt:lpstr>
      <vt:lpstr>Embedded Method</vt:lpstr>
      <vt:lpstr>PowerPoint Presentation</vt:lpstr>
      <vt:lpstr>PowerPoint Presentation</vt:lpstr>
      <vt:lpstr>Some techniques of embedded methods</vt:lpstr>
      <vt:lpstr>Regularization</vt:lpstr>
      <vt:lpstr>Random Forest Importance</vt:lpstr>
      <vt:lpstr>Evaluating ML Algo and Model Selection</vt:lpstr>
      <vt:lpstr>Accuracy</vt:lpstr>
      <vt:lpstr>Precision</vt:lpstr>
      <vt:lpstr>Recall</vt:lpstr>
      <vt:lpstr>Confusion Matrix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Learning </dc:title>
  <dc:creator>ankit taneja</dc:creator>
  <cp:lastModifiedBy>ankit taneja</cp:lastModifiedBy>
  <cp:revision>113</cp:revision>
  <dcterms:created xsi:type="dcterms:W3CDTF">2024-04-14T11:42:35Z</dcterms:created>
  <dcterms:modified xsi:type="dcterms:W3CDTF">2024-05-01T03:48:06Z</dcterms:modified>
</cp:coreProperties>
</file>