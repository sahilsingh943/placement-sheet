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306" r:id="rId29"/>
    <p:sldId id="305" r:id="rId30"/>
    <p:sldId id="283" r:id="rId31"/>
    <p:sldId id="284" r:id="rId32"/>
    <p:sldId id="285" r:id="rId33"/>
    <p:sldId id="286" r:id="rId34"/>
    <p:sldId id="287" r:id="rId35"/>
    <p:sldId id="288" r:id="rId36"/>
    <p:sldId id="289" r:id="rId37"/>
    <p:sldId id="290" r:id="rId38"/>
    <p:sldId id="291" r:id="rId39"/>
    <p:sldId id="293" r:id="rId40"/>
    <p:sldId id="292" r:id="rId41"/>
    <p:sldId id="294" r:id="rId42"/>
    <p:sldId id="295" r:id="rId43"/>
    <p:sldId id="296" r:id="rId44"/>
    <p:sldId id="297" r:id="rId45"/>
    <p:sldId id="298" r:id="rId46"/>
    <p:sldId id="299" r:id="rId47"/>
    <p:sldId id="300" r:id="rId48"/>
    <p:sldId id="301" r:id="rId49"/>
    <p:sldId id="302" r:id="rId50"/>
    <p:sldId id="303" r:id="rId51"/>
    <p:sldId id="304" r:id="rId52"/>
    <p:sldId id="307" r:id="rId53"/>
    <p:sldId id="308" r:id="rId54"/>
    <p:sldId id="309" r:id="rId55"/>
    <p:sldId id="310" r:id="rId56"/>
    <p:sldId id="311" r:id="rId57"/>
    <p:sldId id="312" r:id="rId58"/>
    <p:sldId id="313" r:id="rId59"/>
    <p:sldId id="314" r:id="rId60"/>
    <p:sldId id="315"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2299945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554619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313180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236EFC-32B7-463A-A28E-97062B99B3A8}" type="datetimeFigureOut">
              <a:rPr lang="en-IN" smtClean="0"/>
              <a:t>03-04-2024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3797299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236EFC-32B7-463A-A28E-97062B99B3A8}" type="datetimeFigureOut">
              <a:rPr lang="en-IN" smtClean="0"/>
              <a:t>03-04-2024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2422761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236EFC-32B7-463A-A28E-97062B99B3A8}" type="datetimeFigureOut">
              <a:rPr lang="en-IN" smtClean="0"/>
              <a:t>03-04-2024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3667653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236EFC-32B7-463A-A28E-97062B99B3A8}" type="datetimeFigureOut">
              <a:rPr lang="en-IN" smtClean="0"/>
              <a:t>03-04-2024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2658638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236EFC-32B7-463A-A28E-97062B99B3A8}" type="datetimeFigureOut">
              <a:rPr lang="en-IN" smtClean="0"/>
              <a:t>03-04-2024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3581071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236EFC-32B7-463A-A28E-97062B99B3A8}" type="datetimeFigureOut">
              <a:rPr lang="en-IN" smtClean="0"/>
              <a:t>03-04-2024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526890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1632238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45519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4066710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65562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11591195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527790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236EFC-32B7-463A-A28E-97062B99B3A8}" type="datetimeFigureOut">
              <a:rPr lang="en-IN" smtClean="0"/>
              <a:t>03-04-2024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9EABEE-9C56-4BC9-B482-4A7FF3B26E1C}" type="slidenum">
              <a:rPr lang="en-IN" smtClean="0"/>
              <a:t>‹#›</a:t>
            </a:fld>
            <a:endParaRPr lang="en-IN"/>
          </a:p>
        </p:txBody>
      </p:sp>
    </p:spTree>
    <p:extLst>
      <p:ext uri="{BB962C8B-B14F-4D97-AF65-F5344CB8AC3E}">
        <p14:creationId xmlns:p14="http://schemas.microsoft.com/office/powerpoint/2010/main" val="387083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7236EFC-32B7-463A-A28E-97062B99B3A8}" type="datetimeFigureOut">
              <a:rPr lang="en-IN" smtClean="0"/>
              <a:t>03-04-2024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459EABEE-9C56-4BC9-B482-4A7FF3B26E1C}" type="slidenum">
              <a:rPr lang="en-IN" smtClean="0"/>
              <a:t>‹#›</a:t>
            </a:fld>
            <a:endParaRPr lang="en-IN"/>
          </a:p>
        </p:txBody>
      </p:sp>
    </p:spTree>
    <p:extLst>
      <p:ext uri="{BB962C8B-B14F-4D97-AF65-F5344CB8AC3E}">
        <p14:creationId xmlns:p14="http://schemas.microsoft.com/office/powerpoint/2010/main" val="294811000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BDE9-B647-1B40-146C-34B0D9A4D169}"/>
              </a:ext>
            </a:extLst>
          </p:cNvPr>
          <p:cNvSpPr>
            <a:spLocks noGrp="1"/>
          </p:cNvSpPr>
          <p:nvPr>
            <p:ph type="ctrTitle"/>
          </p:nvPr>
        </p:nvSpPr>
        <p:spPr/>
        <p:txBody>
          <a:bodyPr/>
          <a:lstStyle/>
          <a:p>
            <a:r>
              <a:rPr lang="en-US" dirty="0"/>
              <a:t>Unsupervised Learning</a:t>
            </a:r>
            <a:endParaRPr lang="en-IN" dirty="0"/>
          </a:p>
        </p:txBody>
      </p:sp>
      <p:sp>
        <p:nvSpPr>
          <p:cNvPr id="3" name="Subtitle 2">
            <a:extLst>
              <a:ext uri="{FF2B5EF4-FFF2-40B4-BE49-F238E27FC236}">
                <a16:creationId xmlns:a16="http://schemas.microsoft.com/office/drawing/2014/main" id="{A8F6D1B4-F552-65BD-E997-A8065D227B5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0544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F732-7121-D427-FF90-842F08EC3267}"/>
              </a:ext>
            </a:extLst>
          </p:cNvPr>
          <p:cNvSpPr>
            <a:spLocks noGrp="1"/>
          </p:cNvSpPr>
          <p:nvPr>
            <p:ph type="title"/>
          </p:nvPr>
        </p:nvSpPr>
        <p:spPr/>
        <p:txBody>
          <a:bodyPr/>
          <a:lstStyle/>
          <a:p>
            <a:r>
              <a:rPr lang="en-US" dirty="0"/>
              <a:t>Unsupervised Learning</a:t>
            </a:r>
            <a:endParaRPr lang="en-IN" dirty="0"/>
          </a:p>
        </p:txBody>
      </p:sp>
      <p:sp>
        <p:nvSpPr>
          <p:cNvPr id="3" name="Content Placeholder 2">
            <a:extLst>
              <a:ext uri="{FF2B5EF4-FFF2-40B4-BE49-F238E27FC236}">
                <a16:creationId xmlns:a16="http://schemas.microsoft.com/office/drawing/2014/main" id="{C8181A64-2E03-A8EE-6A69-18640435AE2B}"/>
              </a:ext>
            </a:extLst>
          </p:cNvPr>
          <p:cNvSpPr>
            <a:spLocks noGrp="1"/>
          </p:cNvSpPr>
          <p:nvPr>
            <p:ph idx="1"/>
          </p:nvPr>
        </p:nvSpPr>
        <p:spPr/>
        <p:txBody>
          <a:bodyPr/>
          <a:lstStyle/>
          <a:p>
            <a:r>
              <a:rPr lang="en-IN" b="0" i="0" dirty="0">
                <a:solidFill>
                  <a:srgbClr val="273239"/>
                </a:solidFill>
                <a:effectLst/>
                <a:latin typeface="Nunito" pitchFamily="2" charset="0"/>
              </a:rPr>
              <a:t>Unsupervised learning is a type of machine learning that learns from </a:t>
            </a:r>
            <a:r>
              <a:rPr lang="en-IN" b="0" i="0" dirty="0" err="1">
                <a:solidFill>
                  <a:srgbClr val="273239"/>
                </a:solidFill>
                <a:effectLst/>
                <a:latin typeface="Nunito" pitchFamily="2" charset="0"/>
              </a:rPr>
              <a:t>unlabeled</a:t>
            </a:r>
            <a:r>
              <a:rPr lang="en-IN" b="0" i="0" dirty="0">
                <a:solidFill>
                  <a:srgbClr val="273239"/>
                </a:solidFill>
                <a:effectLst/>
                <a:latin typeface="Nunito" pitchFamily="2" charset="0"/>
              </a:rPr>
              <a:t> data. This means that the data does not have any pre-existing labels or categories. </a:t>
            </a:r>
          </a:p>
          <a:p>
            <a:endParaRPr lang="en-IN" dirty="0">
              <a:solidFill>
                <a:srgbClr val="273239"/>
              </a:solidFill>
              <a:latin typeface="Nunito" pitchFamily="2" charset="0"/>
            </a:endParaRPr>
          </a:p>
          <a:p>
            <a:r>
              <a:rPr lang="en-IN" b="0" i="0" dirty="0">
                <a:solidFill>
                  <a:srgbClr val="273239"/>
                </a:solidFill>
                <a:effectLst/>
                <a:latin typeface="Nunito" pitchFamily="2" charset="0"/>
              </a:rPr>
              <a:t>The goal of unsupervised learning is to discover patterns and relationships in the data without any explicit guidance.</a:t>
            </a:r>
          </a:p>
          <a:p>
            <a:endParaRPr lang="en-IN" dirty="0">
              <a:solidFill>
                <a:srgbClr val="273239"/>
              </a:solidFill>
              <a:latin typeface="Nunito" pitchFamily="2" charset="0"/>
            </a:endParaRPr>
          </a:p>
          <a:p>
            <a:endParaRPr lang="en-IN" b="0" i="0" dirty="0">
              <a:solidFill>
                <a:srgbClr val="273239"/>
              </a:solidFill>
              <a:effectLst/>
              <a:latin typeface="Nunito" pitchFamily="2" charset="0"/>
            </a:endParaRPr>
          </a:p>
          <a:p>
            <a:endParaRPr lang="en-IN" dirty="0">
              <a:solidFill>
                <a:srgbClr val="273239"/>
              </a:solidFill>
              <a:latin typeface="Nunito" pitchFamily="2" charset="0"/>
            </a:endParaRPr>
          </a:p>
          <a:p>
            <a:endParaRPr lang="en-IN" dirty="0"/>
          </a:p>
        </p:txBody>
      </p:sp>
    </p:spTree>
    <p:extLst>
      <p:ext uri="{BB962C8B-B14F-4D97-AF65-F5344CB8AC3E}">
        <p14:creationId xmlns:p14="http://schemas.microsoft.com/office/powerpoint/2010/main" val="1169111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07914-6C88-1758-0D31-81F57A6F9D7E}"/>
              </a:ext>
            </a:extLst>
          </p:cNvPr>
          <p:cNvSpPr>
            <a:spLocks noGrp="1"/>
          </p:cNvSpPr>
          <p:nvPr>
            <p:ph type="title"/>
          </p:nvPr>
        </p:nvSpPr>
        <p:spPr/>
        <p:txBody>
          <a:bodyPr/>
          <a:lstStyle/>
          <a:p>
            <a:r>
              <a:rPr lang="en-US" dirty="0"/>
              <a:t>Types of Unsupervised Learning </a:t>
            </a:r>
            <a:endParaRPr lang="en-IN" dirty="0"/>
          </a:p>
        </p:txBody>
      </p:sp>
      <p:pic>
        <p:nvPicPr>
          <p:cNvPr id="5" name="Content Placeholder 4">
            <a:extLst>
              <a:ext uri="{FF2B5EF4-FFF2-40B4-BE49-F238E27FC236}">
                <a16:creationId xmlns:a16="http://schemas.microsoft.com/office/drawing/2014/main" id="{A137D3B6-19BD-8DC2-9A13-A937AF7AD82A}"/>
              </a:ext>
            </a:extLst>
          </p:cNvPr>
          <p:cNvPicPr>
            <a:picLocks noGrp="1" noChangeAspect="1"/>
          </p:cNvPicPr>
          <p:nvPr>
            <p:ph idx="1"/>
          </p:nvPr>
        </p:nvPicPr>
        <p:blipFill>
          <a:blip r:embed="rId2"/>
          <a:stretch>
            <a:fillRect/>
          </a:stretch>
        </p:blipFill>
        <p:spPr>
          <a:xfrm>
            <a:off x="1641986" y="1918232"/>
            <a:ext cx="6307696" cy="3428615"/>
          </a:xfrm>
        </p:spPr>
      </p:pic>
    </p:spTree>
    <p:extLst>
      <p:ext uri="{BB962C8B-B14F-4D97-AF65-F5344CB8AC3E}">
        <p14:creationId xmlns:p14="http://schemas.microsoft.com/office/powerpoint/2010/main" val="368049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90E47-47C8-2FA2-4F72-232F6A3DCDC6}"/>
              </a:ext>
            </a:extLst>
          </p:cNvPr>
          <p:cNvSpPr>
            <a:spLocks noGrp="1"/>
          </p:cNvSpPr>
          <p:nvPr>
            <p:ph type="title"/>
          </p:nvPr>
        </p:nvSpPr>
        <p:spPr/>
        <p:txBody>
          <a:bodyPr/>
          <a:lstStyle/>
          <a:p>
            <a:r>
              <a:rPr lang="en-US" dirty="0"/>
              <a:t>Types</a:t>
            </a:r>
            <a:endParaRPr lang="en-IN" dirty="0"/>
          </a:p>
        </p:txBody>
      </p:sp>
      <p:sp>
        <p:nvSpPr>
          <p:cNvPr id="3" name="Content Placeholder 2">
            <a:extLst>
              <a:ext uri="{FF2B5EF4-FFF2-40B4-BE49-F238E27FC236}">
                <a16:creationId xmlns:a16="http://schemas.microsoft.com/office/drawing/2014/main" id="{41E3C15F-9DCB-319A-11E9-5607C3EE8274}"/>
              </a:ext>
            </a:extLst>
          </p:cNvPr>
          <p:cNvSpPr>
            <a:spLocks noGrp="1"/>
          </p:cNvSpPr>
          <p:nvPr>
            <p:ph idx="1"/>
          </p:nvPr>
        </p:nvSpPr>
        <p:spPr/>
        <p:txBody>
          <a:bodyPr/>
          <a:lstStyle/>
          <a:p>
            <a:r>
              <a:rPr lang="en-IN" b="1" i="0" dirty="0">
                <a:solidFill>
                  <a:srgbClr val="273239"/>
                </a:solidFill>
                <a:effectLst/>
                <a:latin typeface="Nunito" pitchFamily="2" charset="0"/>
              </a:rPr>
              <a:t>Clustering</a:t>
            </a:r>
            <a:r>
              <a:rPr lang="en-IN" b="0" i="0" dirty="0">
                <a:solidFill>
                  <a:srgbClr val="273239"/>
                </a:solidFill>
                <a:effectLst/>
                <a:latin typeface="Nunito" pitchFamily="2" charset="0"/>
              </a:rPr>
              <a:t>: A clustering problem is where you want to discover the inherent groupings in the data, such as grouping customers by purchasing </a:t>
            </a:r>
            <a:r>
              <a:rPr lang="en-IN" b="0" i="0" dirty="0" err="1">
                <a:solidFill>
                  <a:srgbClr val="273239"/>
                </a:solidFill>
                <a:effectLst/>
                <a:latin typeface="Nunito" pitchFamily="2" charset="0"/>
              </a:rPr>
              <a:t>behavior</a:t>
            </a:r>
            <a:r>
              <a:rPr lang="en-IN" b="0" i="0" dirty="0">
                <a:solidFill>
                  <a:srgbClr val="273239"/>
                </a:solidFill>
                <a:effectLst/>
                <a:latin typeface="Nunito" pitchFamily="2" charset="0"/>
              </a:rPr>
              <a:t>.</a:t>
            </a:r>
          </a:p>
          <a:p>
            <a:endParaRPr lang="en-IN" dirty="0"/>
          </a:p>
          <a:p>
            <a:endParaRPr lang="en-IN" dirty="0"/>
          </a:p>
          <a:p>
            <a:r>
              <a:rPr lang="en-IN" b="1" i="0" dirty="0">
                <a:solidFill>
                  <a:srgbClr val="273239"/>
                </a:solidFill>
                <a:effectLst/>
                <a:latin typeface="Nunito" pitchFamily="2" charset="0"/>
              </a:rPr>
              <a:t>Association</a:t>
            </a:r>
            <a:r>
              <a:rPr lang="en-IN" b="0" i="0" dirty="0">
                <a:solidFill>
                  <a:srgbClr val="273239"/>
                </a:solidFill>
                <a:effectLst/>
                <a:latin typeface="Nunito" pitchFamily="2" charset="0"/>
              </a:rPr>
              <a:t>: An association rule learning problem is where you want to discover rules that describe large portions of your data, such as people that buy X also tend to buy Y.</a:t>
            </a:r>
          </a:p>
          <a:p>
            <a:endParaRPr lang="en-IN" dirty="0"/>
          </a:p>
        </p:txBody>
      </p:sp>
    </p:spTree>
    <p:extLst>
      <p:ext uri="{BB962C8B-B14F-4D97-AF65-F5344CB8AC3E}">
        <p14:creationId xmlns:p14="http://schemas.microsoft.com/office/powerpoint/2010/main" val="4155018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F2B4C-DED3-F130-97AA-D22898AC7253}"/>
              </a:ext>
            </a:extLst>
          </p:cNvPr>
          <p:cNvSpPr>
            <a:spLocks noGrp="1"/>
          </p:cNvSpPr>
          <p:nvPr>
            <p:ph type="title"/>
          </p:nvPr>
        </p:nvSpPr>
        <p:spPr/>
        <p:txBody>
          <a:bodyPr/>
          <a:lstStyle/>
          <a:p>
            <a:r>
              <a:rPr lang="en-US" dirty="0"/>
              <a:t>Clustering </a:t>
            </a:r>
            <a:endParaRPr lang="en-IN" dirty="0"/>
          </a:p>
        </p:txBody>
      </p:sp>
      <p:sp>
        <p:nvSpPr>
          <p:cNvPr id="3" name="Content Placeholder 2">
            <a:extLst>
              <a:ext uri="{FF2B5EF4-FFF2-40B4-BE49-F238E27FC236}">
                <a16:creationId xmlns:a16="http://schemas.microsoft.com/office/drawing/2014/main" id="{9F11A989-AA7F-6902-CBBB-7CD79D2B6F3E}"/>
              </a:ext>
            </a:extLst>
          </p:cNvPr>
          <p:cNvSpPr>
            <a:spLocks noGrp="1"/>
          </p:cNvSpPr>
          <p:nvPr>
            <p:ph idx="1"/>
          </p:nvPr>
        </p:nvSpPr>
        <p:spPr/>
        <p:txBody>
          <a:bodyPr/>
          <a:lstStyle/>
          <a:p>
            <a:pPr algn="l" fontAlgn="base">
              <a:buFont typeface="+mj-lt"/>
              <a:buAutoNum type="arabicPeriod"/>
            </a:pPr>
            <a:r>
              <a:rPr lang="en-IN" b="0" i="0" dirty="0">
                <a:solidFill>
                  <a:srgbClr val="273239"/>
                </a:solidFill>
                <a:effectLst/>
                <a:latin typeface="Nunito" pitchFamily="2" charset="0"/>
              </a:rPr>
              <a:t>Hierarchical clustering</a:t>
            </a:r>
          </a:p>
          <a:p>
            <a:pPr algn="l" fontAlgn="base">
              <a:buFont typeface="+mj-lt"/>
              <a:buAutoNum type="arabicPeriod" startAt="2"/>
            </a:pPr>
            <a:r>
              <a:rPr lang="en-IN" b="0" i="0" dirty="0">
                <a:solidFill>
                  <a:srgbClr val="273239"/>
                </a:solidFill>
                <a:effectLst/>
                <a:latin typeface="Nunito" pitchFamily="2" charset="0"/>
              </a:rPr>
              <a:t>K-means clustering</a:t>
            </a:r>
          </a:p>
          <a:p>
            <a:pPr algn="l" fontAlgn="base">
              <a:buFont typeface="+mj-lt"/>
              <a:buAutoNum type="arabicPeriod" startAt="3"/>
            </a:pPr>
            <a:r>
              <a:rPr lang="en-IN" b="0" i="0" dirty="0">
                <a:solidFill>
                  <a:srgbClr val="273239"/>
                </a:solidFill>
                <a:effectLst/>
                <a:latin typeface="Nunito" pitchFamily="2" charset="0"/>
              </a:rPr>
              <a:t>Principal Component Analysis</a:t>
            </a:r>
          </a:p>
          <a:p>
            <a:pPr algn="l" fontAlgn="base">
              <a:buFont typeface="+mj-lt"/>
              <a:buAutoNum type="arabicPeriod" startAt="4"/>
            </a:pPr>
            <a:r>
              <a:rPr lang="en-IN" b="0" i="0" dirty="0">
                <a:solidFill>
                  <a:srgbClr val="273239"/>
                </a:solidFill>
                <a:effectLst/>
                <a:latin typeface="Nunito" pitchFamily="2" charset="0"/>
              </a:rPr>
              <a:t>Singular Value Decomposition</a:t>
            </a:r>
          </a:p>
          <a:p>
            <a:pPr algn="l" fontAlgn="base">
              <a:buFont typeface="+mj-lt"/>
              <a:buAutoNum type="arabicPeriod" startAt="5"/>
            </a:pPr>
            <a:r>
              <a:rPr lang="en-IN" b="0" i="0" dirty="0">
                <a:solidFill>
                  <a:srgbClr val="273239"/>
                </a:solidFill>
                <a:effectLst/>
                <a:latin typeface="Nunito" pitchFamily="2" charset="0"/>
              </a:rPr>
              <a:t>Independent Component Analysis</a:t>
            </a:r>
          </a:p>
          <a:p>
            <a:pPr algn="l" fontAlgn="base">
              <a:buFont typeface="+mj-lt"/>
              <a:buAutoNum type="arabicPeriod" startAt="6"/>
            </a:pPr>
            <a:r>
              <a:rPr lang="en-IN" b="0" i="0" dirty="0">
                <a:solidFill>
                  <a:srgbClr val="273239"/>
                </a:solidFill>
                <a:effectLst/>
                <a:latin typeface="Nunito" pitchFamily="2" charset="0"/>
              </a:rPr>
              <a:t>Gaussian Mixture Models (GMMs)</a:t>
            </a:r>
          </a:p>
          <a:p>
            <a:pPr algn="l" fontAlgn="base">
              <a:buFont typeface="+mj-lt"/>
              <a:buAutoNum type="arabicPeriod" startAt="7"/>
            </a:pPr>
            <a:r>
              <a:rPr lang="en-IN" b="0" i="0" dirty="0">
                <a:solidFill>
                  <a:srgbClr val="273239"/>
                </a:solidFill>
                <a:effectLst/>
                <a:latin typeface="Nunito" pitchFamily="2" charset="0"/>
              </a:rPr>
              <a:t>Density-Based Spatial Clustering of Applications with Noise (DBSCAN)</a:t>
            </a:r>
          </a:p>
          <a:p>
            <a:endParaRPr lang="en-IN" dirty="0"/>
          </a:p>
        </p:txBody>
      </p:sp>
    </p:spTree>
    <p:extLst>
      <p:ext uri="{BB962C8B-B14F-4D97-AF65-F5344CB8AC3E}">
        <p14:creationId xmlns:p14="http://schemas.microsoft.com/office/powerpoint/2010/main" val="780984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7AC35-A9C2-B6B5-4659-604B6CAA139E}"/>
              </a:ext>
            </a:extLst>
          </p:cNvPr>
          <p:cNvSpPr>
            <a:spLocks noGrp="1"/>
          </p:cNvSpPr>
          <p:nvPr>
            <p:ph type="title"/>
          </p:nvPr>
        </p:nvSpPr>
        <p:spPr/>
        <p:txBody>
          <a:bodyPr/>
          <a:lstStyle/>
          <a:p>
            <a:r>
              <a:rPr lang="en-IN" dirty="0"/>
              <a:t>Association rule learning</a:t>
            </a:r>
          </a:p>
        </p:txBody>
      </p:sp>
      <p:sp>
        <p:nvSpPr>
          <p:cNvPr id="3" name="Content Placeholder 2">
            <a:extLst>
              <a:ext uri="{FF2B5EF4-FFF2-40B4-BE49-F238E27FC236}">
                <a16:creationId xmlns:a16="http://schemas.microsoft.com/office/drawing/2014/main" id="{1672F50E-3065-0346-9AAF-F0BC65D7BE1E}"/>
              </a:ext>
            </a:extLst>
          </p:cNvPr>
          <p:cNvSpPr>
            <a:spLocks noGrp="1"/>
          </p:cNvSpPr>
          <p:nvPr>
            <p:ph idx="1"/>
          </p:nvPr>
        </p:nvSpPr>
        <p:spPr/>
        <p:txBody>
          <a:bodyPr/>
          <a:lstStyle/>
          <a:p>
            <a:pPr algn="l" fontAlgn="base">
              <a:buFont typeface="Arial" panose="020B0604020202020204" pitchFamily="34" charset="0"/>
              <a:buChar char="•"/>
            </a:pPr>
            <a:r>
              <a:rPr lang="en-IN" b="0" i="0" dirty="0" err="1">
                <a:solidFill>
                  <a:srgbClr val="273239"/>
                </a:solidFill>
                <a:effectLst/>
                <a:latin typeface="Nunito" pitchFamily="2" charset="0"/>
              </a:rPr>
              <a:t>Apriori</a:t>
            </a:r>
            <a:r>
              <a:rPr lang="en-IN" b="0" i="0" dirty="0">
                <a:solidFill>
                  <a:srgbClr val="273239"/>
                </a:solidFill>
                <a:effectLst/>
                <a:latin typeface="Nunito" pitchFamily="2" charset="0"/>
              </a:rPr>
              <a:t> Algorithm</a:t>
            </a:r>
          </a:p>
          <a:p>
            <a:pPr algn="l" fontAlgn="base">
              <a:buFont typeface="Arial" panose="020B0604020202020204" pitchFamily="34" charset="0"/>
              <a:buChar char="•"/>
            </a:pPr>
            <a:r>
              <a:rPr lang="en-IN" b="0" i="0" dirty="0">
                <a:solidFill>
                  <a:srgbClr val="273239"/>
                </a:solidFill>
                <a:effectLst/>
                <a:latin typeface="Nunito" pitchFamily="2" charset="0"/>
              </a:rPr>
              <a:t>Eclat Algorithm</a:t>
            </a:r>
          </a:p>
          <a:p>
            <a:pPr algn="l" fontAlgn="base">
              <a:buFont typeface="Arial" panose="020B0604020202020204" pitchFamily="34" charset="0"/>
              <a:buChar char="•"/>
            </a:pPr>
            <a:r>
              <a:rPr lang="en-IN" b="0" i="0" dirty="0">
                <a:solidFill>
                  <a:srgbClr val="273239"/>
                </a:solidFill>
                <a:effectLst/>
                <a:latin typeface="Nunito" pitchFamily="2" charset="0"/>
              </a:rPr>
              <a:t>FP-Growth Algorithm</a:t>
            </a:r>
          </a:p>
          <a:p>
            <a:endParaRPr lang="en-IN" dirty="0"/>
          </a:p>
        </p:txBody>
      </p:sp>
    </p:spTree>
    <p:extLst>
      <p:ext uri="{BB962C8B-B14F-4D97-AF65-F5344CB8AC3E}">
        <p14:creationId xmlns:p14="http://schemas.microsoft.com/office/powerpoint/2010/main" val="3580327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77482-D9CB-A693-1654-F8E980DEBAED}"/>
              </a:ext>
            </a:extLst>
          </p:cNvPr>
          <p:cNvSpPr>
            <a:spLocks noGrp="1"/>
          </p:cNvSpPr>
          <p:nvPr>
            <p:ph type="title"/>
          </p:nvPr>
        </p:nvSpPr>
        <p:spPr/>
        <p:txBody>
          <a:bodyPr/>
          <a:lstStyle/>
          <a:p>
            <a:r>
              <a:rPr lang="en-US" dirty="0"/>
              <a:t>K-means Clustering </a:t>
            </a:r>
            <a:endParaRPr lang="en-IN" dirty="0"/>
          </a:p>
        </p:txBody>
      </p:sp>
      <p:sp>
        <p:nvSpPr>
          <p:cNvPr id="3" name="Content Placeholder 2">
            <a:extLst>
              <a:ext uri="{FF2B5EF4-FFF2-40B4-BE49-F238E27FC236}">
                <a16:creationId xmlns:a16="http://schemas.microsoft.com/office/drawing/2014/main" id="{900CE951-85E3-C646-394D-85DFFE21CC34}"/>
              </a:ext>
            </a:extLst>
          </p:cNvPr>
          <p:cNvSpPr>
            <a:spLocks noGrp="1"/>
          </p:cNvSpPr>
          <p:nvPr>
            <p:ph idx="1"/>
          </p:nvPr>
        </p:nvSpPr>
        <p:spPr/>
        <p:txBody>
          <a:bodyPr/>
          <a:lstStyle/>
          <a:p>
            <a:r>
              <a:rPr lang="en-IN" b="0" i="0" dirty="0">
                <a:solidFill>
                  <a:srgbClr val="273239"/>
                </a:solidFill>
                <a:effectLst/>
                <a:latin typeface="Nunito" pitchFamily="2" charset="0"/>
              </a:rPr>
              <a:t>K means clustering, assigns data points to one of the K clusters depending on their distance from the </a:t>
            </a:r>
            <a:r>
              <a:rPr lang="en-IN" b="0" i="0" dirty="0" err="1">
                <a:solidFill>
                  <a:srgbClr val="273239"/>
                </a:solidFill>
                <a:effectLst/>
                <a:latin typeface="Nunito" pitchFamily="2" charset="0"/>
              </a:rPr>
              <a:t>center</a:t>
            </a:r>
            <a:r>
              <a:rPr lang="en-IN" b="0" i="0" dirty="0">
                <a:solidFill>
                  <a:srgbClr val="273239"/>
                </a:solidFill>
                <a:effectLst/>
                <a:latin typeface="Nunito" pitchFamily="2" charset="0"/>
              </a:rPr>
              <a:t> of the clusters.</a:t>
            </a:r>
          </a:p>
          <a:p>
            <a:endParaRPr lang="en-IN" dirty="0">
              <a:solidFill>
                <a:srgbClr val="273239"/>
              </a:solidFill>
              <a:latin typeface="Nunito" pitchFamily="2" charset="0"/>
            </a:endParaRPr>
          </a:p>
          <a:p>
            <a:r>
              <a:rPr lang="en-IN" b="0" i="0" dirty="0">
                <a:solidFill>
                  <a:srgbClr val="273239"/>
                </a:solidFill>
                <a:effectLst/>
                <a:latin typeface="Nunito" pitchFamily="2" charset="0"/>
              </a:rPr>
              <a:t>It starts by randomly assigning the centroid of the cluster in the space. Then each data point is assigned to one of the clusters based on its distance from the centroid of the cluster.</a:t>
            </a:r>
          </a:p>
          <a:p>
            <a:endParaRPr lang="en-IN" dirty="0">
              <a:solidFill>
                <a:srgbClr val="273239"/>
              </a:solidFill>
              <a:latin typeface="Nunito" pitchFamily="2" charset="0"/>
            </a:endParaRPr>
          </a:p>
          <a:p>
            <a:r>
              <a:rPr lang="en-IN" b="0" i="0" dirty="0">
                <a:solidFill>
                  <a:srgbClr val="273239"/>
                </a:solidFill>
                <a:effectLst/>
                <a:latin typeface="Nunito" pitchFamily="2" charset="0"/>
              </a:rPr>
              <a:t> </a:t>
            </a:r>
            <a:endParaRPr lang="en-IN" dirty="0"/>
          </a:p>
        </p:txBody>
      </p:sp>
    </p:spTree>
    <p:extLst>
      <p:ext uri="{BB962C8B-B14F-4D97-AF65-F5344CB8AC3E}">
        <p14:creationId xmlns:p14="http://schemas.microsoft.com/office/powerpoint/2010/main" val="472266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9BEDA-C5BD-E4FD-5626-7260B8AB8B2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FB2E38F-AD9C-FB58-A7AF-D4B9533D5252}"/>
              </a:ext>
            </a:extLst>
          </p:cNvPr>
          <p:cNvSpPr>
            <a:spLocks noGrp="1"/>
          </p:cNvSpPr>
          <p:nvPr>
            <p:ph idx="1"/>
          </p:nvPr>
        </p:nvSpPr>
        <p:spPr/>
        <p:txBody>
          <a:bodyPr/>
          <a:lstStyle/>
          <a:p>
            <a:r>
              <a:rPr lang="en-IN" b="0" i="0" dirty="0">
                <a:solidFill>
                  <a:srgbClr val="333333"/>
                </a:solidFill>
                <a:effectLst/>
                <a:latin typeface="inter-regular"/>
              </a:rPr>
              <a:t>K-Means Clustering is an </a:t>
            </a:r>
            <a:r>
              <a:rPr lang="en-IN" dirty="0">
                <a:solidFill>
                  <a:srgbClr val="333333"/>
                </a:solidFill>
                <a:latin typeface="inter-regular"/>
              </a:rPr>
              <a:t>Unsupervised Learning algorithm, </a:t>
            </a:r>
            <a:r>
              <a:rPr lang="en-IN" b="0" i="0" dirty="0">
                <a:solidFill>
                  <a:srgbClr val="333333"/>
                </a:solidFill>
                <a:effectLst/>
                <a:latin typeface="inter-regular"/>
              </a:rPr>
              <a:t>which groups the </a:t>
            </a:r>
            <a:r>
              <a:rPr lang="en-IN" b="0" i="0" dirty="0" err="1">
                <a:solidFill>
                  <a:srgbClr val="333333"/>
                </a:solidFill>
                <a:effectLst/>
                <a:latin typeface="inter-regular"/>
              </a:rPr>
              <a:t>unlabeled</a:t>
            </a:r>
            <a:r>
              <a:rPr lang="en-IN" b="0" i="0" dirty="0">
                <a:solidFill>
                  <a:srgbClr val="333333"/>
                </a:solidFill>
                <a:effectLst/>
                <a:latin typeface="inter-regular"/>
              </a:rPr>
              <a:t> dataset into different clusters.</a:t>
            </a:r>
          </a:p>
          <a:p>
            <a:endParaRPr lang="en-IN" dirty="0">
              <a:solidFill>
                <a:srgbClr val="333333"/>
              </a:solidFill>
              <a:latin typeface="inter-regular"/>
            </a:endParaRPr>
          </a:p>
          <a:p>
            <a:r>
              <a:rPr lang="en-IN" b="0" i="0" dirty="0">
                <a:solidFill>
                  <a:srgbClr val="333333"/>
                </a:solidFill>
                <a:effectLst/>
                <a:latin typeface="inter-regular"/>
              </a:rPr>
              <a:t>Here K defines the number of pre-defined clusters that need to be created in the process</a:t>
            </a:r>
          </a:p>
          <a:p>
            <a:endParaRPr lang="en-IN" dirty="0">
              <a:solidFill>
                <a:srgbClr val="333333"/>
              </a:solidFill>
              <a:latin typeface="inter-regular"/>
            </a:endParaRPr>
          </a:p>
          <a:p>
            <a:r>
              <a:rPr lang="en-IN" b="0" i="0" dirty="0">
                <a:solidFill>
                  <a:srgbClr val="333333"/>
                </a:solidFill>
                <a:effectLst/>
                <a:latin typeface="inter-regular"/>
              </a:rPr>
              <a:t>It allows us to cluster the data into different groups and a convenient way to discover the categories of groups in the </a:t>
            </a:r>
            <a:r>
              <a:rPr lang="en-IN" b="0" i="0" dirty="0" err="1">
                <a:solidFill>
                  <a:srgbClr val="333333"/>
                </a:solidFill>
                <a:effectLst/>
                <a:latin typeface="inter-regular"/>
              </a:rPr>
              <a:t>unlabeled</a:t>
            </a:r>
            <a:r>
              <a:rPr lang="en-IN" b="0" i="0" dirty="0">
                <a:solidFill>
                  <a:srgbClr val="333333"/>
                </a:solidFill>
                <a:effectLst/>
                <a:latin typeface="inter-regular"/>
              </a:rPr>
              <a:t> dataset on its own without the need for any training.</a:t>
            </a:r>
          </a:p>
          <a:p>
            <a:endParaRPr lang="en-IN" dirty="0">
              <a:solidFill>
                <a:srgbClr val="333333"/>
              </a:solidFill>
              <a:latin typeface="inter-regular"/>
            </a:endParaRPr>
          </a:p>
          <a:p>
            <a:endParaRPr lang="en-IN" dirty="0"/>
          </a:p>
        </p:txBody>
      </p:sp>
    </p:spTree>
    <p:extLst>
      <p:ext uri="{BB962C8B-B14F-4D97-AF65-F5344CB8AC3E}">
        <p14:creationId xmlns:p14="http://schemas.microsoft.com/office/powerpoint/2010/main" val="3922053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D6D98-E8D6-F233-309C-3677B45A1A4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EFD4348-2B0F-5230-1BF3-F941546BCBC2}"/>
              </a:ext>
            </a:extLst>
          </p:cNvPr>
          <p:cNvPicPr>
            <a:picLocks noGrp="1" noChangeAspect="1"/>
          </p:cNvPicPr>
          <p:nvPr>
            <p:ph idx="1"/>
          </p:nvPr>
        </p:nvPicPr>
        <p:blipFill>
          <a:blip r:embed="rId2"/>
          <a:stretch>
            <a:fillRect/>
          </a:stretch>
        </p:blipFill>
        <p:spPr>
          <a:xfrm>
            <a:off x="889016" y="1930400"/>
            <a:ext cx="7334250" cy="3648075"/>
          </a:xfrm>
        </p:spPr>
      </p:pic>
    </p:spTree>
    <p:extLst>
      <p:ext uri="{BB962C8B-B14F-4D97-AF65-F5344CB8AC3E}">
        <p14:creationId xmlns:p14="http://schemas.microsoft.com/office/powerpoint/2010/main" val="1946769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BD085-C068-B1B6-58EB-F2B598C5D46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6596B94-F379-F991-872E-05D157CB9AA6}"/>
              </a:ext>
            </a:extLst>
          </p:cNvPr>
          <p:cNvSpPr>
            <a:spLocks noGrp="1"/>
          </p:cNvSpPr>
          <p:nvPr>
            <p:ph idx="1"/>
          </p:nvPr>
        </p:nvSpPr>
        <p:spPr/>
        <p:txBody>
          <a:bodyPr/>
          <a:lstStyle/>
          <a:p>
            <a:r>
              <a:rPr lang="en-IN" b="0" i="0" dirty="0">
                <a:solidFill>
                  <a:srgbClr val="333333"/>
                </a:solidFill>
                <a:effectLst/>
                <a:latin typeface="inter-regular"/>
              </a:rPr>
              <a:t>It is a centroid-based algorithm, where each cluster is associated with a centroid. The main aim of this algorithm is to minimize the sum of distances between the data point and their corresponding clusters.</a:t>
            </a:r>
          </a:p>
          <a:p>
            <a:endParaRPr lang="en-IN" dirty="0">
              <a:solidFill>
                <a:srgbClr val="333333"/>
              </a:solidFill>
              <a:latin typeface="inter-regular"/>
            </a:endParaRPr>
          </a:p>
          <a:p>
            <a:r>
              <a:rPr lang="en-IN" b="0" i="0" dirty="0">
                <a:solidFill>
                  <a:srgbClr val="333333"/>
                </a:solidFill>
                <a:effectLst/>
                <a:latin typeface="inter-regular"/>
              </a:rPr>
              <a:t>The algorithm takes the </a:t>
            </a:r>
            <a:r>
              <a:rPr lang="en-IN" b="0" i="0" dirty="0" err="1">
                <a:solidFill>
                  <a:srgbClr val="333333"/>
                </a:solidFill>
                <a:effectLst/>
                <a:latin typeface="inter-regular"/>
              </a:rPr>
              <a:t>unlabeled</a:t>
            </a:r>
            <a:r>
              <a:rPr lang="en-IN" b="0" i="0" dirty="0">
                <a:solidFill>
                  <a:srgbClr val="333333"/>
                </a:solidFill>
                <a:effectLst/>
                <a:latin typeface="inter-regular"/>
              </a:rPr>
              <a:t> dataset as input, divides the dataset into k-number of clusters, and repeats the process until it does not find the best clusters.</a:t>
            </a:r>
            <a:endParaRPr lang="en-IN" dirty="0"/>
          </a:p>
        </p:txBody>
      </p:sp>
    </p:spTree>
    <p:extLst>
      <p:ext uri="{BB962C8B-B14F-4D97-AF65-F5344CB8AC3E}">
        <p14:creationId xmlns:p14="http://schemas.microsoft.com/office/powerpoint/2010/main" val="719588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D8F8B-9023-F58B-1398-40F875D90448}"/>
              </a:ext>
            </a:extLst>
          </p:cNvPr>
          <p:cNvSpPr>
            <a:spLocks noGrp="1"/>
          </p:cNvSpPr>
          <p:nvPr>
            <p:ph type="title"/>
          </p:nvPr>
        </p:nvSpPr>
        <p:spPr/>
        <p:txBody>
          <a:bodyPr/>
          <a:lstStyle/>
          <a:p>
            <a:r>
              <a:rPr lang="en-US" dirty="0"/>
              <a:t>Properties of Clusters </a:t>
            </a:r>
            <a:endParaRPr lang="en-IN" dirty="0"/>
          </a:p>
        </p:txBody>
      </p:sp>
      <p:sp>
        <p:nvSpPr>
          <p:cNvPr id="3" name="Content Placeholder 2">
            <a:extLst>
              <a:ext uri="{FF2B5EF4-FFF2-40B4-BE49-F238E27FC236}">
                <a16:creationId xmlns:a16="http://schemas.microsoft.com/office/drawing/2014/main" id="{445ECD20-A155-E016-69B3-F5388FD504B5}"/>
              </a:ext>
            </a:extLst>
          </p:cNvPr>
          <p:cNvSpPr>
            <a:spLocks noGrp="1"/>
          </p:cNvSpPr>
          <p:nvPr>
            <p:ph idx="1"/>
          </p:nvPr>
        </p:nvSpPr>
        <p:spPr/>
        <p:txBody>
          <a:bodyPr/>
          <a:lstStyle/>
          <a:p>
            <a:r>
              <a:rPr lang="en-IN" dirty="0"/>
              <a:t>All the data points in a cluster should be similar to each other.</a:t>
            </a:r>
          </a:p>
          <a:p>
            <a:endParaRPr lang="en-IN" b="1" dirty="0">
              <a:solidFill>
                <a:srgbClr val="383838"/>
              </a:solidFill>
              <a:latin typeface="Inter"/>
            </a:endParaRPr>
          </a:p>
          <a:p>
            <a:r>
              <a:rPr lang="en-IN" dirty="0"/>
              <a:t>The data points from different clusters should be as different as possible. </a:t>
            </a:r>
          </a:p>
          <a:p>
            <a:endParaRPr lang="en-IN" dirty="0"/>
          </a:p>
          <a:p>
            <a:endParaRPr lang="en-IN" dirty="0"/>
          </a:p>
        </p:txBody>
      </p:sp>
    </p:spTree>
    <p:extLst>
      <p:ext uri="{BB962C8B-B14F-4D97-AF65-F5344CB8AC3E}">
        <p14:creationId xmlns:p14="http://schemas.microsoft.com/office/powerpoint/2010/main" val="1737277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A5709-1F2B-31D4-A3B4-B5D7F6BE906D}"/>
              </a:ext>
            </a:extLst>
          </p:cNvPr>
          <p:cNvSpPr>
            <a:spLocks noGrp="1"/>
          </p:cNvSpPr>
          <p:nvPr>
            <p:ph type="title"/>
          </p:nvPr>
        </p:nvSpPr>
        <p:spPr/>
        <p:txBody>
          <a:bodyPr/>
          <a:lstStyle/>
          <a:p>
            <a:r>
              <a:rPr lang="en-US" dirty="0"/>
              <a:t>Application of Clustering </a:t>
            </a:r>
            <a:endParaRPr lang="en-IN" dirty="0"/>
          </a:p>
        </p:txBody>
      </p:sp>
      <p:sp>
        <p:nvSpPr>
          <p:cNvPr id="3" name="Content Placeholder 2">
            <a:extLst>
              <a:ext uri="{FF2B5EF4-FFF2-40B4-BE49-F238E27FC236}">
                <a16:creationId xmlns:a16="http://schemas.microsoft.com/office/drawing/2014/main" id="{85187678-7F5E-2919-111F-13D79CC27B8A}"/>
              </a:ext>
            </a:extLst>
          </p:cNvPr>
          <p:cNvSpPr>
            <a:spLocks noGrp="1"/>
          </p:cNvSpPr>
          <p:nvPr>
            <p:ph idx="1"/>
          </p:nvPr>
        </p:nvSpPr>
        <p:spPr/>
        <p:txBody>
          <a:bodyPr/>
          <a:lstStyle/>
          <a:p>
            <a:r>
              <a:rPr lang="en-US" dirty="0"/>
              <a:t>Customer Segmentation</a:t>
            </a:r>
          </a:p>
          <a:p>
            <a:endParaRPr lang="en-US" dirty="0"/>
          </a:p>
          <a:p>
            <a:r>
              <a:rPr lang="en-US" dirty="0"/>
              <a:t>Document clustering </a:t>
            </a:r>
          </a:p>
          <a:p>
            <a:endParaRPr lang="en-US" dirty="0"/>
          </a:p>
          <a:p>
            <a:r>
              <a:rPr lang="en-US" dirty="0"/>
              <a:t>Image segmentation</a:t>
            </a:r>
            <a:endParaRPr lang="en-IN" dirty="0"/>
          </a:p>
        </p:txBody>
      </p:sp>
    </p:spTree>
    <p:extLst>
      <p:ext uri="{BB962C8B-B14F-4D97-AF65-F5344CB8AC3E}">
        <p14:creationId xmlns:p14="http://schemas.microsoft.com/office/powerpoint/2010/main" val="1086530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0FA48-2867-4720-6205-A8C695151D07}"/>
              </a:ext>
            </a:extLst>
          </p:cNvPr>
          <p:cNvSpPr>
            <a:spLocks noGrp="1"/>
          </p:cNvSpPr>
          <p:nvPr>
            <p:ph type="title"/>
          </p:nvPr>
        </p:nvSpPr>
        <p:spPr/>
        <p:txBody>
          <a:bodyPr/>
          <a:lstStyle/>
          <a:p>
            <a:r>
              <a:rPr lang="en-US" dirty="0"/>
              <a:t>Dunn Index</a:t>
            </a:r>
            <a:endParaRPr lang="en-IN" dirty="0"/>
          </a:p>
        </p:txBody>
      </p:sp>
      <p:sp>
        <p:nvSpPr>
          <p:cNvPr id="3" name="Content Placeholder 2">
            <a:extLst>
              <a:ext uri="{FF2B5EF4-FFF2-40B4-BE49-F238E27FC236}">
                <a16:creationId xmlns:a16="http://schemas.microsoft.com/office/drawing/2014/main" id="{36F606D5-015A-85A3-6F7D-ABB80934EA1F}"/>
              </a:ext>
            </a:extLst>
          </p:cNvPr>
          <p:cNvSpPr>
            <a:spLocks noGrp="1"/>
          </p:cNvSpPr>
          <p:nvPr>
            <p:ph idx="1"/>
          </p:nvPr>
        </p:nvSpPr>
        <p:spPr/>
        <p:txBody>
          <a:bodyPr/>
          <a:lstStyle/>
          <a:p>
            <a:r>
              <a:rPr lang="en-IN" dirty="0">
                <a:solidFill>
                  <a:srgbClr val="383838"/>
                </a:solidFill>
                <a:latin typeface="Inter"/>
              </a:rPr>
              <a:t>Inertia actually calculates the sum of distances of all the points within a cluster from the centroid of that cluster.</a:t>
            </a:r>
          </a:p>
          <a:p>
            <a:endParaRPr lang="en-IN" b="1" dirty="0">
              <a:solidFill>
                <a:srgbClr val="383838"/>
              </a:solidFill>
              <a:latin typeface="Inter"/>
            </a:endParaRPr>
          </a:p>
          <a:p>
            <a:pPr algn="l"/>
            <a:r>
              <a:rPr lang="en-IN" b="0" i="0" dirty="0">
                <a:solidFill>
                  <a:srgbClr val="383838"/>
                </a:solidFill>
                <a:effectLst/>
                <a:latin typeface="Inter"/>
              </a:rPr>
              <a:t>if the distance between the centroid of a cluster and the points in that cluster is small, it means that the points are closer to each other. So, inertia makes sure that the first property of clusters is satisfied. But it does not care about the second property – that different clusters should be as different from each other as possible.</a:t>
            </a:r>
          </a:p>
          <a:p>
            <a:pPr algn="l"/>
            <a:r>
              <a:rPr lang="en-IN" b="0" i="0" dirty="0">
                <a:solidFill>
                  <a:srgbClr val="383838"/>
                </a:solidFill>
                <a:effectLst/>
                <a:latin typeface="Inter"/>
              </a:rPr>
              <a:t>This is where the Dunn index comes into action.</a:t>
            </a:r>
          </a:p>
          <a:p>
            <a:endParaRPr lang="en-IN" dirty="0"/>
          </a:p>
        </p:txBody>
      </p:sp>
    </p:spTree>
    <p:extLst>
      <p:ext uri="{BB962C8B-B14F-4D97-AF65-F5344CB8AC3E}">
        <p14:creationId xmlns:p14="http://schemas.microsoft.com/office/powerpoint/2010/main" val="3343014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0773A-75F3-0216-E7C3-E641FC591CD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6AEAA21-B1D9-DFBB-AF44-8D92C6A1AE26}"/>
              </a:ext>
            </a:extLst>
          </p:cNvPr>
          <p:cNvPicPr>
            <a:picLocks noGrp="1" noChangeAspect="1"/>
          </p:cNvPicPr>
          <p:nvPr>
            <p:ph idx="1"/>
          </p:nvPr>
        </p:nvPicPr>
        <p:blipFill>
          <a:blip r:embed="rId2"/>
          <a:stretch>
            <a:fillRect/>
          </a:stretch>
        </p:blipFill>
        <p:spPr>
          <a:xfrm>
            <a:off x="1289844" y="3637207"/>
            <a:ext cx="7372350" cy="2047875"/>
          </a:xfrm>
        </p:spPr>
      </p:pic>
      <p:sp>
        <p:nvSpPr>
          <p:cNvPr id="7" name="TextBox 6">
            <a:extLst>
              <a:ext uri="{FF2B5EF4-FFF2-40B4-BE49-F238E27FC236}">
                <a16:creationId xmlns:a16="http://schemas.microsoft.com/office/drawing/2014/main" id="{591B9538-12C7-4F78-D5AC-0DECDEE404EE}"/>
              </a:ext>
            </a:extLst>
          </p:cNvPr>
          <p:cNvSpPr txBox="1"/>
          <p:nvPr/>
        </p:nvSpPr>
        <p:spPr>
          <a:xfrm>
            <a:off x="765110" y="2228671"/>
            <a:ext cx="7897084" cy="923330"/>
          </a:xfrm>
          <a:prstGeom prst="rect">
            <a:avLst/>
          </a:prstGeom>
          <a:noFill/>
        </p:spPr>
        <p:txBody>
          <a:bodyPr wrap="square">
            <a:spAutoFit/>
          </a:bodyPr>
          <a:lstStyle/>
          <a:p>
            <a:r>
              <a:rPr lang="en-IN" b="0" i="0" dirty="0">
                <a:solidFill>
                  <a:srgbClr val="383838"/>
                </a:solidFill>
                <a:effectLst/>
                <a:latin typeface="Inter"/>
              </a:rPr>
              <a:t>Along with the distance between the centroid and points,</a:t>
            </a:r>
            <a:r>
              <a:rPr lang="en-IN" b="1" i="0" dirty="0">
                <a:solidFill>
                  <a:srgbClr val="383838"/>
                </a:solidFill>
                <a:effectLst/>
                <a:latin typeface="Inter"/>
              </a:rPr>
              <a:t> the Dunn index also takes into account the distance between two clusters</a:t>
            </a:r>
            <a:r>
              <a:rPr lang="en-IN" b="0" i="0" dirty="0">
                <a:solidFill>
                  <a:srgbClr val="383838"/>
                </a:solidFill>
                <a:effectLst/>
                <a:latin typeface="Inter"/>
              </a:rPr>
              <a:t>. This distance between the centroids of two different clusters is known as </a:t>
            </a:r>
            <a:r>
              <a:rPr lang="en-IN" b="1" i="0" dirty="0">
                <a:solidFill>
                  <a:srgbClr val="383838"/>
                </a:solidFill>
                <a:effectLst/>
                <a:latin typeface="Inter"/>
              </a:rPr>
              <a:t>inter-cluster distance</a:t>
            </a:r>
            <a:r>
              <a:rPr lang="en-IN" b="0" i="0" dirty="0">
                <a:solidFill>
                  <a:srgbClr val="383838"/>
                </a:solidFill>
                <a:effectLst/>
                <a:latin typeface="Inter"/>
              </a:rPr>
              <a:t>. </a:t>
            </a:r>
            <a:endParaRPr lang="en-IN" dirty="0"/>
          </a:p>
        </p:txBody>
      </p:sp>
    </p:spTree>
    <p:extLst>
      <p:ext uri="{BB962C8B-B14F-4D97-AF65-F5344CB8AC3E}">
        <p14:creationId xmlns:p14="http://schemas.microsoft.com/office/powerpoint/2010/main" val="1835142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BF93A-8801-5002-2426-37E0BA4A0FA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B42210C-5966-56F3-9215-364F9392B2E8}"/>
              </a:ext>
            </a:extLst>
          </p:cNvPr>
          <p:cNvPicPr>
            <a:picLocks noGrp="1" noChangeAspect="1"/>
          </p:cNvPicPr>
          <p:nvPr>
            <p:ph idx="1"/>
          </p:nvPr>
        </p:nvPicPr>
        <p:blipFill>
          <a:blip r:embed="rId2"/>
          <a:stretch>
            <a:fillRect/>
          </a:stretch>
        </p:blipFill>
        <p:spPr>
          <a:xfrm>
            <a:off x="1365752" y="2144793"/>
            <a:ext cx="4962525" cy="1543050"/>
          </a:xfrm>
        </p:spPr>
      </p:pic>
      <p:pic>
        <p:nvPicPr>
          <p:cNvPr id="7" name="Picture 6">
            <a:extLst>
              <a:ext uri="{FF2B5EF4-FFF2-40B4-BE49-F238E27FC236}">
                <a16:creationId xmlns:a16="http://schemas.microsoft.com/office/drawing/2014/main" id="{7112BC15-04EB-C30C-913E-3F91258DA5D3}"/>
              </a:ext>
            </a:extLst>
          </p:cNvPr>
          <p:cNvPicPr>
            <a:picLocks noChangeAspect="1"/>
          </p:cNvPicPr>
          <p:nvPr/>
        </p:nvPicPr>
        <p:blipFill>
          <a:blip r:embed="rId3"/>
          <a:stretch>
            <a:fillRect/>
          </a:stretch>
        </p:blipFill>
        <p:spPr>
          <a:xfrm>
            <a:off x="1269449" y="3526994"/>
            <a:ext cx="6241694" cy="1963585"/>
          </a:xfrm>
          <a:prstGeom prst="rect">
            <a:avLst/>
          </a:prstGeom>
        </p:spPr>
      </p:pic>
    </p:spTree>
    <p:extLst>
      <p:ext uri="{BB962C8B-B14F-4D97-AF65-F5344CB8AC3E}">
        <p14:creationId xmlns:p14="http://schemas.microsoft.com/office/powerpoint/2010/main" val="2331161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D286-D022-1872-D264-C4F1F72A779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F69313B-3640-872E-712C-F8C42A97F73E}"/>
              </a:ext>
            </a:extLst>
          </p:cNvPr>
          <p:cNvPicPr>
            <a:picLocks noGrp="1" noChangeAspect="1"/>
          </p:cNvPicPr>
          <p:nvPr>
            <p:ph idx="1"/>
          </p:nvPr>
        </p:nvPicPr>
        <p:blipFill>
          <a:blip r:embed="rId2"/>
          <a:stretch>
            <a:fillRect/>
          </a:stretch>
        </p:blipFill>
        <p:spPr>
          <a:xfrm>
            <a:off x="836532" y="2134783"/>
            <a:ext cx="6991350" cy="2066925"/>
          </a:xfrm>
        </p:spPr>
      </p:pic>
    </p:spTree>
    <p:extLst>
      <p:ext uri="{BB962C8B-B14F-4D97-AF65-F5344CB8AC3E}">
        <p14:creationId xmlns:p14="http://schemas.microsoft.com/office/powerpoint/2010/main" val="3685781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00E08-8C05-303F-74B8-E831D2464374}"/>
              </a:ext>
            </a:extLst>
          </p:cNvPr>
          <p:cNvSpPr>
            <a:spLocks noGrp="1"/>
          </p:cNvSpPr>
          <p:nvPr>
            <p:ph type="title"/>
          </p:nvPr>
        </p:nvSpPr>
        <p:spPr/>
        <p:txBody>
          <a:bodyPr/>
          <a:lstStyle/>
          <a:p>
            <a:r>
              <a:rPr lang="en-US" dirty="0"/>
              <a:t>Hierarchical Clustering </a:t>
            </a:r>
            <a:endParaRPr lang="en-IN" dirty="0"/>
          </a:p>
        </p:txBody>
      </p:sp>
      <p:sp>
        <p:nvSpPr>
          <p:cNvPr id="3" name="Content Placeholder 2">
            <a:extLst>
              <a:ext uri="{FF2B5EF4-FFF2-40B4-BE49-F238E27FC236}">
                <a16:creationId xmlns:a16="http://schemas.microsoft.com/office/drawing/2014/main" id="{6E59F53A-6532-BD58-9CFD-A601D74AB980}"/>
              </a:ext>
            </a:extLst>
          </p:cNvPr>
          <p:cNvSpPr>
            <a:spLocks noGrp="1"/>
          </p:cNvSpPr>
          <p:nvPr>
            <p:ph idx="1"/>
          </p:nvPr>
        </p:nvSpPr>
        <p:spPr/>
        <p:txBody>
          <a:bodyPr/>
          <a:lstStyle/>
          <a:p>
            <a:r>
              <a:rPr lang="en-IN" b="0" i="0" dirty="0">
                <a:solidFill>
                  <a:srgbClr val="333333"/>
                </a:solidFill>
                <a:effectLst/>
                <a:latin typeface="inter-regular"/>
              </a:rPr>
              <a:t>Hierarchical clustering is another unsupervised machine learning algorithm, which is used to group the </a:t>
            </a:r>
            <a:r>
              <a:rPr lang="en-IN" b="0" i="0" dirty="0" err="1">
                <a:solidFill>
                  <a:srgbClr val="333333"/>
                </a:solidFill>
                <a:effectLst/>
                <a:latin typeface="inter-regular"/>
              </a:rPr>
              <a:t>unlabeled</a:t>
            </a:r>
            <a:r>
              <a:rPr lang="en-IN" b="0" i="0" dirty="0">
                <a:solidFill>
                  <a:srgbClr val="333333"/>
                </a:solidFill>
                <a:effectLst/>
                <a:latin typeface="inter-regular"/>
              </a:rPr>
              <a:t> datasets into a cluster and also known as </a:t>
            </a:r>
            <a:r>
              <a:rPr lang="en-IN" b="1" i="0" dirty="0">
                <a:solidFill>
                  <a:srgbClr val="333333"/>
                </a:solidFill>
                <a:effectLst/>
                <a:latin typeface="inter-bold"/>
              </a:rPr>
              <a:t>hierarchical cluster analysis</a:t>
            </a:r>
            <a:r>
              <a:rPr lang="en-IN" b="0" i="0" dirty="0">
                <a:solidFill>
                  <a:srgbClr val="333333"/>
                </a:solidFill>
                <a:effectLst/>
                <a:latin typeface="inter-regular"/>
              </a:rPr>
              <a:t> or HCA.</a:t>
            </a:r>
          </a:p>
          <a:p>
            <a:endParaRPr lang="en-IN" dirty="0">
              <a:solidFill>
                <a:srgbClr val="333333"/>
              </a:solidFill>
              <a:latin typeface="inter-regular"/>
            </a:endParaRPr>
          </a:p>
          <a:p>
            <a:r>
              <a:rPr lang="en-IN" b="0" i="0" dirty="0">
                <a:solidFill>
                  <a:srgbClr val="333333"/>
                </a:solidFill>
                <a:effectLst/>
                <a:latin typeface="inter-regular"/>
              </a:rPr>
              <a:t>In this algorithm, we develop the hierarchy of clusters in the form of a tree, and this tree-shaped structure is known as the </a:t>
            </a:r>
            <a:r>
              <a:rPr lang="en-IN" b="1" i="0" dirty="0">
                <a:solidFill>
                  <a:srgbClr val="333333"/>
                </a:solidFill>
                <a:effectLst/>
                <a:latin typeface="inter-bold"/>
              </a:rPr>
              <a:t>dendrogram</a:t>
            </a:r>
            <a:r>
              <a:rPr lang="en-IN" b="0" i="0" dirty="0">
                <a:solidFill>
                  <a:srgbClr val="333333"/>
                </a:solidFill>
                <a:effectLst/>
                <a:latin typeface="inter-regular"/>
              </a:rPr>
              <a:t>.</a:t>
            </a:r>
            <a:endParaRPr lang="en-IN" dirty="0"/>
          </a:p>
        </p:txBody>
      </p:sp>
    </p:spTree>
    <p:extLst>
      <p:ext uri="{BB962C8B-B14F-4D97-AF65-F5344CB8AC3E}">
        <p14:creationId xmlns:p14="http://schemas.microsoft.com/office/powerpoint/2010/main" val="4180384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5831-16C5-81EA-0481-F63B0BCBB6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5E4273-6709-D42A-2006-CEB7B34685FA}"/>
              </a:ext>
            </a:extLst>
          </p:cNvPr>
          <p:cNvSpPr>
            <a:spLocks noGrp="1"/>
          </p:cNvSpPr>
          <p:nvPr>
            <p:ph idx="1"/>
          </p:nvPr>
        </p:nvSpPr>
        <p:spPr/>
        <p:txBody>
          <a:bodyPr/>
          <a:lstStyle/>
          <a:p>
            <a:r>
              <a:rPr lang="en-IN" b="0" i="0" dirty="0">
                <a:solidFill>
                  <a:srgbClr val="333333"/>
                </a:solidFill>
                <a:effectLst/>
                <a:latin typeface="inter-regular"/>
              </a:rPr>
              <a:t>The hierarchical clustering technique has two approaches.</a:t>
            </a:r>
          </a:p>
          <a:p>
            <a:endParaRPr lang="en-IN" dirty="0">
              <a:solidFill>
                <a:srgbClr val="333333"/>
              </a:solidFill>
              <a:latin typeface="inter-regular"/>
            </a:endParaRPr>
          </a:p>
          <a:p>
            <a:pPr>
              <a:buAutoNum type="arabicPeriod"/>
            </a:pPr>
            <a:r>
              <a:rPr lang="en-IN" b="1" i="0" dirty="0">
                <a:solidFill>
                  <a:srgbClr val="000000"/>
                </a:solidFill>
                <a:effectLst/>
                <a:latin typeface="inter-bold"/>
              </a:rPr>
              <a:t>Agglomerative</a:t>
            </a:r>
          </a:p>
          <a:p>
            <a:pPr>
              <a:buAutoNum type="arabicPeriod"/>
            </a:pPr>
            <a:r>
              <a:rPr lang="en-IN" b="1" i="0" dirty="0">
                <a:solidFill>
                  <a:srgbClr val="000000"/>
                </a:solidFill>
                <a:effectLst/>
                <a:latin typeface="inter-bold"/>
              </a:rPr>
              <a:t>Divisive</a:t>
            </a:r>
            <a:endParaRPr lang="en-IN" b="1" dirty="0">
              <a:solidFill>
                <a:srgbClr val="000000"/>
              </a:solidFill>
              <a:latin typeface="inter-bold"/>
            </a:endParaRPr>
          </a:p>
          <a:p>
            <a:pPr marL="0" indent="0">
              <a:buNone/>
            </a:pPr>
            <a:endParaRPr lang="en-IN" b="1" dirty="0">
              <a:solidFill>
                <a:srgbClr val="000000"/>
              </a:solidFill>
              <a:latin typeface="inter-bold"/>
            </a:endParaRPr>
          </a:p>
          <a:p>
            <a:pPr marL="0" indent="0">
              <a:buNone/>
            </a:pPr>
            <a:endParaRPr lang="en-IN" dirty="0"/>
          </a:p>
        </p:txBody>
      </p:sp>
    </p:spTree>
    <p:extLst>
      <p:ext uri="{BB962C8B-B14F-4D97-AF65-F5344CB8AC3E}">
        <p14:creationId xmlns:p14="http://schemas.microsoft.com/office/powerpoint/2010/main" val="3166072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5AFFD-BF95-FA1E-0B61-BB63694DF0D6}"/>
              </a:ext>
            </a:extLst>
          </p:cNvPr>
          <p:cNvSpPr>
            <a:spLocks noGrp="1"/>
          </p:cNvSpPr>
          <p:nvPr>
            <p:ph type="title"/>
          </p:nvPr>
        </p:nvSpPr>
        <p:spPr/>
        <p:txBody>
          <a:bodyPr/>
          <a:lstStyle/>
          <a:p>
            <a:r>
              <a:rPr lang="en-IN" dirty="0"/>
              <a:t>Agglomerative</a:t>
            </a:r>
          </a:p>
        </p:txBody>
      </p:sp>
      <p:sp>
        <p:nvSpPr>
          <p:cNvPr id="3" name="Content Placeholder 2">
            <a:extLst>
              <a:ext uri="{FF2B5EF4-FFF2-40B4-BE49-F238E27FC236}">
                <a16:creationId xmlns:a16="http://schemas.microsoft.com/office/drawing/2014/main" id="{C6A9E0A0-9BCD-15E3-1856-71D75979AD14}"/>
              </a:ext>
            </a:extLst>
          </p:cNvPr>
          <p:cNvSpPr>
            <a:spLocks noGrp="1"/>
          </p:cNvSpPr>
          <p:nvPr>
            <p:ph idx="1"/>
          </p:nvPr>
        </p:nvSpPr>
        <p:spPr/>
        <p:txBody>
          <a:bodyPr/>
          <a:lstStyle/>
          <a:p>
            <a:r>
              <a:rPr lang="en-IN" b="0" i="0" dirty="0">
                <a:solidFill>
                  <a:srgbClr val="000000"/>
                </a:solidFill>
                <a:effectLst/>
                <a:latin typeface="inter-regular"/>
              </a:rPr>
              <a:t>Agglomerative is a </a:t>
            </a:r>
            <a:r>
              <a:rPr lang="en-IN" b="1" i="0" dirty="0">
                <a:solidFill>
                  <a:srgbClr val="000000"/>
                </a:solidFill>
                <a:effectLst/>
                <a:latin typeface="inter-bold"/>
              </a:rPr>
              <a:t>bottom-up</a:t>
            </a:r>
            <a:r>
              <a:rPr lang="en-IN" b="0" i="0" dirty="0">
                <a:solidFill>
                  <a:srgbClr val="000000"/>
                </a:solidFill>
                <a:effectLst/>
                <a:latin typeface="inter-regular"/>
              </a:rPr>
              <a:t> approach, in which the algorithm starts with taking all data points as single clusters and merging them until one cluster is left.</a:t>
            </a:r>
          </a:p>
          <a:p>
            <a:endParaRPr lang="en-IN" dirty="0">
              <a:solidFill>
                <a:srgbClr val="000000"/>
              </a:solidFill>
              <a:latin typeface="inter-regular"/>
            </a:endParaRPr>
          </a:p>
          <a:p>
            <a:r>
              <a:rPr lang="en-IN" b="0" i="0" dirty="0">
                <a:solidFill>
                  <a:srgbClr val="000000"/>
                </a:solidFill>
                <a:effectLst/>
                <a:latin typeface="inter-regular"/>
              </a:rPr>
              <a:t>Divisive algorithm is the reverse of the agglomerative algorithm as it is a </a:t>
            </a:r>
            <a:r>
              <a:rPr lang="en-IN" b="1" i="0" dirty="0">
                <a:solidFill>
                  <a:srgbClr val="000000"/>
                </a:solidFill>
                <a:effectLst/>
                <a:latin typeface="inter-bold"/>
              </a:rPr>
              <a:t>top-down approach.</a:t>
            </a:r>
            <a:endParaRPr lang="en-IN" dirty="0"/>
          </a:p>
        </p:txBody>
      </p:sp>
    </p:spTree>
    <p:extLst>
      <p:ext uri="{BB962C8B-B14F-4D97-AF65-F5344CB8AC3E}">
        <p14:creationId xmlns:p14="http://schemas.microsoft.com/office/powerpoint/2010/main" val="2617346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06EC-32D2-7563-F3A8-F8F078CE5B0D}"/>
              </a:ext>
            </a:extLst>
          </p:cNvPr>
          <p:cNvSpPr>
            <a:spLocks noGrp="1"/>
          </p:cNvSpPr>
          <p:nvPr>
            <p:ph type="title"/>
          </p:nvPr>
        </p:nvSpPr>
        <p:spPr/>
        <p:txBody>
          <a:bodyPr/>
          <a:lstStyle/>
          <a:p>
            <a:r>
              <a:rPr lang="en-IN" dirty="0"/>
              <a:t>Agglomerative Hierarchical clustering</a:t>
            </a:r>
          </a:p>
        </p:txBody>
      </p:sp>
      <p:sp>
        <p:nvSpPr>
          <p:cNvPr id="3" name="Content Placeholder 2">
            <a:extLst>
              <a:ext uri="{FF2B5EF4-FFF2-40B4-BE49-F238E27FC236}">
                <a16:creationId xmlns:a16="http://schemas.microsoft.com/office/drawing/2014/main" id="{2B5BF373-E7C0-9A77-B568-BA8E2F4742B3}"/>
              </a:ext>
            </a:extLst>
          </p:cNvPr>
          <p:cNvSpPr>
            <a:spLocks noGrp="1"/>
          </p:cNvSpPr>
          <p:nvPr>
            <p:ph idx="1"/>
          </p:nvPr>
        </p:nvSpPr>
        <p:spPr/>
        <p:txBody>
          <a:bodyPr/>
          <a:lstStyle/>
          <a:p>
            <a:r>
              <a:rPr lang="en-IN" b="0" i="0" dirty="0">
                <a:solidFill>
                  <a:srgbClr val="333333"/>
                </a:solidFill>
                <a:effectLst/>
                <a:latin typeface="inter-regular"/>
              </a:rPr>
              <a:t>It means, this algorithm considers each dataset as a single cluster at the beginning, and then start combining the closest pair of clusters. It does this until all the clusters are merged into a single cluster that contains all the datasets.</a:t>
            </a:r>
          </a:p>
          <a:p>
            <a:endParaRPr lang="en-IN" dirty="0">
              <a:solidFill>
                <a:srgbClr val="333333"/>
              </a:solidFill>
              <a:latin typeface="inter-regular"/>
            </a:endParaRPr>
          </a:p>
          <a:p>
            <a:endParaRPr lang="en-IN" dirty="0"/>
          </a:p>
        </p:txBody>
      </p:sp>
    </p:spTree>
    <p:extLst>
      <p:ext uri="{BB962C8B-B14F-4D97-AF65-F5344CB8AC3E}">
        <p14:creationId xmlns:p14="http://schemas.microsoft.com/office/powerpoint/2010/main" val="2132123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70B0D-07CF-AE56-2747-F1C29E2149D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0B8E7CD-6E16-1F3D-462D-6458918788F7}"/>
              </a:ext>
            </a:extLst>
          </p:cNvPr>
          <p:cNvPicPr>
            <a:picLocks noGrp="1" noChangeAspect="1"/>
          </p:cNvPicPr>
          <p:nvPr>
            <p:ph idx="1"/>
          </p:nvPr>
        </p:nvPicPr>
        <p:blipFill>
          <a:blip r:embed="rId2"/>
          <a:stretch>
            <a:fillRect/>
          </a:stretch>
        </p:blipFill>
        <p:spPr>
          <a:xfrm>
            <a:off x="1115089" y="2997282"/>
            <a:ext cx="5295900" cy="3495675"/>
          </a:xfrm>
        </p:spPr>
      </p:pic>
      <p:sp>
        <p:nvSpPr>
          <p:cNvPr id="7" name="TextBox 6">
            <a:extLst>
              <a:ext uri="{FF2B5EF4-FFF2-40B4-BE49-F238E27FC236}">
                <a16:creationId xmlns:a16="http://schemas.microsoft.com/office/drawing/2014/main" id="{0D7464A0-1B2D-3F67-27E3-476310DFD980}"/>
              </a:ext>
            </a:extLst>
          </p:cNvPr>
          <p:cNvSpPr txBox="1"/>
          <p:nvPr/>
        </p:nvSpPr>
        <p:spPr>
          <a:xfrm>
            <a:off x="886408" y="1930400"/>
            <a:ext cx="7165910" cy="646331"/>
          </a:xfrm>
          <a:prstGeom prst="rect">
            <a:avLst/>
          </a:prstGeom>
          <a:noFill/>
        </p:spPr>
        <p:txBody>
          <a:bodyPr wrap="square">
            <a:spAutoFit/>
          </a:bodyPr>
          <a:lstStyle/>
          <a:p>
            <a:r>
              <a:rPr lang="en-IN" b="1" i="0" dirty="0">
                <a:solidFill>
                  <a:srgbClr val="000000"/>
                </a:solidFill>
                <a:effectLst/>
                <a:latin typeface="inter-bold"/>
              </a:rPr>
              <a:t>Step-1:</a:t>
            </a:r>
            <a:r>
              <a:rPr lang="en-IN" b="0" i="0" dirty="0">
                <a:solidFill>
                  <a:srgbClr val="000000"/>
                </a:solidFill>
                <a:effectLst/>
                <a:latin typeface="inter-regular"/>
              </a:rPr>
              <a:t> Create each data point as a single cluster. Let's say there are N data points, so the number of clusters will also be N.</a:t>
            </a:r>
            <a:endParaRPr lang="en-IN" dirty="0"/>
          </a:p>
        </p:txBody>
      </p:sp>
    </p:spTree>
    <p:extLst>
      <p:ext uri="{BB962C8B-B14F-4D97-AF65-F5344CB8AC3E}">
        <p14:creationId xmlns:p14="http://schemas.microsoft.com/office/powerpoint/2010/main" val="125608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69C7E-8D36-A804-42E3-9BD3432A90D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FDBC9CC-E1F3-A1ED-1AF6-EA8954F88661}"/>
              </a:ext>
            </a:extLst>
          </p:cNvPr>
          <p:cNvPicPr>
            <a:picLocks noGrp="1" noChangeAspect="1"/>
          </p:cNvPicPr>
          <p:nvPr>
            <p:ph idx="1"/>
          </p:nvPr>
        </p:nvPicPr>
        <p:blipFill>
          <a:blip r:embed="rId2"/>
          <a:stretch>
            <a:fillRect/>
          </a:stretch>
        </p:blipFill>
        <p:spPr>
          <a:xfrm>
            <a:off x="1110132" y="2705100"/>
            <a:ext cx="5324475" cy="3543300"/>
          </a:xfrm>
        </p:spPr>
      </p:pic>
      <p:sp>
        <p:nvSpPr>
          <p:cNvPr id="7" name="TextBox 6">
            <a:extLst>
              <a:ext uri="{FF2B5EF4-FFF2-40B4-BE49-F238E27FC236}">
                <a16:creationId xmlns:a16="http://schemas.microsoft.com/office/drawing/2014/main" id="{C0D1B5B8-1D21-2EB1-FCB0-D262DBA6D234}"/>
              </a:ext>
            </a:extLst>
          </p:cNvPr>
          <p:cNvSpPr txBox="1"/>
          <p:nvPr/>
        </p:nvSpPr>
        <p:spPr>
          <a:xfrm>
            <a:off x="858416" y="1994584"/>
            <a:ext cx="7557796" cy="646331"/>
          </a:xfrm>
          <a:prstGeom prst="rect">
            <a:avLst/>
          </a:prstGeom>
          <a:noFill/>
        </p:spPr>
        <p:txBody>
          <a:bodyPr wrap="square">
            <a:spAutoFit/>
          </a:bodyPr>
          <a:lstStyle/>
          <a:p>
            <a:r>
              <a:rPr lang="en-IN" b="1" i="0" dirty="0">
                <a:solidFill>
                  <a:srgbClr val="000000"/>
                </a:solidFill>
                <a:effectLst/>
                <a:latin typeface="inter-bold"/>
              </a:rPr>
              <a:t>Step-2:</a:t>
            </a:r>
            <a:r>
              <a:rPr lang="en-IN" b="0" i="0" dirty="0">
                <a:solidFill>
                  <a:srgbClr val="000000"/>
                </a:solidFill>
                <a:effectLst/>
                <a:latin typeface="inter-regular"/>
              </a:rPr>
              <a:t> Take two closest data points or clusters and merge them to form one cluster. So, there will now be N-1 clusters.</a:t>
            </a:r>
            <a:endParaRPr lang="en-IN" dirty="0"/>
          </a:p>
        </p:txBody>
      </p:sp>
    </p:spTree>
    <p:extLst>
      <p:ext uri="{BB962C8B-B14F-4D97-AF65-F5344CB8AC3E}">
        <p14:creationId xmlns:p14="http://schemas.microsoft.com/office/powerpoint/2010/main" val="63445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FC26-D74D-6A85-845C-8FEE3FC25C6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E5DF8A8-4B33-FF74-E73D-33F934A533EE}"/>
              </a:ext>
            </a:extLst>
          </p:cNvPr>
          <p:cNvPicPr>
            <a:picLocks noGrp="1" noChangeAspect="1"/>
          </p:cNvPicPr>
          <p:nvPr>
            <p:ph idx="1"/>
          </p:nvPr>
        </p:nvPicPr>
        <p:blipFill>
          <a:blip r:embed="rId2"/>
          <a:stretch>
            <a:fillRect/>
          </a:stretch>
        </p:blipFill>
        <p:spPr>
          <a:xfrm>
            <a:off x="1101773" y="2753519"/>
            <a:ext cx="5229225" cy="3609975"/>
          </a:xfrm>
        </p:spPr>
      </p:pic>
      <p:sp>
        <p:nvSpPr>
          <p:cNvPr id="7" name="TextBox 6">
            <a:extLst>
              <a:ext uri="{FF2B5EF4-FFF2-40B4-BE49-F238E27FC236}">
                <a16:creationId xmlns:a16="http://schemas.microsoft.com/office/drawing/2014/main" id="{4EDA5459-CB1B-63F5-7B58-4DFED5E2CA1E}"/>
              </a:ext>
            </a:extLst>
          </p:cNvPr>
          <p:cNvSpPr txBox="1"/>
          <p:nvPr/>
        </p:nvSpPr>
        <p:spPr>
          <a:xfrm>
            <a:off x="942392" y="2018794"/>
            <a:ext cx="7231224" cy="646331"/>
          </a:xfrm>
          <a:prstGeom prst="rect">
            <a:avLst/>
          </a:prstGeom>
          <a:noFill/>
        </p:spPr>
        <p:txBody>
          <a:bodyPr wrap="square">
            <a:spAutoFit/>
          </a:bodyPr>
          <a:lstStyle/>
          <a:p>
            <a:r>
              <a:rPr lang="en-IN" b="1" i="0" dirty="0">
                <a:solidFill>
                  <a:srgbClr val="000000"/>
                </a:solidFill>
                <a:effectLst/>
                <a:latin typeface="inter-bold"/>
              </a:rPr>
              <a:t>Step-3</a:t>
            </a:r>
            <a:r>
              <a:rPr lang="en-IN" b="0" i="0" dirty="0">
                <a:solidFill>
                  <a:srgbClr val="000000"/>
                </a:solidFill>
                <a:effectLst/>
                <a:latin typeface="inter-regular"/>
              </a:rPr>
              <a:t>: Again, take the two closest clusters and merge them together to form one cluster. There will be N-2 clusters.</a:t>
            </a:r>
            <a:endParaRPr lang="en-IN" dirty="0"/>
          </a:p>
        </p:txBody>
      </p:sp>
    </p:spTree>
    <p:extLst>
      <p:ext uri="{BB962C8B-B14F-4D97-AF65-F5344CB8AC3E}">
        <p14:creationId xmlns:p14="http://schemas.microsoft.com/office/powerpoint/2010/main" val="1550835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6CE4-D6AF-6FD5-FA2E-07EBD052590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BF39CD3-8151-D17B-E21B-719F445B27D9}"/>
              </a:ext>
            </a:extLst>
          </p:cNvPr>
          <p:cNvPicPr>
            <a:picLocks noGrp="1" noChangeAspect="1"/>
          </p:cNvPicPr>
          <p:nvPr>
            <p:ph idx="1"/>
          </p:nvPr>
        </p:nvPicPr>
        <p:blipFill>
          <a:blip r:embed="rId2"/>
          <a:stretch>
            <a:fillRect/>
          </a:stretch>
        </p:blipFill>
        <p:spPr>
          <a:xfrm>
            <a:off x="1085850" y="2695575"/>
            <a:ext cx="5010150" cy="3552825"/>
          </a:xfrm>
        </p:spPr>
      </p:pic>
      <p:sp>
        <p:nvSpPr>
          <p:cNvPr id="7" name="TextBox 6">
            <a:extLst>
              <a:ext uri="{FF2B5EF4-FFF2-40B4-BE49-F238E27FC236}">
                <a16:creationId xmlns:a16="http://schemas.microsoft.com/office/drawing/2014/main" id="{698D2E5D-69AC-EAEB-8BCD-E2CCE37034E6}"/>
              </a:ext>
            </a:extLst>
          </p:cNvPr>
          <p:cNvSpPr txBox="1"/>
          <p:nvPr/>
        </p:nvSpPr>
        <p:spPr>
          <a:xfrm>
            <a:off x="606488" y="2049244"/>
            <a:ext cx="8108303" cy="646331"/>
          </a:xfrm>
          <a:prstGeom prst="rect">
            <a:avLst/>
          </a:prstGeom>
          <a:noFill/>
        </p:spPr>
        <p:txBody>
          <a:bodyPr wrap="square">
            <a:spAutoFit/>
          </a:bodyPr>
          <a:lstStyle/>
          <a:p>
            <a:r>
              <a:rPr lang="en-IN" b="1" i="0" dirty="0">
                <a:solidFill>
                  <a:srgbClr val="000000"/>
                </a:solidFill>
                <a:effectLst/>
                <a:latin typeface="inter-bold"/>
              </a:rPr>
              <a:t>Step-4:</a:t>
            </a:r>
            <a:r>
              <a:rPr lang="en-IN" b="0" i="0" dirty="0">
                <a:solidFill>
                  <a:srgbClr val="000000"/>
                </a:solidFill>
                <a:effectLst/>
                <a:latin typeface="inter-regular"/>
              </a:rPr>
              <a:t> Repeat Step 3 until only one cluster left. So, we will get the following clusters. Consider the below images:</a:t>
            </a:r>
            <a:endParaRPr lang="en-IN" dirty="0"/>
          </a:p>
        </p:txBody>
      </p:sp>
    </p:spTree>
    <p:extLst>
      <p:ext uri="{BB962C8B-B14F-4D97-AF65-F5344CB8AC3E}">
        <p14:creationId xmlns:p14="http://schemas.microsoft.com/office/powerpoint/2010/main" val="215145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99693-6269-7731-BBDB-AE84373FD42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EDCC873-447D-9561-6DCF-36F6D3C7110A}"/>
              </a:ext>
            </a:extLst>
          </p:cNvPr>
          <p:cNvPicPr>
            <a:picLocks noGrp="1" noChangeAspect="1"/>
          </p:cNvPicPr>
          <p:nvPr>
            <p:ph idx="1"/>
          </p:nvPr>
        </p:nvPicPr>
        <p:blipFill>
          <a:blip r:embed="rId2"/>
          <a:stretch>
            <a:fillRect/>
          </a:stretch>
        </p:blipFill>
        <p:spPr>
          <a:xfrm>
            <a:off x="1074268" y="2818444"/>
            <a:ext cx="4724400" cy="3648075"/>
          </a:xfrm>
        </p:spPr>
      </p:pic>
    </p:spTree>
    <p:extLst>
      <p:ext uri="{BB962C8B-B14F-4D97-AF65-F5344CB8AC3E}">
        <p14:creationId xmlns:p14="http://schemas.microsoft.com/office/powerpoint/2010/main" val="2838582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42FB4-48FF-1E85-B6E2-580C4919D86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C460041-7544-5AA3-D410-5526A68F4169}"/>
              </a:ext>
            </a:extLst>
          </p:cNvPr>
          <p:cNvPicPr>
            <a:picLocks noGrp="1" noChangeAspect="1"/>
          </p:cNvPicPr>
          <p:nvPr>
            <p:ph idx="1"/>
          </p:nvPr>
        </p:nvPicPr>
        <p:blipFill>
          <a:blip r:embed="rId2"/>
          <a:stretch>
            <a:fillRect/>
          </a:stretch>
        </p:blipFill>
        <p:spPr>
          <a:xfrm>
            <a:off x="1057275" y="2015818"/>
            <a:ext cx="5038725" cy="3667125"/>
          </a:xfrm>
        </p:spPr>
      </p:pic>
    </p:spTree>
    <p:extLst>
      <p:ext uri="{BB962C8B-B14F-4D97-AF65-F5344CB8AC3E}">
        <p14:creationId xmlns:p14="http://schemas.microsoft.com/office/powerpoint/2010/main" val="2246614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621D2-2FDA-8337-D3FC-37A3200E0F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F1E62A-B884-AB07-D00A-64237F8034F9}"/>
              </a:ext>
            </a:extLst>
          </p:cNvPr>
          <p:cNvSpPr>
            <a:spLocks noGrp="1"/>
          </p:cNvSpPr>
          <p:nvPr>
            <p:ph idx="1"/>
          </p:nvPr>
        </p:nvSpPr>
        <p:spPr/>
        <p:txBody>
          <a:bodyPr/>
          <a:lstStyle/>
          <a:p>
            <a:r>
              <a:rPr lang="en-IN" b="1" i="0" dirty="0">
                <a:solidFill>
                  <a:srgbClr val="000000"/>
                </a:solidFill>
                <a:effectLst/>
                <a:latin typeface="inter-bold"/>
              </a:rPr>
              <a:t>Step-5:</a:t>
            </a:r>
            <a:r>
              <a:rPr lang="en-IN" b="0" i="0" dirty="0">
                <a:solidFill>
                  <a:srgbClr val="000000"/>
                </a:solidFill>
                <a:effectLst/>
                <a:latin typeface="inter-regular"/>
              </a:rPr>
              <a:t> Once all the clusters are combined into one big cluster, develop the dendrogram to divide the clusters as per the problem.</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930149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A517E-20DE-AEE2-27F3-F7CE4997C4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0310B5-19BA-65A4-9018-7F1B9CD7FFBF}"/>
              </a:ext>
            </a:extLst>
          </p:cNvPr>
          <p:cNvSpPr>
            <a:spLocks noGrp="1"/>
          </p:cNvSpPr>
          <p:nvPr>
            <p:ph idx="1"/>
          </p:nvPr>
        </p:nvSpPr>
        <p:spPr/>
        <p:txBody>
          <a:bodyPr/>
          <a:lstStyle/>
          <a:p>
            <a:r>
              <a:rPr lang="en-IN" b="0" i="0" dirty="0">
                <a:solidFill>
                  <a:srgbClr val="333333"/>
                </a:solidFill>
                <a:effectLst/>
                <a:latin typeface="inter-regular"/>
              </a:rPr>
              <a:t>The dendrogram is a tree-like structure that is mainly used to store each step as a memory that the HC algorithm performs.</a:t>
            </a:r>
          </a:p>
          <a:p>
            <a:endParaRPr lang="en-IN" dirty="0">
              <a:solidFill>
                <a:srgbClr val="333333"/>
              </a:solidFill>
              <a:latin typeface="inter-regular"/>
            </a:endParaRPr>
          </a:p>
          <a:p>
            <a:r>
              <a:rPr lang="en-IN" b="0" i="0" dirty="0">
                <a:solidFill>
                  <a:srgbClr val="333333"/>
                </a:solidFill>
                <a:effectLst/>
                <a:latin typeface="inter-regular"/>
              </a:rPr>
              <a:t>In the dendrogram plot, the Y-axis shows the Euclidean distances between the data points, and the x-axis shows all the data points of the given dataset.</a:t>
            </a:r>
            <a:endParaRPr lang="en-IN" dirty="0"/>
          </a:p>
        </p:txBody>
      </p:sp>
    </p:spTree>
    <p:extLst>
      <p:ext uri="{BB962C8B-B14F-4D97-AF65-F5344CB8AC3E}">
        <p14:creationId xmlns:p14="http://schemas.microsoft.com/office/powerpoint/2010/main" val="1966375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F9F08-4FF0-A97B-C798-B7E2A961D3B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3E68349-D436-10D9-696D-8F5D3AB65524}"/>
              </a:ext>
            </a:extLst>
          </p:cNvPr>
          <p:cNvPicPr>
            <a:picLocks noGrp="1" noChangeAspect="1"/>
          </p:cNvPicPr>
          <p:nvPr>
            <p:ph idx="1"/>
          </p:nvPr>
        </p:nvPicPr>
        <p:blipFill>
          <a:blip r:embed="rId2"/>
          <a:stretch>
            <a:fillRect/>
          </a:stretch>
        </p:blipFill>
        <p:spPr>
          <a:xfrm>
            <a:off x="677863" y="2276003"/>
            <a:ext cx="8596312" cy="3650607"/>
          </a:xfrm>
        </p:spPr>
      </p:pic>
    </p:spTree>
    <p:extLst>
      <p:ext uri="{BB962C8B-B14F-4D97-AF65-F5344CB8AC3E}">
        <p14:creationId xmlns:p14="http://schemas.microsoft.com/office/powerpoint/2010/main" val="358030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3F479-E0A8-0DFF-F675-7ED1ECF36BF3}"/>
              </a:ext>
            </a:extLst>
          </p:cNvPr>
          <p:cNvSpPr>
            <a:spLocks noGrp="1"/>
          </p:cNvSpPr>
          <p:nvPr>
            <p:ph type="title"/>
          </p:nvPr>
        </p:nvSpPr>
        <p:spPr/>
        <p:txBody>
          <a:bodyPr/>
          <a:lstStyle/>
          <a:p>
            <a:r>
              <a:rPr lang="en-US" dirty="0"/>
              <a:t>Probabilistic Clustering </a:t>
            </a:r>
            <a:endParaRPr lang="en-IN" dirty="0"/>
          </a:p>
        </p:txBody>
      </p:sp>
      <p:sp>
        <p:nvSpPr>
          <p:cNvPr id="3" name="Content Placeholder 2">
            <a:extLst>
              <a:ext uri="{FF2B5EF4-FFF2-40B4-BE49-F238E27FC236}">
                <a16:creationId xmlns:a16="http://schemas.microsoft.com/office/drawing/2014/main" id="{5721B9E2-69FA-1DDC-6CC7-A37490FCAAA3}"/>
              </a:ext>
            </a:extLst>
          </p:cNvPr>
          <p:cNvSpPr>
            <a:spLocks noGrp="1"/>
          </p:cNvSpPr>
          <p:nvPr>
            <p:ph idx="1"/>
          </p:nvPr>
        </p:nvSpPr>
        <p:spPr>
          <a:xfrm>
            <a:off x="677334" y="1679511"/>
            <a:ext cx="8596668" cy="4361852"/>
          </a:xfrm>
        </p:spPr>
        <p:txBody>
          <a:bodyPr/>
          <a:lstStyle/>
          <a:p>
            <a:r>
              <a:rPr lang="en-IN" b="0" i="0" dirty="0">
                <a:solidFill>
                  <a:srgbClr val="0D0D0D"/>
                </a:solidFill>
                <a:effectLst/>
                <a:latin typeface="Söhne"/>
              </a:rPr>
              <a:t>Probabilistic clustering is a type of clustering algorithm that assigns data points to clusters based on the probability that they belong to each cluster.</a:t>
            </a:r>
          </a:p>
          <a:p>
            <a:endParaRPr lang="en-IN" dirty="0">
              <a:solidFill>
                <a:srgbClr val="0D0D0D"/>
              </a:solidFill>
              <a:latin typeface="Söhne"/>
            </a:endParaRPr>
          </a:p>
          <a:p>
            <a:r>
              <a:rPr lang="en-IN" dirty="0">
                <a:solidFill>
                  <a:srgbClr val="0D0D0D"/>
                </a:solidFill>
                <a:latin typeface="Söhne"/>
              </a:rPr>
              <a:t>Probabilistic hierarchical clustering is a machine-learning technique that groups similar data points into clusters. This method assigns probabilities to the likelihood of a point belonging to each cluster.</a:t>
            </a:r>
          </a:p>
          <a:p>
            <a:endParaRPr lang="en-IN" dirty="0">
              <a:solidFill>
                <a:srgbClr val="0D0D0D"/>
              </a:solidFill>
              <a:latin typeface="Söhne"/>
            </a:endParaRPr>
          </a:p>
          <a:p>
            <a:endParaRPr lang="en-IN" b="0" i="0" dirty="0">
              <a:solidFill>
                <a:srgbClr val="0D0D0D"/>
              </a:solidFill>
              <a:effectLst/>
              <a:latin typeface="Söhne"/>
            </a:endParaRPr>
          </a:p>
          <a:p>
            <a:endParaRPr lang="en-IN" dirty="0">
              <a:solidFill>
                <a:srgbClr val="0D0D0D"/>
              </a:solidFill>
              <a:latin typeface="Söhne"/>
            </a:endParaRPr>
          </a:p>
          <a:p>
            <a:endParaRPr lang="en-IN" dirty="0"/>
          </a:p>
        </p:txBody>
      </p:sp>
    </p:spTree>
    <p:extLst>
      <p:ext uri="{BB962C8B-B14F-4D97-AF65-F5344CB8AC3E}">
        <p14:creationId xmlns:p14="http://schemas.microsoft.com/office/powerpoint/2010/main" val="957564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B830-EEA7-E34E-D15E-30D2852F60B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4FB749-F149-A0D7-5246-7C1A61924022}"/>
              </a:ext>
            </a:extLst>
          </p:cNvPr>
          <p:cNvSpPr>
            <a:spLocks noGrp="1"/>
          </p:cNvSpPr>
          <p:nvPr>
            <p:ph idx="1"/>
          </p:nvPr>
        </p:nvSpPr>
        <p:spPr/>
        <p:txBody>
          <a:bodyPr/>
          <a:lstStyle/>
          <a:p>
            <a:r>
              <a:rPr lang="en-IN" dirty="0">
                <a:solidFill>
                  <a:srgbClr val="0D0D0D"/>
                </a:solidFill>
                <a:latin typeface="Söhne"/>
              </a:rPr>
              <a:t>The Gaussian Mixture Model or GMM is defined as a mixture model that has a combination of the unspecified probability distribution function.</a:t>
            </a:r>
          </a:p>
          <a:p>
            <a:endParaRPr lang="en-IN" dirty="0">
              <a:solidFill>
                <a:srgbClr val="0D0D0D"/>
              </a:solidFill>
              <a:latin typeface="Söhne"/>
            </a:endParaRPr>
          </a:p>
          <a:p>
            <a:endParaRPr lang="en-IN" dirty="0"/>
          </a:p>
        </p:txBody>
      </p:sp>
    </p:spTree>
    <p:extLst>
      <p:ext uri="{BB962C8B-B14F-4D97-AF65-F5344CB8AC3E}">
        <p14:creationId xmlns:p14="http://schemas.microsoft.com/office/powerpoint/2010/main" val="1515492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CAB05-BEEC-D55B-82B9-958C6E9D0C1A}"/>
              </a:ext>
            </a:extLst>
          </p:cNvPr>
          <p:cNvSpPr>
            <a:spLocks noGrp="1"/>
          </p:cNvSpPr>
          <p:nvPr>
            <p:ph type="title"/>
          </p:nvPr>
        </p:nvSpPr>
        <p:spPr/>
        <p:txBody>
          <a:bodyPr/>
          <a:lstStyle/>
          <a:p>
            <a:r>
              <a:rPr lang="en-IN" dirty="0"/>
              <a:t>Gaussian mixture models (GMMs) </a:t>
            </a:r>
          </a:p>
        </p:txBody>
      </p:sp>
      <p:sp>
        <p:nvSpPr>
          <p:cNvPr id="3" name="Content Placeholder 2">
            <a:extLst>
              <a:ext uri="{FF2B5EF4-FFF2-40B4-BE49-F238E27FC236}">
                <a16:creationId xmlns:a16="http://schemas.microsoft.com/office/drawing/2014/main" id="{63FA8BC0-789E-96C4-D349-60065B5EB655}"/>
              </a:ext>
            </a:extLst>
          </p:cNvPr>
          <p:cNvSpPr>
            <a:spLocks noGrp="1"/>
          </p:cNvSpPr>
          <p:nvPr>
            <p:ph idx="1"/>
          </p:nvPr>
        </p:nvSpPr>
        <p:spPr/>
        <p:txBody>
          <a:bodyPr>
            <a:normAutofit lnSpcReduction="10000"/>
          </a:bodyPr>
          <a:lstStyle/>
          <a:p>
            <a:r>
              <a:rPr lang="en-IN" dirty="0">
                <a:solidFill>
                  <a:srgbClr val="0D0D0D"/>
                </a:solidFill>
                <a:latin typeface="Söhne"/>
              </a:rPr>
              <a:t>Gaussian mixture models (GMMs) are a type of machine learning algorithm. They are used to classify data into different categories based on the probability distribution. </a:t>
            </a:r>
          </a:p>
          <a:p>
            <a:endParaRPr lang="en-IN" dirty="0">
              <a:solidFill>
                <a:srgbClr val="0D0D0D"/>
              </a:solidFill>
              <a:latin typeface="Söhne"/>
            </a:endParaRPr>
          </a:p>
          <a:p>
            <a:r>
              <a:rPr lang="en-IN" b="0" i="0" dirty="0">
                <a:solidFill>
                  <a:srgbClr val="333333"/>
                </a:solidFill>
                <a:effectLst/>
                <a:latin typeface="inter-regular"/>
              </a:rPr>
              <a:t>GMM also requires estimated statistics values such as mean and standard deviation or parameters.</a:t>
            </a:r>
            <a:endParaRPr lang="en-IN" b="0" i="0" dirty="0">
              <a:solidFill>
                <a:srgbClr val="0D0D0D"/>
              </a:solidFill>
              <a:effectLst/>
              <a:latin typeface="Söhne"/>
            </a:endParaRPr>
          </a:p>
          <a:p>
            <a:endParaRPr lang="en-IN" dirty="0">
              <a:solidFill>
                <a:srgbClr val="0D0D0D"/>
              </a:solidFill>
              <a:latin typeface="Söhne"/>
            </a:endParaRPr>
          </a:p>
          <a:p>
            <a:r>
              <a:rPr lang="en-IN" b="0" i="0" dirty="0">
                <a:solidFill>
                  <a:srgbClr val="333333"/>
                </a:solidFill>
                <a:effectLst/>
                <a:latin typeface="inter-regular"/>
              </a:rPr>
              <a:t>It is used to estimate the parameters of the probability distributions to best fit the density of a given training dataset.</a:t>
            </a:r>
          </a:p>
          <a:p>
            <a:endParaRPr lang="en-IN" dirty="0">
              <a:solidFill>
                <a:srgbClr val="333333"/>
              </a:solidFill>
              <a:latin typeface="inter-regular"/>
            </a:endParaRPr>
          </a:p>
          <a:p>
            <a:r>
              <a:rPr lang="en-IN" b="0" i="0" dirty="0">
                <a:solidFill>
                  <a:srgbClr val="333333"/>
                </a:solidFill>
                <a:effectLst/>
                <a:latin typeface="inter-regular"/>
              </a:rPr>
              <a:t>there are plenty of techniques available to estimate the parameter of the Gaussian Mixture Model (GMM), the </a:t>
            </a:r>
            <a:r>
              <a:rPr lang="en-IN" b="1" i="0" dirty="0">
                <a:solidFill>
                  <a:srgbClr val="333333"/>
                </a:solidFill>
                <a:effectLst/>
                <a:latin typeface="inter-bold"/>
              </a:rPr>
              <a:t>Maximum Likelihood Estimation</a:t>
            </a:r>
            <a:r>
              <a:rPr lang="en-IN" b="0" i="0" dirty="0">
                <a:solidFill>
                  <a:srgbClr val="333333"/>
                </a:solidFill>
                <a:effectLst/>
                <a:latin typeface="inter-regular"/>
              </a:rPr>
              <a:t> is one of the most popular techniques among them.</a:t>
            </a:r>
            <a:endParaRPr lang="en-IN" dirty="0"/>
          </a:p>
          <a:p>
            <a:endParaRPr lang="en-IN" dirty="0">
              <a:solidFill>
                <a:srgbClr val="0D0D0D"/>
              </a:solidFill>
              <a:latin typeface="Söhne"/>
            </a:endParaRPr>
          </a:p>
          <a:p>
            <a:endParaRPr lang="en-IN" dirty="0">
              <a:solidFill>
                <a:srgbClr val="575757"/>
              </a:solidFill>
              <a:latin typeface="georgia" panose="02040502050405020303" pitchFamily="18" charset="0"/>
            </a:endParaRPr>
          </a:p>
          <a:p>
            <a:endParaRPr lang="en-IN" dirty="0"/>
          </a:p>
        </p:txBody>
      </p:sp>
    </p:spTree>
    <p:extLst>
      <p:ext uri="{BB962C8B-B14F-4D97-AF65-F5344CB8AC3E}">
        <p14:creationId xmlns:p14="http://schemas.microsoft.com/office/powerpoint/2010/main" val="4093813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82F05-6D0B-2F6B-9B1E-4E5BCEDA80C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325B645-0F43-DF30-A6A0-791FE60F8BEC}"/>
              </a:ext>
            </a:extLst>
          </p:cNvPr>
          <p:cNvPicPr>
            <a:picLocks noGrp="1" noChangeAspect="1"/>
          </p:cNvPicPr>
          <p:nvPr>
            <p:ph idx="1"/>
          </p:nvPr>
        </p:nvPicPr>
        <p:blipFill>
          <a:blip r:embed="rId2"/>
          <a:stretch>
            <a:fillRect/>
          </a:stretch>
        </p:blipFill>
        <p:spPr>
          <a:xfrm>
            <a:off x="828206" y="1809102"/>
            <a:ext cx="7626085" cy="4111625"/>
          </a:xfrm>
        </p:spPr>
      </p:pic>
    </p:spTree>
    <p:extLst>
      <p:ext uri="{BB962C8B-B14F-4D97-AF65-F5344CB8AC3E}">
        <p14:creationId xmlns:p14="http://schemas.microsoft.com/office/powerpoint/2010/main" val="3348476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9120D-A9ED-4A11-F75E-E46CF9FB34F2}"/>
              </a:ext>
            </a:extLst>
          </p:cNvPr>
          <p:cNvSpPr>
            <a:spLocks noGrp="1"/>
          </p:cNvSpPr>
          <p:nvPr>
            <p:ph type="title"/>
          </p:nvPr>
        </p:nvSpPr>
        <p:spPr/>
        <p:txBody>
          <a:bodyPr/>
          <a:lstStyle/>
          <a:p>
            <a:endParaRPr lang="en-IN"/>
          </a:p>
        </p:txBody>
      </p:sp>
      <p:pic>
        <p:nvPicPr>
          <p:cNvPr id="7" name="Picture 6">
            <a:extLst>
              <a:ext uri="{FF2B5EF4-FFF2-40B4-BE49-F238E27FC236}">
                <a16:creationId xmlns:a16="http://schemas.microsoft.com/office/drawing/2014/main" id="{CCEB664B-D24E-ED43-2B48-AB61F57EA81A}"/>
              </a:ext>
            </a:extLst>
          </p:cNvPr>
          <p:cNvPicPr>
            <a:picLocks noChangeAspect="1"/>
          </p:cNvPicPr>
          <p:nvPr/>
        </p:nvPicPr>
        <p:blipFill>
          <a:blip r:embed="rId2"/>
          <a:stretch>
            <a:fillRect/>
          </a:stretch>
        </p:blipFill>
        <p:spPr>
          <a:xfrm>
            <a:off x="1867872" y="2002760"/>
            <a:ext cx="6534150" cy="3581400"/>
          </a:xfrm>
          <a:prstGeom prst="rect">
            <a:avLst/>
          </a:prstGeom>
        </p:spPr>
      </p:pic>
      <p:sp>
        <p:nvSpPr>
          <p:cNvPr id="9" name="Content Placeholder 8">
            <a:extLst>
              <a:ext uri="{FF2B5EF4-FFF2-40B4-BE49-F238E27FC236}">
                <a16:creationId xmlns:a16="http://schemas.microsoft.com/office/drawing/2014/main" id="{4AEDE0D4-985D-92B8-322D-6E9D1C721168}"/>
              </a:ext>
            </a:extLst>
          </p:cNvPr>
          <p:cNvSpPr>
            <a:spLocks noGrp="1"/>
          </p:cNvSpPr>
          <p:nvPr>
            <p:ph idx="1"/>
          </p:nvPr>
        </p:nvSpPr>
        <p:spPr/>
        <p:txBody>
          <a:bodyPr/>
          <a:lstStyle/>
          <a:p>
            <a:endParaRPr lang="en-IN" b="1" dirty="0"/>
          </a:p>
        </p:txBody>
      </p:sp>
    </p:spTree>
    <p:extLst>
      <p:ext uri="{BB962C8B-B14F-4D97-AF65-F5344CB8AC3E}">
        <p14:creationId xmlns:p14="http://schemas.microsoft.com/office/powerpoint/2010/main" val="42863114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714EF-AE63-2D74-A765-D79DAB4BC959}"/>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CFF81C7-67D7-0BB8-76F1-C08E7512B042}"/>
              </a:ext>
            </a:extLst>
          </p:cNvPr>
          <p:cNvPicPr>
            <a:picLocks noGrp="1" noChangeAspect="1"/>
          </p:cNvPicPr>
          <p:nvPr>
            <p:ph idx="1"/>
          </p:nvPr>
        </p:nvPicPr>
        <p:blipFill>
          <a:blip r:embed="rId2"/>
          <a:stretch>
            <a:fillRect/>
          </a:stretch>
        </p:blipFill>
        <p:spPr>
          <a:xfrm>
            <a:off x="1389456" y="2302354"/>
            <a:ext cx="4467225" cy="1190625"/>
          </a:xfrm>
        </p:spPr>
      </p:pic>
      <p:pic>
        <p:nvPicPr>
          <p:cNvPr id="10" name="Picture 9">
            <a:extLst>
              <a:ext uri="{FF2B5EF4-FFF2-40B4-BE49-F238E27FC236}">
                <a16:creationId xmlns:a16="http://schemas.microsoft.com/office/drawing/2014/main" id="{A02D4A2C-CAE9-4831-1DEF-A6DAD0EEF66F}"/>
              </a:ext>
            </a:extLst>
          </p:cNvPr>
          <p:cNvPicPr>
            <a:picLocks noChangeAspect="1"/>
          </p:cNvPicPr>
          <p:nvPr/>
        </p:nvPicPr>
        <p:blipFill>
          <a:blip r:embed="rId3"/>
          <a:stretch>
            <a:fillRect/>
          </a:stretch>
        </p:blipFill>
        <p:spPr>
          <a:xfrm>
            <a:off x="1440510" y="4327526"/>
            <a:ext cx="3152775" cy="1200150"/>
          </a:xfrm>
          <a:prstGeom prst="rect">
            <a:avLst/>
          </a:prstGeom>
        </p:spPr>
      </p:pic>
    </p:spTree>
    <p:extLst>
      <p:ext uri="{BB962C8B-B14F-4D97-AF65-F5344CB8AC3E}">
        <p14:creationId xmlns:p14="http://schemas.microsoft.com/office/powerpoint/2010/main" val="8096451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BA612-9409-3F91-FA77-F664110D91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05FBBD-32EF-D4E0-EE5E-10BA8405B747}"/>
              </a:ext>
            </a:extLst>
          </p:cNvPr>
          <p:cNvSpPr>
            <a:spLocks noGrp="1"/>
          </p:cNvSpPr>
          <p:nvPr>
            <p:ph idx="1"/>
          </p:nvPr>
        </p:nvSpPr>
        <p:spPr/>
        <p:txBody>
          <a:bodyPr/>
          <a:lstStyle/>
          <a:p>
            <a:r>
              <a:rPr lang="en-IN" b="0" i="0" dirty="0">
                <a:solidFill>
                  <a:srgbClr val="333333"/>
                </a:solidFill>
                <a:effectLst/>
                <a:latin typeface="inter-regular"/>
              </a:rPr>
              <a:t>Estimation-Maximization algorithm is one of the best techniques which helps us to estimate the parameters of the gaussian distributions. </a:t>
            </a:r>
          </a:p>
          <a:p>
            <a:endParaRPr lang="en-IN" b="0" i="0" dirty="0">
              <a:solidFill>
                <a:srgbClr val="333333"/>
              </a:solidFill>
              <a:effectLst/>
              <a:latin typeface="inter-regular"/>
            </a:endParaRPr>
          </a:p>
          <a:p>
            <a:r>
              <a:rPr lang="en-IN" b="0" i="0" dirty="0">
                <a:solidFill>
                  <a:srgbClr val="333333"/>
                </a:solidFill>
                <a:effectLst/>
                <a:latin typeface="inter-regular"/>
              </a:rPr>
              <a:t>In the EM algorithm, E-step estimates the expected value for each latent variable, whereas M-step helps in optimizing them significantly using the Maximum Likelihood Estimation (MLE). </a:t>
            </a:r>
          </a:p>
          <a:p>
            <a:endParaRPr lang="en-IN" dirty="0">
              <a:solidFill>
                <a:srgbClr val="333333"/>
              </a:solidFill>
              <a:latin typeface="inter-regular"/>
            </a:endParaRPr>
          </a:p>
          <a:p>
            <a:r>
              <a:rPr lang="en-IN" b="0" i="0" dirty="0">
                <a:solidFill>
                  <a:srgbClr val="333333"/>
                </a:solidFill>
                <a:effectLst/>
                <a:latin typeface="inter-regular"/>
              </a:rPr>
              <a:t>Further, this process is repeated until a good set of latent values, and a maximum likelihood is achieved that fits the data.</a:t>
            </a:r>
            <a:endParaRPr lang="en-IN" dirty="0"/>
          </a:p>
        </p:txBody>
      </p:sp>
    </p:spTree>
    <p:extLst>
      <p:ext uri="{BB962C8B-B14F-4D97-AF65-F5344CB8AC3E}">
        <p14:creationId xmlns:p14="http://schemas.microsoft.com/office/powerpoint/2010/main" val="25471911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CD008-EE9A-E73A-733B-C9C7836858A3}"/>
              </a:ext>
            </a:extLst>
          </p:cNvPr>
          <p:cNvSpPr>
            <a:spLocks noGrp="1"/>
          </p:cNvSpPr>
          <p:nvPr>
            <p:ph type="title"/>
          </p:nvPr>
        </p:nvSpPr>
        <p:spPr/>
        <p:txBody>
          <a:bodyPr/>
          <a:lstStyle/>
          <a:p>
            <a:r>
              <a:rPr lang="en-IN" dirty="0"/>
              <a:t>Advantages of EM algorithm</a:t>
            </a:r>
            <a:br>
              <a:rPr lang="en-IN" dirty="0"/>
            </a:br>
            <a:endParaRPr lang="en-IN" dirty="0"/>
          </a:p>
        </p:txBody>
      </p:sp>
      <p:sp>
        <p:nvSpPr>
          <p:cNvPr id="3" name="Content Placeholder 2">
            <a:extLst>
              <a:ext uri="{FF2B5EF4-FFF2-40B4-BE49-F238E27FC236}">
                <a16:creationId xmlns:a16="http://schemas.microsoft.com/office/drawing/2014/main" id="{E01D6B3F-DD10-800E-CD06-1F26EC6EB8B5}"/>
              </a:ext>
            </a:extLst>
          </p:cNvPr>
          <p:cNvSpPr>
            <a:spLocks noGrp="1"/>
          </p:cNvSpPr>
          <p:nvPr>
            <p:ph idx="1"/>
          </p:nvPr>
        </p:nvSpPr>
        <p:spPr/>
        <p:txBody>
          <a:bodyPr/>
          <a:lstStyle/>
          <a:p>
            <a:pPr algn="just">
              <a:buFont typeface="Arial" panose="020B0604020202020204" pitchFamily="34" charset="0"/>
              <a:buChar char="•"/>
            </a:pPr>
            <a:r>
              <a:rPr lang="en-IN" b="0" i="0" dirty="0">
                <a:solidFill>
                  <a:srgbClr val="000000"/>
                </a:solidFill>
                <a:effectLst/>
                <a:latin typeface="inter-regular"/>
              </a:rPr>
              <a:t>It is very easy to implement the first two basic steps of the EM algorithm in various machine learning problems, which are E-step and M- step.</a:t>
            </a:r>
          </a:p>
          <a:p>
            <a:pPr algn="just">
              <a:buFont typeface="Arial" panose="020B0604020202020204" pitchFamily="34" charset="0"/>
              <a:buChar char="•"/>
            </a:pPr>
            <a:endParaRPr lang="en-IN" b="0" i="0" dirty="0">
              <a:solidFill>
                <a:srgbClr val="000000"/>
              </a:solidFill>
              <a:effectLst/>
              <a:latin typeface="inter-regular"/>
            </a:endParaRPr>
          </a:p>
          <a:p>
            <a:pPr algn="just">
              <a:buFont typeface="Arial" panose="020B0604020202020204" pitchFamily="34" charset="0"/>
              <a:buChar char="•"/>
            </a:pPr>
            <a:r>
              <a:rPr lang="en-IN" b="0" i="0" dirty="0">
                <a:solidFill>
                  <a:srgbClr val="000000"/>
                </a:solidFill>
                <a:effectLst/>
                <a:latin typeface="inter-regular"/>
              </a:rPr>
              <a:t>It is mostly guaranteed that likelihood will enhance after each iteration.</a:t>
            </a:r>
          </a:p>
          <a:p>
            <a:pPr algn="just">
              <a:buFont typeface="Arial" panose="020B0604020202020204" pitchFamily="34" charset="0"/>
              <a:buChar char="•"/>
            </a:pPr>
            <a:endParaRPr lang="en-IN" b="0" i="0" dirty="0">
              <a:solidFill>
                <a:srgbClr val="000000"/>
              </a:solidFill>
              <a:effectLst/>
              <a:latin typeface="inter-regular"/>
            </a:endParaRPr>
          </a:p>
          <a:p>
            <a:pPr algn="just">
              <a:buFont typeface="Arial" panose="020B0604020202020204" pitchFamily="34" charset="0"/>
              <a:buChar char="•"/>
            </a:pPr>
            <a:r>
              <a:rPr lang="en-IN" b="0" i="0" dirty="0">
                <a:solidFill>
                  <a:srgbClr val="000000"/>
                </a:solidFill>
                <a:effectLst/>
                <a:latin typeface="inter-regular"/>
              </a:rPr>
              <a:t>It often generates a solution for the M-step in the closed form.</a:t>
            </a:r>
          </a:p>
          <a:p>
            <a:endParaRPr lang="en-IN" dirty="0"/>
          </a:p>
        </p:txBody>
      </p:sp>
    </p:spTree>
    <p:extLst>
      <p:ext uri="{BB962C8B-B14F-4D97-AF65-F5344CB8AC3E}">
        <p14:creationId xmlns:p14="http://schemas.microsoft.com/office/powerpoint/2010/main" val="18056618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945E8-E9AF-7B65-5E51-F6078CE0408B}"/>
              </a:ext>
            </a:extLst>
          </p:cNvPr>
          <p:cNvSpPr>
            <a:spLocks noGrp="1"/>
          </p:cNvSpPr>
          <p:nvPr>
            <p:ph type="title"/>
          </p:nvPr>
        </p:nvSpPr>
        <p:spPr/>
        <p:txBody>
          <a:bodyPr/>
          <a:lstStyle/>
          <a:p>
            <a:r>
              <a:rPr lang="en-IN" dirty="0"/>
              <a:t>Disadvantages of EM algorithm</a:t>
            </a:r>
          </a:p>
        </p:txBody>
      </p:sp>
      <p:sp>
        <p:nvSpPr>
          <p:cNvPr id="3" name="Content Placeholder 2">
            <a:extLst>
              <a:ext uri="{FF2B5EF4-FFF2-40B4-BE49-F238E27FC236}">
                <a16:creationId xmlns:a16="http://schemas.microsoft.com/office/drawing/2014/main" id="{60E8D2AC-D52E-ECD6-48CC-6DCFA05288C5}"/>
              </a:ext>
            </a:extLst>
          </p:cNvPr>
          <p:cNvSpPr>
            <a:spLocks noGrp="1"/>
          </p:cNvSpPr>
          <p:nvPr>
            <p:ph idx="1"/>
          </p:nvPr>
        </p:nvSpPr>
        <p:spPr/>
        <p:txBody>
          <a:bodyPr/>
          <a:lstStyle/>
          <a:p>
            <a:pPr algn="just">
              <a:buFont typeface="Arial" panose="020B0604020202020204" pitchFamily="34" charset="0"/>
              <a:buChar char="•"/>
            </a:pPr>
            <a:r>
              <a:rPr lang="en-IN" b="0" i="0" dirty="0">
                <a:solidFill>
                  <a:srgbClr val="000000"/>
                </a:solidFill>
                <a:effectLst/>
                <a:latin typeface="inter-regular"/>
              </a:rPr>
              <a:t>The convergence of the EM algorithm is very slow.</a:t>
            </a:r>
          </a:p>
          <a:p>
            <a:pPr algn="just">
              <a:buFont typeface="Arial" panose="020B0604020202020204" pitchFamily="34" charset="0"/>
              <a:buChar char="•"/>
            </a:pPr>
            <a:endParaRPr lang="en-IN" b="0" i="0" dirty="0">
              <a:solidFill>
                <a:srgbClr val="000000"/>
              </a:solidFill>
              <a:effectLst/>
              <a:latin typeface="inter-regular"/>
            </a:endParaRPr>
          </a:p>
          <a:p>
            <a:pPr algn="just">
              <a:buFont typeface="Arial" panose="020B0604020202020204" pitchFamily="34" charset="0"/>
              <a:buChar char="•"/>
            </a:pPr>
            <a:r>
              <a:rPr lang="en-IN" b="0" i="0" dirty="0">
                <a:solidFill>
                  <a:srgbClr val="000000"/>
                </a:solidFill>
                <a:effectLst/>
                <a:latin typeface="inter-regular"/>
              </a:rPr>
              <a:t>It can make convergence for the local optima </a:t>
            </a:r>
            <a:r>
              <a:rPr lang="en-IN" b="0" i="0">
                <a:solidFill>
                  <a:srgbClr val="000000"/>
                </a:solidFill>
                <a:effectLst/>
                <a:latin typeface="inter-regular"/>
              </a:rPr>
              <a:t>only.</a:t>
            </a:r>
          </a:p>
          <a:p>
            <a:pPr algn="just">
              <a:buFont typeface="Arial" panose="020B0604020202020204" pitchFamily="34" charset="0"/>
              <a:buChar char="•"/>
            </a:pPr>
            <a:endParaRPr lang="en-IN" b="0" i="0" dirty="0">
              <a:solidFill>
                <a:srgbClr val="000000"/>
              </a:solidFill>
              <a:effectLst/>
              <a:latin typeface="inter-regular"/>
            </a:endParaRPr>
          </a:p>
          <a:p>
            <a:pPr algn="just">
              <a:buFont typeface="Arial" panose="020B0604020202020204" pitchFamily="34" charset="0"/>
              <a:buChar char="•"/>
            </a:pPr>
            <a:r>
              <a:rPr lang="en-IN" b="0" i="0" dirty="0">
                <a:solidFill>
                  <a:srgbClr val="000000"/>
                </a:solidFill>
                <a:effectLst/>
                <a:latin typeface="inter-regular"/>
              </a:rPr>
              <a:t>It takes both forward and backward probability into consideration. It is opposite to that of numerical optimization, which takes only forward probabilities.</a:t>
            </a:r>
          </a:p>
          <a:p>
            <a:pPr marL="0" indent="0">
              <a:buNone/>
            </a:pPr>
            <a:endParaRPr lang="en-IN" dirty="0"/>
          </a:p>
        </p:txBody>
      </p:sp>
    </p:spTree>
    <p:extLst>
      <p:ext uri="{BB962C8B-B14F-4D97-AF65-F5344CB8AC3E}">
        <p14:creationId xmlns:p14="http://schemas.microsoft.com/office/powerpoint/2010/main" val="1807750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DD6EB-2409-56DA-62C3-4A3C82619C51}"/>
              </a:ext>
            </a:extLst>
          </p:cNvPr>
          <p:cNvSpPr>
            <a:spLocks noGrp="1"/>
          </p:cNvSpPr>
          <p:nvPr>
            <p:ph type="title"/>
          </p:nvPr>
        </p:nvSpPr>
        <p:spPr/>
        <p:txBody>
          <a:bodyPr/>
          <a:lstStyle/>
          <a:p>
            <a:r>
              <a:rPr lang="en-US" dirty="0"/>
              <a:t>Association Rule Learning </a:t>
            </a:r>
            <a:endParaRPr lang="en-IN" dirty="0"/>
          </a:p>
        </p:txBody>
      </p:sp>
      <p:sp>
        <p:nvSpPr>
          <p:cNvPr id="3" name="Content Placeholder 2">
            <a:extLst>
              <a:ext uri="{FF2B5EF4-FFF2-40B4-BE49-F238E27FC236}">
                <a16:creationId xmlns:a16="http://schemas.microsoft.com/office/drawing/2014/main" id="{EB9FC083-9279-1105-AD3C-32DCE1810E7D}"/>
              </a:ext>
            </a:extLst>
          </p:cNvPr>
          <p:cNvSpPr>
            <a:spLocks noGrp="1"/>
          </p:cNvSpPr>
          <p:nvPr>
            <p:ph idx="1"/>
          </p:nvPr>
        </p:nvSpPr>
        <p:spPr/>
        <p:txBody>
          <a:bodyPr/>
          <a:lstStyle/>
          <a:p>
            <a:r>
              <a:rPr lang="en-IN" b="0" i="0" dirty="0">
                <a:solidFill>
                  <a:srgbClr val="273239"/>
                </a:solidFill>
                <a:effectLst/>
                <a:latin typeface="Nunito" pitchFamily="2" charset="0"/>
              </a:rPr>
              <a:t>Association rule mining finds interesting associations and relationships among large sets of data items.</a:t>
            </a:r>
          </a:p>
          <a:p>
            <a:endParaRPr lang="en-IN" dirty="0">
              <a:solidFill>
                <a:srgbClr val="273239"/>
              </a:solidFill>
              <a:latin typeface="Nunito" pitchFamily="2" charset="0"/>
            </a:endParaRPr>
          </a:p>
          <a:p>
            <a:r>
              <a:rPr lang="en-IN" b="0" i="0" dirty="0">
                <a:solidFill>
                  <a:srgbClr val="273239"/>
                </a:solidFill>
                <a:effectLst/>
                <a:latin typeface="Nunito" pitchFamily="2" charset="0"/>
              </a:rPr>
              <a:t>This rule shows how frequently an itemset occurs in a transaction. </a:t>
            </a:r>
          </a:p>
          <a:p>
            <a:endParaRPr lang="en-IN" dirty="0">
              <a:solidFill>
                <a:srgbClr val="273239"/>
              </a:solidFill>
              <a:latin typeface="Nunito" pitchFamily="2" charset="0"/>
            </a:endParaRPr>
          </a:p>
          <a:p>
            <a:r>
              <a:rPr lang="en-IN" b="0" i="0" dirty="0">
                <a:solidFill>
                  <a:srgbClr val="273239"/>
                </a:solidFill>
                <a:effectLst/>
                <a:latin typeface="Nunito" pitchFamily="2" charset="0"/>
              </a:rPr>
              <a:t>A typical example is a Market-Based Analysis. Market-Based Analysis is one of the key techniques used by large relations to show associations between items.</a:t>
            </a:r>
          </a:p>
          <a:p>
            <a:endParaRPr lang="en-IN" dirty="0">
              <a:solidFill>
                <a:srgbClr val="273239"/>
              </a:solidFill>
              <a:latin typeface="Nunito" pitchFamily="2" charset="0"/>
            </a:endParaRPr>
          </a:p>
          <a:p>
            <a:r>
              <a:rPr lang="en-IN" dirty="0">
                <a:solidFill>
                  <a:srgbClr val="273239"/>
                </a:solidFill>
                <a:latin typeface="Nunito" pitchFamily="2" charset="0"/>
              </a:rPr>
              <a:t>Example: Bread, Milk</a:t>
            </a:r>
            <a:endParaRPr lang="en-IN" dirty="0"/>
          </a:p>
        </p:txBody>
      </p:sp>
    </p:spTree>
    <p:extLst>
      <p:ext uri="{BB962C8B-B14F-4D97-AF65-F5344CB8AC3E}">
        <p14:creationId xmlns:p14="http://schemas.microsoft.com/office/powerpoint/2010/main" val="1659802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236E-E00D-F5D0-893E-EE0EF3FCF6CC}"/>
              </a:ext>
            </a:extLst>
          </p:cNvPr>
          <p:cNvSpPr>
            <a:spLocks noGrp="1"/>
          </p:cNvSpPr>
          <p:nvPr>
            <p:ph type="title"/>
          </p:nvPr>
        </p:nvSpPr>
        <p:spPr/>
        <p:txBody>
          <a:bodyPr/>
          <a:lstStyle/>
          <a:p>
            <a:r>
              <a:rPr lang="en-US" dirty="0" err="1"/>
              <a:t>Apriori</a:t>
            </a:r>
            <a:r>
              <a:rPr lang="en-US" dirty="0"/>
              <a:t> Algorithm</a:t>
            </a:r>
            <a:endParaRPr lang="en-IN" dirty="0"/>
          </a:p>
        </p:txBody>
      </p:sp>
      <p:sp>
        <p:nvSpPr>
          <p:cNvPr id="3" name="Content Placeholder 2">
            <a:extLst>
              <a:ext uri="{FF2B5EF4-FFF2-40B4-BE49-F238E27FC236}">
                <a16:creationId xmlns:a16="http://schemas.microsoft.com/office/drawing/2014/main" id="{29850243-E25A-7837-5A7C-698500F75400}"/>
              </a:ext>
            </a:extLst>
          </p:cNvPr>
          <p:cNvSpPr>
            <a:spLocks noGrp="1"/>
          </p:cNvSpPr>
          <p:nvPr>
            <p:ph idx="1"/>
          </p:nvPr>
        </p:nvSpPr>
        <p:spPr/>
        <p:txBody>
          <a:bodyPr/>
          <a:lstStyle/>
          <a:p>
            <a:r>
              <a:rPr lang="en-IN" b="0" i="0" dirty="0" err="1">
                <a:solidFill>
                  <a:srgbClr val="333333"/>
                </a:solidFill>
                <a:effectLst/>
                <a:latin typeface="inter-regular"/>
              </a:rPr>
              <a:t>Apriori</a:t>
            </a:r>
            <a:r>
              <a:rPr lang="en-IN" b="0" i="0" dirty="0">
                <a:solidFill>
                  <a:srgbClr val="333333"/>
                </a:solidFill>
                <a:effectLst/>
                <a:latin typeface="inter-regular"/>
              </a:rPr>
              <a:t> algorithm refers to the algorithm that is used to calculate the association rules between objects.  It means how two or more objects are related to one another.</a:t>
            </a:r>
          </a:p>
          <a:p>
            <a:endParaRPr lang="en-IN" dirty="0">
              <a:solidFill>
                <a:srgbClr val="333333"/>
              </a:solidFill>
              <a:latin typeface="inter-regular"/>
            </a:endParaRPr>
          </a:p>
          <a:p>
            <a:r>
              <a:rPr lang="en-IN" b="0" i="0" dirty="0">
                <a:solidFill>
                  <a:srgbClr val="333333"/>
                </a:solidFill>
                <a:effectLst/>
                <a:latin typeface="inter-regular"/>
              </a:rPr>
              <a:t> We can also say that the </a:t>
            </a:r>
            <a:r>
              <a:rPr lang="en-IN" b="0" i="0" dirty="0" err="1">
                <a:solidFill>
                  <a:srgbClr val="333333"/>
                </a:solidFill>
                <a:effectLst/>
                <a:latin typeface="inter-regular"/>
              </a:rPr>
              <a:t>apriori</a:t>
            </a:r>
            <a:r>
              <a:rPr lang="en-IN" b="0" i="0" dirty="0">
                <a:solidFill>
                  <a:srgbClr val="333333"/>
                </a:solidFill>
                <a:effectLst/>
                <a:latin typeface="inter-regular"/>
              </a:rPr>
              <a:t> algorithm is an association rule learning that </a:t>
            </a:r>
            <a:r>
              <a:rPr lang="en-IN" b="0" i="0" dirty="0" err="1">
                <a:solidFill>
                  <a:srgbClr val="333333"/>
                </a:solidFill>
                <a:effectLst/>
                <a:latin typeface="inter-regular"/>
              </a:rPr>
              <a:t>analyzes</a:t>
            </a:r>
            <a:r>
              <a:rPr lang="en-IN" b="0" i="0" dirty="0">
                <a:solidFill>
                  <a:srgbClr val="333333"/>
                </a:solidFill>
                <a:effectLst/>
                <a:latin typeface="inter-regular"/>
              </a:rPr>
              <a:t> that people who bought product A also bought product B.</a:t>
            </a:r>
          </a:p>
          <a:p>
            <a:endParaRPr lang="en-IN" dirty="0">
              <a:solidFill>
                <a:srgbClr val="333333"/>
              </a:solidFill>
              <a:latin typeface="inter-regular"/>
            </a:endParaRPr>
          </a:p>
          <a:p>
            <a:r>
              <a:rPr lang="en-IN" b="0" i="0" dirty="0">
                <a:solidFill>
                  <a:srgbClr val="333333"/>
                </a:solidFill>
                <a:effectLst/>
                <a:latin typeface="inter-regular"/>
              </a:rPr>
              <a:t>Generally, you operate the </a:t>
            </a:r>
            <a:r>
              <a:rPr lang="en-IN" b="0" i="0" dirty="0" err="1">
                <a:solidFill>
                  <a:srgbClr val="333333"/>
                </a:solidFill>
                <a:effectLst/>
                <a:latin typeface="inter-regular"/>
              </a:rPr>
              <a:t>Apriori</a:t>
            </a:r>
            <a:r>
              <a:rPr lang="en-IN" b="0" i="0" dirty="0">
                <a:solidFill>
                  <a:srgbClr val="333333"/>
                </a:solidFill>
                <a:effectLst/>
                <a:latin typeface="inter-regular"/>
              </a:rPr>
              <a:t> algorithm on a database that consists of a huge number of transactions.</a:t>
            </a:r>
          </a:p>
          <a:p>
            <a:endParaRPr lang="en-IN" dirty="0">
              <a:solidFill>
                <a:srgbClr val="333333"/>
              </a:solidFill>
              <a:latin typeface="inter-regular"/>
            </a:endParaRPr>
          </a:p>
          <a:p>
            <a:endParaRPr lang="en-IN" dirty="0"/>
          </a:p>
        </p:txBody>
      </p:sp>
    </p:spTree>
    <p:extLst>
      <p:ext uri="{BB962C8B-B14F-4D97-AF65-F5344CB8AC3E}">
        <p14:creationId xmlns:p14="http://schemas.microsoft.com/office/powerpoint/2010/main" val="15190658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C71F-71EF-C054-2458-CD6B44192405}"/>
              </a:ext>
            </a:extLst>
          </p:cNvPr>
          <p:cNvSpPr>
            <a:spLocks noGrp="1"/>
          </p:cNvSpPr>
          <p:nvPr>
            <p:ph type="title"/>
          </p:nvPr>
        </p:nvSpPr>
        <p:spPr/>
        <p:txBody>
          <a:bodyPr/>
          <a:lstStyle/>
          <a:p>
            <a:r>
              <a:rPr lang="en-IN" dirty="0"/>
              <a:t>What is </a:t>
            </a:r>
            <a:r>
              <a:rPr lang="en-IN" dirty="0" err="1"/>
              <a:t>Apriori</a:t>
            </a:r>
            <a:r>
              <a:rPr lang="en-IN" dirty="0"/>
              <a:t> Algorithm?</a:t>
            </a:r>
          </a:p>
        </p:txBody>
      </p:sp>
      <p:sp>
        <p:nvSpPr>
          <p:cNvPr id="3" name="Content Placeholder 2">
            <a:extLst>
              <a:ext uri="{FF2B5EF4-FFF2-40B4-BE49-F238E27FC236}">
                <a16:creationId xmlns:a16="http://schemas.microsoft.com/office/drawing/2014/main" id="{768C46E5-5B11-6811-8A9B-1683C32B06FE}"/>
              </a:ext>
            </a:extLst>
          </p:cNvPr>
          <p:cNvSpPr>
            <a:spLocks noGrp="1"/>
          </p:cNvSpPr>
          <p:nvPr>
            <p:ph idx="1"/>
          </p:nvPr>
        </p:nvSpPr>
        <p:spPr/>
        <p:txBody>
          <a:bodyPr/>
          <a:lstStyle/>
          <a:p>
            <a:r>
              <a:rPr lang="en-IN" b="0" i="0" dirty="0" err="1">
                <a:solidFill>
                  <a:srgbClr val="333333"/>
                </a:solidFill>
                <a:effectLst/>
                <a:latin typeface="inter-regular"/>
              </a:rPr>
              <a:t>Apriori</a:t>
            </a:r>
            <a:r>
              <a:rPr lang="en-IN" b="0" i="0" dirty="0">
                <a:solidFill>
                  <a:srgbClr val="333333"/>
                </a:solidFill>
                <a:effectLst/>
                <a:latin typeface="inter-regular"/>
              </a:rPr>
              <a:t> algorithm refers to an algorithm that is used in mining frequent products sets and relevant association rules.</a:t>
            </a:r>
          </a:p>
          <a:p>
            <a:endParaRPr lang="en-IN" dirty="0">
              <a:solidFill>
                <a:srgbClr val="333333"/>
              </a:solidFill>
              <a:latin typeface="inter-regular"/>
            </a:endParaRPr>
          </a:p>
          <a:p>
            <a:r>
              <a:rPr lang="en-IN" b="0" i="0" dirty="0">
                <a:solidFill>
                  <a:srgbClr val="333333"/>
                </a:solidFill>
                <a:effectLst/>
                <a:latin typeface="inter-regular"/>
              </a:rPr>
              <a:t>Generally, the </a:t>
            </a:r>
            <a:r>
              <a:rPr lang="en-IN" b="0" i="0" dirty="0" err="1">
                <a:solidFill>
                  <a:srgbClr val="333333"/>
                </a:solidFill>
                <a:effectLst/>
                <a:latin typeface="inter-regular"/>
              </a:rPr>
              <a:t>apriori</a:t>
            </a:r>
            <a:r>
              <a:rPr lang="en-IN" b="0" i="0" dirty="0">
                <a:solidFill>
                  <a:srgbClr val="333333"/>
                </a:solidFill>
                <a:effectLst/>
                <a:latin typeface="inter-regular"/>
              </a:rPr>
              <a:t> algorithm operates on a database containing a huge number of transactions. For example, the items customers buy at a Big Bazar.</a:t>
            </a:r>
          </a:p>
          <a:p>
            <a:endParaRPr lang="en-IN" dirty="0">
              <a:solidFill>
                <a:srgbClr val="333333"/>
              </a:solidFill>
              <a:latin typeface="inter-regular"/>
            </a:endParaRPr>
          </a:p>
          <a:p>
            <a:r>
              <a:rPr lang="en-IN" b="0" i="0" dirty="0" err="1">
                <a:solidFill>
                  <a:srgbClr val="333333"/>
                </a:solidFill>
                <a:effectLst/>
                <a:latin typeface="inter-regular"/>
              </a:rPr>
              <a:t>Apriori</a:t>
            </a:r>
            <a:r>
              <a:rPr lang="en-IN" b="0" i="0" dirty="0">
                <a:solidFill>
                  <a:srgbClr val="333333"/>
                </a:solidFill>
                <a:effectLst/>
                <a:latin typeface="inter-regular"/>
              </a:rPr>
              <a:t> algorithm helps the customers to buy their products with ease and increases the sales performance of the particular store.</a:t>
            </a:r>
            <a:endParaRPr lang="en-IN" dirty="0"/>
          </a:p>
        </p:txBody>
      </p:sp>
    </p:spTree>
    <p:extLst>
      <p:ext uri="{BB962C8B-B14F-4D97-AF65-F5344CB8AC3E}">
        <p14:creationId xmlns:p14="http://schemas.microsoft.com/office/powerpoint/2010/main" val="3622525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18AE4-9260-6106-9F98-49F57E051436}"/>
              </a:ext>
            </a:extLst>
          </p:cNvPr>
          <p:cNvSpPr>
            <a:spLocks noGrp="1"/>
          </p:cNvSpPr>
          <p:nvPr>
            <p:ph type="title"/>
          </p:nvPr>
        </p:nvSpPr>
        <p:spPr/>
        <p:txBody>
          <a:bodyPr/>
          <a:lstStyle/>
          <a:p>
            <a:r>
              <a:rPr lang="en-IN" dirty="0"/>
              <a:t>Components of </a:t>
            </a:r>
            <a:r>
              <a:rPr lang="en-IN" dirty="0" err="1"/>
              <a:t>Apriori</a:t>
            </a:r>
            <a:r>
              <a:rPr lang="en-IN" dirty="0"/>
              <a:t> algorithm</a:t>
            </a:r>
          </a:p>
        </p:txBody>
      </p:sp>
      <p:sp>
        <p:nvSpPr>
          <p:cNvPr id="3" name="Content Placeholder 2">
            <a:extLst>
              <a:ext uri="{FF2B5EF4-FFF2-40B4-BE49-F238E27FC236}">
                <a16:creationId xmlns:a16="http://schemas.microsoft.com/office/drawing/2014/main" id="{7F874642-F71E-380E-1E1D-44C3C32167FE}"/>
              </a:ext>
            </a:extLst>
          </p:cNvPr>
          <p:cNvSpPr>
            <a:spLocks noGrp="1"/>
          </p:cNvSpPr>
          <p:nvPr>
            <p:ph idx="1"/>
          </p:nvPr>
        </p:nvSpPr>
        <p:spPr/>
        <p:txBody>
          <a:bodyPr/>
          <a:lstStyle/>
          <a:p>
            <a:pPr algn="just"/>
            <a:r>
              <a:rPr lang="en-IN" b="0" i="0" dirty="0">
                <a:solidFill>
                  <a:srgbClr val="333333"/>
                </a:solidFill>
                <a:effectLst/>
                <a:latin typeface="inter-regular"/>
              </a:rPr>
              <a:t>The given three components comprise the </a:t>
            </a:r>
            <a:r>
              <a:rPr lang="en-IN" b="0" i="0" dirty="0" err="1">
                <a:solidFill>
                  <a:srgbClr val="333333"/>
                </a:solidFill>
                <a:effectLst/>
                <a:latin typeface="inter-regular"/>
              </a:rPr>
              <a:t>apriori</a:t>
            </a:r>
            <a:r>
              <a:rPr lang="en-IN" b="0" i="0" dirty="0">
                <a:solidFill>
                  <a:srgbClr val="333333"/>
                </a:solidFill>
                <a:effectLst/>
                <a:latin typeface="inter-regular"/>
              </a:rPr>
              <a:t> algorithm.</a:t>
            </a:r>
          </a:p>
          <a:p>
            <a:pPr algn="just">
              <a:buFont typeface="+mj-lt"/>
              <a:buAutoNum type="arabicPeriod"/>
            </a:pPr>
            <a:r>
              <a:rPr lang="en-IN" b="0" i="0" dirty="0">
                <a:solidFill>
                  <a:srgbClr val="000000"/>
                </a:solidFill>
                <a:effectLst/>
                <a:latin typeface="inter-regular"/>
              </a:rPr>
              <a:t>Support</a:t>
            </a:r>
          </a:p>
          <a:p>
            <a:pPr algn="just">
              <a:buFont typeface="+mj-lt"/>
              <a:buAutoNum type="arabicPeriod"/>
            </a:pPr>
            <a:r>
              <a:rPr lang="en-IN" b="0" i="0" dirty="0">
                <a:solidFill>
                  <a:srgbClr val="000000"/>
                </a:solidFill>
                <a:effectLst/>
                <a:latin typeface="inter-regular"/>
              </a:rPr>
              <a:t>Confidence</a:t>
            </a:r>
          </a:p>
          <a:p>
            <a:pPr algn="just">
              <a:buFont typeface="+mj-lt"/>
              <a:buAutoNum type="arabicPeriod"/>
            </a:pPr>
            <a:r>
              <a:rPr lang="en-IN" b="0" i="0" dirty="0">
                <a:solidFill>
                  <a:srgbClr val="000000"/>
                </a:solidFill>
                <a:effectLst/>
                <a:latin typeface="inter-regular"/>
              </a:rPr>
              <a:t>Lift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772743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2E3B-755D-0743-F246-B04714ED86F3}"/>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3CE17D32-4B05-E10B-A8BC-133D7C488605}"/>
              </a:ext>
            </a:extLst>
          </p:cNvPr>
          <p:cNvSpPr>
            <a:spLocks noGrp="1"/>
          </p:cNvSpPr>
          <p:nvPr>
            <p:ph idx="1"/>
          </p:nvPr>
        </p:nvSpPr>
        <p:spPr/>
        <p:txBody>
          <a:bodyPr/>
          <a:lstStyle/>
          <a:p>
            <a:r>
              <a:rPr lang="en-IN" b="0" i="0" dirty="0">
                <a:solidFill>
                  <a:srgbClr val="333333"/>
                </a:solidFill>
                <a:effectLst/>
                <a:latin typeface="inter-regular"/>
              </a:rPr>
              <a:t>Suppose you have 4000 customer transactions in a Big Bazar. You have to calculate the Support, Confidence, and Lift for two products, and you may say Biscuits and Chocolate. This is because customers frequently buy these two items together.</a:t>
            </a:r>
          </a:p>
          <a:p>
            <a:endParaRPr lang="en-IN" dirty="0">
              <a:solidFill>
                <a:srgbClr val="333333"/>
              </a:solidFill>
              <a:latin typeface="inter-regular"/>
            </a:endParaRPr>
          </a:p>
          <a:p>
            <a:r>
              <a:rPr lang="en-IN" b="0" i="0" dirty="0">
                <a:solidFill>
                  <a:srgbClr val="333333"/>
                </a:solidFill>
                <a:effectLst/>
                <a:latin typeface="inter-regular"/>
              </a:rPr>
              <a:t>Out of 4000 transactions, 400 contain Biscuits, whereas 600 contain Chocolate, and these 600 transactions include a 200 that includes Biscuits and chocolates. Using this data, we will find out the support, confidence, and lift.</a:t>
            </a:r>
          </a:p>
          <a:p>
            <a:endParaRPr lang="en-IN" dirty="0">
              <a:solidFill>
                <a:srgbClr val="333333"/>
              </a:solidFill>
              <a:latin typeface="inter-regular"/>
            </a:endParaRPr>
          </a:p>
          <a:p>
            <a:endParaRPr lang="en-IN" dirty="0"/>
          </a:p>
        </p:txBody>
      </p:sp>
    </p:spTree>
    <p:extLst>
      <p:ext uri="{BB962C8B-B14F-4D97-AF65-F5344CB8AC3E}">
        <p14:creationId xmlns:p14="http://schemas.microsoft.com/office/powerpoint/2010/main" val="3529117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818CC-6B9D-E891-36ED-86956824AD01}"/>
              </a:ext>
            </a:extLst>
          </p:cNvPr>
          <p:cNvSpPr>
            <a:spLocks noGrp="1"/>
          </p:cNvSpPr>
          <p:nvPr>
            <p:ph type="title"/>
          </p:nvPr>
        </p:nvSpPr>
        <p:spPr/>
        <p:txBody>
          <a:bodyPr/>
          <a:lstStyle/>
          <a:p>
            <a:r>
              <a:rPr lang="en-IN" dirty="0"/>
              <a:t>Support</a:t>
            </a:r>
          </a:p>
        </p:txBody>
      </p:sp>
      <p:sp>
        <p:nvSpPr>
          <p:cNvPr id="3" name="Content Placeholder 2">
            <a:extLst>
              <a:ext uri="{FF2B5EF4-FFF2-40B4-BE49-F238E27FC236}">
                <a16:creationId xmlns:a16="http://schemas.microsoft.com/office/drawing/2014/main" id="{BA407FD5-B9B2-6010-1BE4-3672349D4CA1}"/>
              </a:ext>
            </a:extLst>
          </p:cNvPr>
          <p:cNvSpPr>
            <a:spLocks noGrp="1"/>
          </p:cNvSpPr>
          <p:nvPr>
            <p:ph idx="1"/>
          </p:nvPr>
        </p:nvSpPr>
        <p:spPr/>
        <p:txBody>
          <a:bodyPr/>
          <a:lstStyle/>
          <a:p>
            <a:r>
              <a:rPr lang="en-IN" b="0" i="0" dirty="0">
                <a:solidFill>
                  <a:srgbClr val="333333"/>
                </a:solidFill>
                <a:effectLst/>
                <a:latin typeface="inter-regular"/>
              </a:rPr>
              <a:t>Support refers to the default popularity of any product. You find the support as a quotient of the division of the number of transactions comprising that product by the total number of transactions.</a:t>
            </a:r>
          </a:p>
          <a:p>
            <a:endParaRPr lang="en-IN" dirty="0">
              <a:solidFill>
                <a:srgbClr val="333333"/>
              </a:solidFill>
              <a:latin typeface="inter-regular"/>
            </a:endParaRPr>
          </a:p>
          <a:p>
            <a:r>
              <a:rPr lang="fr-FR" b="0" i="0" dirty="0">
                <a:solidFill>
                  <a:srgbClr val="333333"/>
                </a:solidFill>
                <a:effectLst/>
                <a:latin typeface="inter-regular"/>
              </a:rPr>
              <a:t>Support (Biscuits) = (Transactions </a:t>
            </a:r>
            <a:r>
              <a:rPr lang="fr-FR" b="0" i="0" dirty="0" err="1">
                <a:solidFill>
                  <a:srgbClr val="333333"/>
                </a:solidFill>
                <a:effectLst/>
                <a:latin typeface="inter-regular"/>
              </a:rPr>
              <a:t>relating</a:t>
            </a:r>
            <a:r>
              <a:rPr lang="fr-FR" b="0" i="0" dirty="0">
                <a:solidFill>
                  <a:srgbClr val="333333"/>
                </a:solidFill>
                <a:effectLst/>
                <a:latin typeface="inter-regular"/>
              </a:rPr>
              <a:t> biscuits) / (Total transactions)</a:t>
            </a:r>
          </a:p>
          <a:p>
            <a:endParaRPr lang="fr-FR" dirty="0">
              <a:solidFill>
                <a:srgbClr val="333333"/>
              </a:solidFill>
              <a:latin typeface="inter-regular"/>
            </a:endParaRPr>
          </a:p>
          <a:p>
            <a:r>
              <a:rPr lang="fr-FR" b="0" i="0" dirty="0">
                <a:solidFill>
                  <a:srgbClr val="333333"/>
                </a:solidFill>
                <a:effectLst/>
                <a:latin typeface="inter-regular"/>
              </a:rPr>
              <a:t>Support (Biscuits) = 400/ 4000 = 10 % </a:t>
            </a:r>
          </a:p>
          <a:p>
            <a:endParaRPr lang="fr-FR" dirty="0">
              <a:solidFill>
                <a:srgbClr val="333333"/>
              </a:solidFill>
              <a:latin typeface="inter-regular"/>
            </a:endParaRPr>
          </a:p>
          <a:p>
            <a:endParaRPr lang="en-IN" b="0" i="0" dirty="0">
              <a:solidFill>
                <a:srgbClr val="333333"/>
              </a:solidFill>
              <a:effectLst/>
              <a:latin typeface="inter-regular"/>
            </a:endParaRPr>
          </a:p>
          <a:p>
            <a:endParaRPr lang="en-IN" dirty="0">
              <a:solidFill>
                <a:srgbClr val="333333"/>
              </a:solidFill>
              <a:latin typeface="inter-regular"/>
            </a:endParaRPr>
          </a:p>
          <a:p>
            <a:endParaRPr lang="en-IN" dirty="0"/>
          </a:p>
        </p:txBody>
      </p:sp>
    </p:spTree>
    <p:extLst>
      <p:ext uri="{BB962C8B-B14F-4D97-AF65-F5344CB8AC3E}">
        <p14:creationId xmlns:p14="http://schemas.microsoft.com/office/powerpoint/2010/main" val="42516728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89653-2A1B-5DD6-AAAA-05F770DF73CF}"/>
              </a:ext>
            </a:extLst>
          </p:cNvPr>
          <p:cNvSpPr>
            <a:spLocks noGrp="1"/>
          </p:cNvSpPr>
          <p:nvPr>
            <p:ph type="title"/>
          </p:nvPr>
        </p:nvSpPr>
        <p:spPr/>
        <p:txBody>
          <a:bodyPr/>
          <a:lstStyle/>
          <a:p>
            <a:r>
              <a:rPr lang="en-IN" dirty="0"/>
              <a:t>Confidence</a:t>
            </a:r>
          </a:p>
        </p:txBody>
      </p:sp>
      <p:sp>
        <p:nvSpPr>
          <p:cNvPr id="3" name="Content Placeholder 2">
            <a:extLst>
              <a:ext uri="{FF2B5EF4-FFF2-40B4-BE49-F238E27FC236}">
                <a16:creationId xmlns:a16="http://schemas.microsoft.com/office/drawing/2014/main" id="{BA01171B-8A6B-73C4-A790-766308A38C74}"/>
              </a:ext>
            </a:extLst>
          </p:cNvPr>
          <p:cNvSpPr>
            <a:spLocks noGrp="1"/>
          </p:cNvSpPr>
          <p:nvPr>
            <p:ph idx="1"/>
          </p:nvPr>
        </p:nvSpPr>
        <p:spPr/>
        <p:txBody>
          <a:bodyPr/>
          <a:lstStyle/>
          <a:p>
            <a:r>
              <a:rPr lang="en-IN" b="0" i="0" dirty="0">
                <a:solidFill>
                  <a:srgbClr val="333333"/>
                </a:solidFill>
                <a:effectLst/>
                <a:latin typeface="inter-regular"/>
              </a:rPr>
              <a:t>Confidence refers to the possibility that the customers bought both biscuits and chocolates together. So, you need to divide the number of transactions that comprise both biscuits and chocolates by the total number of transactions to get the confidence.</a:t>
            </a:r>
          </a:p>
          <a:p>
            <a:endParaRPr lang="en-IN" dirty="0">
              <a:solidFill>
                <a:srgbClr val="333333"/>
              </a:solidFill>
              <a:latin typeface="inter-regular"/>
            </a:endParaRPr>
          </a:p>
          <a:p>
            <a:r>
              <a:rPr lang="en-IN" b="0" i="0" dirty="0">
                <a:solidFill>
                  <a:srgbClr val="333333"/>
                </a:solidFill>
                <a:effectLst/>
                <a:latin typeface="inter-regular"/>
              </a:rPr>
              <a:t>Confidence = (Transactions relating both biscuits and Chocolate) / (Total transactions involving Biscuits)</a:t>
            </a:r>
          </a:p>
          <a:p>
            <a:endParaRPr lang="en-IN" dirty="0">
              <a:solidFill>
                <a:srgbClr val="333333"/>
              </a:solidFill>
              <a:latin typeface="inter-regular"/>
            </a:endParaRPr>
          </a:p>
          <a:p>
            <a:r>
              <a:rPr lang="en-IN" b="0" i="0" dirty="0">
                <a:solidFill>
                  <a:srgbClr val="333333"/>
                </a:solidFill>
                <a:effectLst/>
                <a:latin typeface="inter-regular"/>
              </a:rPr>
              <a:t>Confidence = 200/400 = 50%</a:t>
            </a:r>
          </a:p>
          <a:p>
            <a:endParaRPr lang="en-IN" dirty="0">
              <a:solidFill>
                <a:srgbClr val="333333"/>
              </a:solidFill>
              <a:latin typeface="inter-regular"/>
            </a:endParaRPr>
          </a:p>
          <a:p>
            <a:pPr marL="0" indent="0">
              <a:buNone/>
            </a:pPr>
            <a:r>
              <a:rPr lang="en-IN" b="0" i="0" dirty="0">
                <a:solidFill>
                  <a:srgbClr val="333333"/>
                </a:solidFill>
                <a:effectLst/>
                <a:latin typeface="inter-regular"/>
              </a:rPr>
              <a:t>It means that 50 percent of customers who bought biscuits bought chocolates also.</a:t>
            </a:r>
          </a:p>
          <a:p>
            <a:endParaRPr lang="en-IN" dirty="0">
              <a:solidFill>
                <a:srgbClr val="333333"/>
              </a:solidFill>
              <a:latin typeface="inter-regular"/>
            </a:endParaRPr>
          </a:p>
          <a:p>
            <a:endParaRPr lang="en-IN" dirty="0"/>
          </a:p>
        </p:txBody>
      </p:sp>
    </p:spTree>
    <p:extLst>
      <p:ext uri="{BB962C8B-B14F-4D97-AF65-F5344CB8AC3E}">
        <p14:creationId xmlns:p14="http://schemas.microsoft.com/office/powerpoint/2010/main" val="15969650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FCE9-3D30-6723-F514-2B7EED5FAC3E}"/>
              </a:ext>
            </a:extLst>
          </p:cNvPr>
          <p:cNvSpPr>
            <a:spLocks noGrp="1"/>
          </p:cNvSpPr>
          <p:nvPr>
            <p:ph type="title"/>
          </p:nvPr>
        </p:nvSpPr>
        <p:spPr/>
        <p:txBody>
          <a:bodyPr/>
          <a:lstStyle/>
          <a:p>
            <a:r>
              <a:rPr lang="en-IN" dirty="0"/>
              <a:t>Lift</a:t>
            </a:r>
          </a:p>
        </p:txBody>
      </p:sp>
      <p:sp>
        <p:nvSpPr>
          <p:cNvPr id="3" name="Content Placeholder 2">
            <a:extLst>
              <a:ext uri="{FF2B5EF4-FFF2-40B4-BE49-F238E27FC236}">
                <a16:creationId xmlns:a16="http://schemas.microsoft.com/office/drawing/2014/main" id="{AE70B086-C13E-254F-B1FC-E09093896152}"/>
              </a:ext>
            </a:extLst>
          </p:cNvPr>
          <p:cNvSpPr>
            <a:spLocks noGrp="1"/>
          </p:cNvSpPr>
          <p:nvPr>
            <p:ph idx="1"/>
          </p:nvPr>
        </p:nvSpPr>
        <p:spPr/>
        <p:txBody>
          <a:bodyPr/>
          <a:lstStyle/>
          <a:p>
            <a:r>
              <a:rPr lang="en-IN" dirty="0">
                <a:solidFill>
                  <a:srgbClr val="333333"/>
                </a:solidFill>
                <a:latin typeface="inter-regular"/>
              </a:rPr>
              <a:t>L</a:t>
            </a:r>
            <a:r>
              <a:rPr lang="en-IN" b="0" i="0" dirty="0">
                <a:solidFill>
                  <a:srgbClr val="333333"/>
                </a:solidFill>
                <a:effectLst/>
                <a:latin typeface="inter-regular"/>
              </a:rPr>
              <a:t>ift refers to the increase in the ratio of the sale of chocolates when you sell biscuits. The mathematical equations of lift are given below.</a:t>
            </a:r>
          </a:p>
          <a:p>
            <a:endParaRPr lang="en-IN" dirty="0">
              <a:solidFill>
                <a:srgbClr val="333333"/>
              </a:solidFill>
              <a:latin typeface="inter-regular"/>
            </a:endParaRPr>
          </a:p>
          <a:p>
            <a:r>
              <a:rPr lang="en-IN" b="0" i="0" dirty="0">
                <a:solidFill>
                  <a:srgbClr val="333333"/>
                </a:solidFill>
                <a:effectLst/>
                <a:latin typeface="inter-regular"/>
              </a:rPr>
              <a:t>Lift = (Confidence (Biscuits - chocolates)/ (Support (Biscuits)</a:t>
            </a:r>
          </a:p>
          <a:p>
            <a:endParaRPr lang="en-IN" dirty="0">
              <a:solidFill>
                <a:srgbClr val="333333"/>
              </a:solidFill>
              <a:latin typeface="inter-regular"/>
            </a:endParaRPr>
          </a:p>
          <a:p>
            <a:r>
              <a:rPr lang="en-IN" b="0" i="0" dirty="0">
                <a:solidFill>
                  <a:srgbClr val="333333"/>
                </a:solidFill>
                <a:effectLst/>
                <a:latin typeface="inter-regular"/>
              </a:rPr>
              <a:t>Lift = Confidence/ Support</a:t>
            </a:r>
          </a:p>
          <a:p>
            <a:endParaRPr lang="en-IN" dirty="0">
              <a:solidFill>
                <a:srgbClr val="333333"/>
              </a:solidFill>
              <a:latin typeface="inter-regular"/>
            </a:endParaRPr>
          </a:p>
          <a:p>
            <a:r>
              <a:rPr lang="en-IN" dirty="0">
                <a:solidFill>
                  <a:srgbClr val="333333"/>
                </a:solidFill>
                <a:latin typeface="inter-regular"/>
              </a:rPr>
              <a:t>Lift = 50 /10 =  5 </a:t>
            </a:r>
            <a:endParaRPr lang="en-IN" dirty="0"/>
          </a:p>
        </p:txBody>
      </p:sp>
    </p:spTree>
    <p:extLst>
      <p:ext uri="{BB962C8B-B14F-4D97-AF65-F5344CB8AC3E}">
        <p14:creationId xmlns:p14="http://schemas.microsoft.com/office/powerpoint/2010/main" val="28477109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5C854-3557-B4A6-3A2B-FCD7598CAD1B}"/>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902E3EA6-46E8-0ABF-E7C7-25C28D7C28F5}"/>
              </a:ext>
            </a:extLst>
          </p:cNvPr>
          <p:cNvSpPr>
            <a:spLocks noGrp="1"/>
          </p:cNvSpPr>
          <p:nvPr>
            <p:ph idx="1"/>
          </p:nvPr>
        </p:nvSpPr>
        <p:spPr/>
        <p:txBody>
          <a:bodyPr/>
          <a:lstStyle/>
          <a:p>
            <a:r>
              <a:rPr lang="en-IN" b="0" i="0" dirty="0">
                <a:solidFill>
                  <a:srgbClr val="333333"/>
                </a:solidFill>
                <a:effectLst/>
                <a:latin typeface="inter-regular"/>
              </a:rPr>
              <a:t>It means that the probability of people buying both biscuits and chocolates together is five times more than that of purchasing the biscuits alone. </a:t>
            </a:r>
          </a:p>
          <a:p>
            <a:endParaRPr lang="en-IN" dirty="0">
              <a:solidFill>
                <a:srgbClr val="333333"/>
              </a:solidFill>
              <a:latin typeface="inter-regular"/>
            </a:endParaRPr>
          </a:p>
          <a:p>
            <a:r>
              <a:rPr lang="en-IN" b="0" i="0" dirty="0">
                <a:solidFill>
                  <a:srgbClr val="333333"/>
                </a:solidFill>
                <a:effectLst/>
                <a:latin typeface="inter-regular"/>
              </a:rPr>
              <a:t>If the lift value is below one, </a:t>
            </a:r>
            <a:r>
              <a:rPr lang="en-IN" b="0" i="0">
                <a:solidFill>
                  <a:srgbClr val="333333"/>
                </a:solidFill>
                <a:effectLst/>
                <a:latin typeface="inter-regular"/>
              </a:rPr>
              <a:t>it means </a:t>
            </a:r>
            <a:r>
              <a:rPr lang="en-IN" b="0" i="0" dirty="0">
                <a:solidFill>
                  <a:srgbClr val="333333"/>
                </a:solidFill>
                <a:effectLst/>
                <a:latin typeface="inter-regular"/>
              </a:rPr>
              <a:t>that the people are unlikely to buy both the items together. </a:t>
            </a:r>
          </a:p>
          <a:p>
            <a:endParaRPr lang="en-IN" dirty="0">
              <a:solidFill>
                <a:srgbClr val="333333"/>
              </a:solidFill>
              <a:latin typeface="inter-regular"/>
            </a:endParaRPr>
          </a:p>
          <a:p>
            <a:r>
              <a:rPr lang="en-IN" dirty="0">
                <a:solidFill>
                  <a:srgbClr val="333333"/>
                </a:solidFill>
                <a:latin typeface="inter-regular"/>
              </a:rPr>
              <a:t>The </a:t>
            </a:r>
            <a:r>
              <a:rPr lang="en-IN" b="0" i="0" dirty="0">
                <a:solidFill>
                  <a:srgbClr val="333333"/>
                </a:solidFill>
                <a:effectLst/>
                <a:latin typeface="inter-regular"/>
              </a:rPr>
              <a:t>Larger the value, the better is the combination.</a:t>
            </a:r>
            <a:endParaRPr lang="en-IN" dirty="0"/>
          </a:p>
        </p:txBody>
      </p:sp>
    </p:spTree>
    <p:extLst>
      <p:ext uri="{BB962C8B-B14F-4D97-AF65-F5344CB8AC3E}">
        <p14:creationId xmlns:p14="http://schemas.microsoft.com/office/powerpoint/2010/main" val="7229565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8EE8-5C26-F9C7-10EF-F1CBA3B9C43F}"/>
              </a:ext>
            </a:extLst>
          </p:cNvPr>
          <p:cNvSpPr>
            <a:spLocks noGrp="1"/>
          </p:cNvSpPr>
          <p:nvPr>
            <p:ph type="title"/>
          </p:nvPr>
        </p:nvSpPr>
        <p:spPr/>
        <p:txBody>
          <a:bodyPr/>
          <a:lstStyle/>
          <a:p>
            <a:r>
              <a:rPr lang="en-IN" dirty="0"/>
              <a:t>Advantages of </a:t>
            </a:r>
            <a:r>
              <a:rPr lang="en-IN" dirty="0" err="1"/>
              <a:t>Apriori</a:t>
            </a:r>
            <a:r>
              <a:rPr lang="en-IN" dirty="0"/>
              <a:t> Algorithm</a:t>
            </a:r>
          </a:p>
        </p:txBody>
      </p:sp>
      <p:sp>
        <p:nvSpPr>
          <p:cNvPr id="3" name="Content Placeholder 2">
            <a:extLst>
              <a:ext uri="{FF2B5EF4-FFF2-40B4-BE49-F238E27FC236}">
                <a16:creationId xmlns:a16="http://schemas.microsoft.com/office/drawing/2014/main" id="{7E97FB11-5966-4033-F6C6-CFAC86CFBCCB}"/>
              </a:ext>
            </a:extLst>
          </p:cNvPr>
          <p:cNvSpPr>
            <a:spLocks noGrp="1"/>
          </p:cNvSpPr>
          <p:nvPr>
            <p:ph idx="1"/>
          </p:nvPr>
        </p:nvSpPr>
        <p:spPr/>
        <p:txBody>
          <a:bodyPr/>
          <a:lstStyle/>
          <a:p>
            <a:r>
              <a:rPr lang="en-IN" b="0" i="0" dirty="0">
                <a:solidFill>
                  <a:srgbClr val="000000"/>
                </a:solidFill>
                <a:effectLst/>
                <a:latin typeface="inter-regular"/>
              </a:rPr>
              <a:t>It is used to calculate large </a:t>
            </a:r>
            <a:r>
              <a:rPr lang="en-IN" b="0" i="0" dirty="0" err="1">
                <a:solidFill>
                  <a:srgbClr val="000000"/>
                </a:solidFill>
                <a:effectLst/>
                <a:latin typeface="inter-regular"/>
              </a:rPr>
              <a:t>itemsets</a:t>
            </a:r>
            <a:r>
              <a:rPr lang="en-IN" b="0" i="0" dirty="0">
                <a:solidFill>
                  <a:srgbClr val="000000"/>
                </a:solidFill>
                <a:effectLst/>
                <a:latin typeface="inter-regular"/>
              </a:rPr>
              <a:t>.</a:t>
            </a:r>
          </a:p>
          <a:p>
            <a:endParaRPr lang="en-IN" dirty="0"/>
          </a:p>
          <a:p>
            <a:r>
              <a:rPr lang="en-IN" b="0" i="0" dirty="0">
                <a:solidFill>
                  <a:srgbClr val="000000"/>
                </a:solidFill>
                <a:effectLst/>
                <a:latin typeface="inter-regular"/>
              </a:rPr>
              <a:t>Simple to understand and apply.</a:t>
            </a:r>
          </a:p>
          <a:p>
            <a:endParaRPr lang="en-IN" dirty="0"/>
          </a:p>
        </p:txBody>
      </p:sp>
    </p:spTree>
    <p:extLst>
      <p:ext uri="{BB962C8B-B14F-4D97-AF65-F5344CB8AC3E}">
        <p14:creationId xmlns:p14="http://schemas.microsoft.com/office/powerpoint/2010/main" val="6307969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83D07-8E1C-FB63-7276-9D1C928237F0}"/>
              </a:ext>
            </a:extLst>
          </p:cNvPr>
          <p:cNvSpPr>
            <a:spLocks noGrp="1"/>
          </p:cNvSpPr>
          <p:nvPr>
            <p:ph type="title"/>
          </p:nvPr>
        </p:nvSpPr>
        <p:spPr/>
        <p:txBody>
          <a:bodyPr/>
          <a:lstStyle/>
          <a:p>
            <a:r>
              <a:rPr lang="en-IN" dirty="0"/>
              <a:t>Disadvantages of </a:t>
            </a:r>
            <a:r>
              <a:rPr lang="en-IN" dirty="0" err="1"/>
              <a:t>Apriori</a:t>
            </a:r>
            <a:r>
              <a:rPr lang="en-IN" dirty="0"/>
              <a:t> Algorithms</a:t>
            </a:r>
          </a:p>
        </p:txBody>
      </p:sp>
      <p:sp>
        <p:nvSpPr>
          <p:cNvPr id="3" name="Content Placeholder 2">
            <a:extLst>
              <a:ext uri="{FF2B5EF4-FFF2-40B4-BE49-F238E27FC236}">
                <a16:creationId xmlns:a16="http://schemas.microsoft.com/office/drawing/2014/main" id="{E8273461-5FEC-D677-9EB0-7DE2314573B6}"/>
              </a:ext>
            </a:extLst>
          </p:cNvPr>
          <p:cNvSpPr>
            <a:spLocks noGrp="1"/>
          </p:cNvSpPr>
          <p:nvPr>
            <p:ph idx="1"/>
          </p:nvPr>
        </p:nvSpPr>
        <p:spPr/>
        <p:txBody>
          <a:bodyPr/>
          <a:lstStyle/>
          <a:p>
            <a:r>
              <a:rPr lang="en-IN" b="0" i="0" dirty="0" err="1">
                <a:solidFill>
                  <a:srgbClr val="000000"/>
                </a:solidFill>
                <a:effectLst/>
                <a:latin typeface="inter-regular"/>
              </a:rPr>
              <a:t>Apriori</a:t>
            </a:r>
            <a:r>
              <a:rPr lang="en-IN" b="0" i="0" dirty="0">
                <a:solidFill>
                  <a:srgbClr val="000000"/>
                </a:solidFill>
                <a:effectLst/>
                <a:latin typeface="inter-regular"/>
              </a:rPr>
              <a:t> algorithm is an expensive method to find support since the calculation has to pass through the whole database.</a:t>
            </a:r>
          </a:p>
          <a:p>
            <a:endParaRPr lang="en-IN" dirty="0"/>
          </a:p>
          <a:p>
            <a:endParaRPr lang="en-IN" dirty="0"/>
          </a:p>
        </p:txBody>
      </p:sp>
    </p:spTree>
    <p:extLst>
      <p:ext uri="{BB962C8B-B14F-4D97-AF65-F5344CB8AC3E}">
        <p14:creationId xmlns:p14="http://schemas.microsoft.com/office/powerpoint/2010/main" val="41517963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578BD-EC1A-5371-9F9E-AFDD7C1A3A15}"/>
              </a:ext>
            </a:extLst>
          </p:cNvPr>
          <p:cNvSpPr>
            <a:spLocks noGrp="1"/>
          </p:cNvSpPr>
          <p:nvPr>
            <p:ph type="title"/>
          </p:nvPr>
        </p:nvSpPr>
        <p:spPr/>
        <p:txBody>
          <a:bodyPr/>
          <a:lstStyle/>
          <a:p>
            <a:r>
              <a:rPr lang="en-US" dirty="0"/>
              <a:t>FP Growth Algorithm</a:t>
            </a:r>
            <a:endParaRPr lang="en-IN" dirty="0"/>
          </a:p>
        </p:txBody>
      </p:sp>
      <p:sp>
        <p:nvSpPr>
          <p:cNvPr id="3" name="Content Placeholder 2">
            <a:extLst>
              <a:ext uri="{FF2B5EF4-FFF2-40B4-BE49-F238E27FC236}">
                <a16:creationId xmlns:a16="http://schemas.microsoft.com/office/drawing/2014/main" id="{604AFF80-33D8-FAD0-6819-8954D2D040C8}"/>
              </a:ext>
            </a:extLst>
          </p:cNvPr>
          <p:cNvSpPr>
            <a:spLocks noGrp="1"/>
          </p:cNvSpPr>
          <p:nvPr>
            <p:ph idx="1"/>
          </p:nvPr>
        </p:nvSpPr>
        <p:spPr/>
        <p:txBody>
          <a:bodyPr/>
          <a:lstStyle/>
          <a:p>
            <a:r>
              <a:rPr lang="en-IN" dirty="0"/>
              <a:t>The FP Growth algorithm in data mining is a popular method for frequent pattern mining.</a:t>
            </a:r>
          </a:p>
          <a:p>
            <a:endParaRPr lang="en-IN" dirty="0"/>
          </a:p>
          <a:p>
            <a:r>
              <a:rPr lang="en-IN" dirty="0"/>
              <a:t>The algorithm is efficient for mining frequent item sets in large datasets. It works by constructing a frequent pattern tree (FP-tree) from the input dataset.</a:t>
            </a:r>
          </a:p>
          <a:p>
            <a:endParaRPr lang="en-IN" dirty="0"/>
          </a:p>
          <a:p>
            <a:endParaRPr lang="en-IN" dirty="0"/>
          </a:p>
        </p:txBody>
      </p:sp>
    </p:spTree>
    <p:extLst>
      <p:ext uri="{BB962C8B-B14F-4D97-AF65-F5344CB8AC3E}">
        <p14:creationId xmlns:p14="http://schemas.microsoft.com/office/powerpoint/2010/main" val="826289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0DE60-60D9-9719-81A1-00BFD9C56694}"/>
              </a:ext>
            </a:extLst>
          </p:cNvPr>
          <p:cNvSpPr>
            <a:spLocks noGrp="1"/>
          </p:cNvSpPr>
          <p:nvPr>
            <p:ph type="title"/>
          </p:nvPr>
        </p:nvSpPr>
        <p:spPr/>
        <p:txBody>
          <a:bodyPr/>
          <a:lstStyle/>
          <a:p>
            <a:r>
              <a:rPr lang="en-IN" dirty="0"/>
              <a:t>Algorithm</a:t>
            </a:r>
            <a:r>
              <a:rPr lang="en-IN" b="1" i="0" dirty="0">
                <a:effectLst/>
                <a:latin typeface="__Source_Sans_Pro_fa6df0"/>
              </a:rPr>
              <a:t> </a:t>
            </a:r>
            <a:r>
              <a:rPr lang="en-IN" dirty="0"/>
              <a:t>by Han</a:t>
            </a:r>
            <a:br>
              <a:rPr lang="en-IN" b="1" i="0" dirty="0">
                <a:effectLst/>
                <a:latin typeface="__Source_Sans_Pro_fa6df0"/>
              </a:rPr>
            </a:br>
            <a:endParaRPr lang="en-IN" dirty="0"/>
          </a:p>
        </p:txBody>
      </p:sp>
      <p:pic>
        <p:nvPicPr>
          <p:cNvPr id="5" name="Content Placeholder 4">
            <a:extLst>
              <a:ext uri="{FF2B5EF4-FFF2-40B4-BE49-F238E27FC236}">
                <a16:creationId xmlns:a16="http://schemas.microsoft.com/office/drawing/2014/main" id="{503017BB-413A-462C-51AB-81E45544C94F}"/>
              </a:ext>
            </a:extLst>
          </p:cNvPr>
          <p:cNvPicPr>
            <a:picLocks noGrp="1" noChangeAspect="1"/>
          </p:cNvPicPr>
          <p:nvPr>
            <p:ph idx="1"/>
          </p:nvPr>
        </p:nvPicPr>
        <p:blipFill>
          <a:blip r:embed="rId2"/>
          <a:stretch>
            <a:fillRect/>
          </a:stretch>
        </p:blipFill>
        <p:spPr>
          <a:xfrm>
            <a:off x="700982" y="2160588"/>
            <a:ext cx="8550073" cy="3881437"/>
          </a:xfrm>
        </p:spPr>
      </p:pic>
    </p:spTree>
    <p:extLst>
      <p:ext uri="{BB962C8B-B14F-4D97-AF65-F5344CB8AC3E}">
        <p14:creationId xmlns:p14="http://schemas.microsoft.com/office/powerpoint/2010/main" val="32435172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CDE6BB-64A1-1D4C-FD39-FC026C132CD5}"/>
              </a:ext>
            </a:extLst>
          </p:cNvPr>
          <p:cNvSpPr>
            <a:spLocks noGrp="1"/>
          </p:cNvSpPr>
          <p:nvPr>
            <p:ph idx="1"/>
          </p:nvPr>
        </p:nvSpPr>
        <p:spPr>
          <a:xfrm>
            <a:off x="677334" y="550507"/>
            <a:ext cx="8596668" cy="5490856"/>
          </a:xfrm>
        </p:spPr>
        <p:txBody>
          <a:bodyPr/>
          <a:lstStyle/>
          <a:p>
            <a:r>
              <a:rPr lang="en-IN" dirty="0"/>
              <a:t>Let’s scan the database and compute the frequency of each item as shown in the below table.</a:t>
            </a:r>
          </a:p>
          <a:p>
            <a:endParaRPr lang="en-IN" dirty="0"/>
          </a:p>
          <a:p>
            <a:pPr marL="0" indent="0">
              <a:buNone/>
            </a:pPr>
            <a:r>
              <a:rPr lang="en-IN" dirty="0"/>
              <a:t>	</a:t>
            </a:r>
          </a:p>
        </p:txBody>
      </p:sp>
      <p:pic>
        <p:nvPicPr>
          <p:cNvPr id="5" name="Picture 4">
            <a:extLst>
              <a:ext uri="{FF2B5EF4-FFF2-40B4-BE49-F238E27FC236}">
                <a16:creationId xmlns:a16="http://schemas.microsoft.com/office/drawing/2014/main" id="{66E0C3C1-BC1D-6229-3CA3-65100B22686B}"/>
              </a:ext>
            </a:extLst>
          </p:cNvPr>
          <p:cNvPicPr>
            <a:picLocks noChangeAspect="1"/>
          </p:cNvPicPr>
          <p:nvPr/>
        </p:nvPicPr>
        <p:blipFill>
          <a:blip r:embed="rId2"/>
          <a:stretch>
            <a:fillRect/>
          </a:stretch>
        </p:blipFill>
        <p:spPr>
          <a:xfrm>
            <a:off x="1063695" y="1132572"/>
            <a:ext cx="7201061" cy="3710016"/>
          </a:xfrm>
          <a:prstGeom prst="rect">
            <a:avLst/>
          </a:prstGeom>
        </p:spPr>
      </p:pic>
      <p:pic>
        <p:nvPicPr>
          <p:cNvPr id="7" name="Picture 6">
            <a:extLst>
              <a:ext uri="{FF2B5EF4-FFF2-40B4-BE49-F238E27FC236}">
                <a16:creationId xmlns:a16="http://schemas.microsoft.com/office/drawing/2014/main" id="{D3017F32-8EA8-5A0F-AEF0-EAF5A971A72F}"/>
              </a:ext>
            </a:extLst>
          </p:cNvPr>
          <p:cNvPicPr>
            <a:picLocks noChangeAspect="1"/>
          </p:cNvPicPr>
          <p:nvPr/>
        </p:nvPicPr>
        <p:blipFill>
          <a:blip r:embed="rId3"/>
          <a:stretch>
            <a:fillRect/>
          </a:stretch>
        </p:blipFill>
        <p:spPr>
          <a:xfrm>
            <a:off x="1117530" y="4837567"/>
            <a:ext cx="7065417" cy="1841030"/>
          </a:xfrm>
          <a:prstGeom prst="rect">
            <a:avLst/>
          </a:prstGeom>
        </p:spPr>
      </p:pic>
    </p:spTree>
    <p:extLst>
      <p:ext uri="{BB962C8B-B14F-4D97-AF65-F5344CB8AC3E}">
        <p14:creationId xmlns:p14="http://schemas.microsoft.com/office/powerpoint/2010/main" val="9175871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AB46D-DFA9-FD3E-3495-0F0834ED521D}"/>
              </a:ext>
            </a:extLst>
          </p:cNvPr>
          <p:cNvSpPr>
            <a:spLocks noGrp="1"/>
          </p:cNvSpPr>
          <p:nvPr>
            <p:ph type="title"/>
          </p:nvPr>
        </p:nvSpPr>
        <p:spPr/>
        <p:txBody>
          <a:bodyPr>
            <a:noAutofit/>
          </a:bodyPr>
          <a:lstStyle/>
          <a:p>
            <a:r>
              <a:rPr lang="en-IN" sz="1600" b="0" i="0" dirty="0">
                <a:solidFill>
                  <a:schemeClr val="tx1"/>
                </a:solidFill>
                <a:effectLst/>
                <a:latin typeface="__Source_Sans_Pro_fa6df0"/>
              </a:rPr>
              <a:t>Let’s consider minimum support as 3. After removing all the items below minimum support in the above table, we would remain with these items - {K: 5, E: 4, M : 3, O : 3, Y : 3}. Let’s re-order the transaction database based on the items above minimum support. In this step, in each transaction, we will remove infrequent items and re-order them in the descending order of their frequency, as shown in the table below.</a:t>
            </a:r>
            <a:endParaRPr lang="en-IN" sz="1600" dirty="0">
              <a:solidFill>
                <a:schemeClr val="tx1"/>
              </a:solidFill>
            </a:endParaRPr>
          </a:p>
        </p:txBody>
      </p:sp>
      <p:pic>
        <p:nvPicPr>
          <p:cNvPr id="5" name="Content Placeholder 4">
            <a:extLst>
              <a:ext uri="{FF2B5EF4-FFF2-40B4-BE49-F238E27FC236}">
                <a16:creationId xmlns:a16="http://schemas.microsoft.com/office/drawing/2014/main" id="{3CF20AF5-8045-3CB9-F722-06C3A1BC2B92}"/>
              </a:ext>
            </a:extLst>
          </p:cNvPr>
          <p:cNvPicPr>
            <a:picLocks noGrp="1" noChangeAspect="1"/>
          </p:cNvPicPr>
          <p:nvPr>
            <p:ph idx="1"/>
          </p:nvPr>
        </p:nvPicPr>
        <p:blipFill>
          <a:blip r:embed="rId2"/>
          <a:stretch>
            <a:fillRect/>
          </a:stretch>
        </p:blipFill>
        <p:spPr>
          <a:xfrm>
            <a:off x="892899" y="2160588"/>
            <a:ext cx="8166239" cy="3881437"/>
          </a:xfrm>
        </p:spPr>
      </p:pic>
    </p:spTree>
    <p:extLst>
      <p:ext uri="{BB962C8B-B14F-4D97-AF65-F5344CB8AC3E}">
        <p14:creationId xmlns:p14="http://schemas.microsoft.com/office/powerpoint/2010/main" val="21556897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06673-EE7E-2F8C-19AC-2DA9BF4BAC48}"/>
              </a:ext>
            </a:extLst>
          </p:cNvPr>
          <p:cNvSpPr>
            <a:spLocks noGrp="1"/>
          </p:cNvSpPr>
          <p:nvPr>
            <p:ph type="title"/>
          </p:nvPr>
        </p:nvSpPr>
        <p:spPr/>
        <p:txBody>
          <a:bodyPr/>
          <a:lstStyle/>
          <a:p>
            <a:r>
              <a:rPr lang="en-IN" dirty="0"/>
              <a:t>First Transaction {K, E, M, O, Y}:</a:t>
            </a:r>
          </a:p>
        </p:txBody>
      </p:sp>
      <p:pic>
        <p:nvPicPr>
          <p:cNvPr id="5" name="Content Placeholder 4">
            <a:extLst>
              <a:ext uri="{FF2B5EF4-FFF2-40B4-BE49-F238E27FC236}">
                <a16:creationId xmlns:a16="http://schemas.microsoft.com/office/drawing/2014/main" id="{BC3A88E2-CB32-F164-EFF9-EE9B3F43A09D}"/>
              </a:ext>
            </a:extLst>
          </p:cNvPr>
          <p:cNvPicPr>
            <a:picLocks noGrp="1" noChangeAspect="1"/>
          </p:cNvPicPr>
          <p:nvPr>
            <p:ph idx="1"/>
          </p:nvPr>
        </p:nvPicPr>
        <p:blipFill>
          <a:blip r:embed="rId2"/>
          <a:stretch>
            <a:fillRect/>
          </a:stretch>
        </p:blipFill>
        <p:spPr>
          <a:xfrm>
            <a:off x="2388240" y="1930400"/>
            <a:ext cx="2973534" cy="3881437"/>
          </a:xfrm>
        </p:spPr>
      </p:pic>
      <p:sp>
        <p:nvSpPr>
          <p:cNvPr id="7" name="TextBox 6">
            <a:extLst>
              <a:ext uri="{FF2B5EF4-FFF2-40B4-BE49-F238E27FC236}">
                <a16:creationId xmlns:a16="http://schemas.microsoft.com/office/drawing/2014/main" id="{7A355706-59B7-7636-624F-06771FA3C7FF}"/>
              </a:ext>
            </a:extLst>
          </p:cNvPr>
          <p:cNvSpPr txBox="1"/>
          <p:nvPr/>
        </p:nvSpPr>
        <p:spPr>
          <a:xfrm>
            <a:off x="823897" y="1284069"/>
            <a:ext cx="6102220" cy="646331"/>
          </a:xfrm>
          <a:prstGeom prst="rect">
            <a:avLst/>
          </a:prstGeom>
          <a:noFill/>
        </p:spPr>
        <p:txBody>
          <a:bodyPr wrap="square">
            <a:spAutoFit/>
          </a:bodyPr>
          <a:lstStyle/>
          <a:p>
            <a:r>
              <a:rPr lang="en-IN" b="0" i="0" dirty="0">
                <a:effectLst/>
                <a:latin typeface="__Source_Sans_Pro_fa6df0"/>
              </a:rPr>
              <a:t>In this transaction, all items are simply linked, and their support count is initialized as 1.</a:t>
            </a:r>
            <a:endParaRPr lang="en-IN" dirty="0"/>
          </a:p>
        </p:txBody>
      </p:sp>
    </p:spTree>
    <p:extLst>
      <p:ext uri="{BB962C8B-B14F-4D97-AF65-F5344CB8AC3E}">
        <p14:creationId xmlns:p14="http://schemas.microsoft.com/office/powerpoint/2010/main" val="30007331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38CF4-0A44-C92C-0D4D-AB10371C0AEA}"/>
              </a:ext>
            </a:extLst>
          </p:cNvPr>
          <p:cNvSpPr>
            <a:spLocks noGrp="1"/>
          </p:cNvSpPr>
          <p:nvPr>
            <p:ph type="title"/>
          </p:nvPr>
        </p:nvSpPr>
        <p:spPr/>
        <p:txBody>
          <a:bodyPr/>
          <a:lstStyle/>
          <a:p>
            <a:r>
              <a:rPr lang="en-IN" dirty="0"/>
              <a:t>Second Transaction {K, E, O, Y}:</a:t>
            </a:r>
          </a:p>
        </p:txBody>
      </p:sp>
      <p:pic>
        <p:nvPicPr>
          <p:cNvPr id="5" name="Content Placeholder 4">
            <a:extLst>
              <a:ext uri="{FF2B5EF4-FFF2-40B4-BE49-F238E27FC236}">
                <a16:creationId xmlns:a16="http://schemas.microsoft.com/office/drawing/2014/main" id="{03407FC9-F29D-AA9F-68B2-6B00FEE157A1}"/>
              </a:ext>
            </a:extLst>
          </p:cNvPr>
          <p:cNvPicPr>
            <a:picLocks noGrp="1" noChangeAspect="1"/>
          </p:cNvPicPr>
          <p:nvPr>
            <p:ph idx="1"/>
          </p:nvPr>
        </p:nvPicPr>
        <p:blipFill>
          <a:blip r:embed="rId2"/>
          <a:stretch>
            <a:fillRect/>
          </a:stretch>
        </p:blipFill>
        <p:spPr>
          <a:xfrm>
            <a:off x="2523815" y="2396950"/>
            <a:ext cx="3299541" cy="3881437"/>
          </a:xfrm>
        </p:spPr>
      </p:pic>
      <p:sp>
        <p:nvSpPr>
          <p:cNvPr id="7" name="TextBox 6">
            <a:extLst>
              <a:ext uri="{FF2B5EF4-FFF2-40B4-BE49-F238E27FC236}">
                <a16:creationId xmlns:a16="http://schemas.microsoft.com/office/drawing/2014/main" id="{0763E657-36A0-32E8-4CF6-4EAEF6997BD3}"/>
              </a:ext>
            </a:extLst>
          </p:cNvPr>
          <p:cNvSpPr txBox="1"/>
          <p:nvPr/>
        </p:nvSpPr>
        <p:spPr>
          <a:xfrm>
            <a:off x="783770" y="1405917"/>
            <a:ext cx="7539135" cy="923330"/>
          </a:xfrm>
          <a:prstGeom prst="rect">
            <a:avLst/>
          </a:prstGeom>
          <a:noFill/>
        </p:spPr>
        <p:txBody>
          <a:bodyPr wrap="square">
            <a:spAutoFit/>
          </a:bodyPr>
          <a:lstStyle/>
          <a:p>
            <a:r>
              <a:rPr lang="en-IN" b="0" i="0" dirty="0">
                <a:effectLst/>
                <a:latin typeface="__Source_Sans_Pro_fa6df0"/>
              </a:rPr>
              <a:t>In this transaction, we will increase the support count of K and E in the tree to 2. As no direct link is available from E to O, we will insert a new path for O and Y and initialize their support count as 1.</a:t>
            </a:r>
            <a:endParaRPr lang="en-IN" dirty="0"/>
          </a:p>
        </p:txBody>
      </p:sp>
    </p:spTree>
    <p:extLst>
      <p:ext uri="{BB962C8B-B14F-4D97-AF65-F5344CB8AC3E}">
        <p14:creationId xmlns:p14="http://schemas.microsoft.com/office/powerpoint/2010/main" val="3059138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76780-9B3E-3978-4633-EC69AC864B43}"/>
              </a:ext>
            </a:extLst>
          </p:cNvPr>
          <p:cNvSpPr>
            <a:spLocks noGrp="1"/>
          </p:cNvSpPr>
          <p:nvPr>
            <p:ph type="title"/>
          </p:nvPr>
        </p:nvSpPr>
        <p:spPr/>
        <p:txBody>
          <a:bodyPr/>
          <a:lstStyle/>
          <a:p>
            <a:r>
              <a:rPr lang="en-IN" dirty="0"/>
              <a:t>Third Transaction {K, E, M}:</a:t>
            </a:r>
          </a:p>
        </p:txBody>
      </p:sp>
      <p:pic>
        <p:nvPicPr>
          <p:cNvPr id="5" name="Content Placeholder 4">
            <a:extLst>
              <a:ext uri="{FF2B5EF4-FFF2-40B4-BE49-F238E27FC236}">
                <a16:creationId xmlns:a16="http://schemas.microsoft.com/office/drawing/2014/main" id="{C9D417FD-AB84-6400-3064-422E36EBD7A6}"/>
              </a:ext>
            </a:extLst>
          </p:cNvPr>
          <p:cNvPicPr>
            <a:picLocks noGrp="1" noChangeAspect="1"/>
          </p:cNvPicPr>
          <p:nvPr>
            <p:ph idx="1"/>
          </p:nvPr>
        </p:nvPicPr>
        <p:blipFill>
          <a:blip r:embed="rId2"/>
          <a:stretch>
            <a:fillRect/>
          </a:stretch>
        </p:blipFill>
        <p:spPr>
          <a:xfrm>
            <a:off x="2878327" y="1843347"/>
            <a:ext cx="3217673" cy="3881437"/>
          </a:xfrm>
        </p:spPr>
      </p:pic>
      <p:sp>
        <p:nvSpPr>
          <p:cNvPr id="7" name="TextBox 6">
            <a:extLst>
              <a:ext uri="{FF2B5EF4-FFF2-40B4-BE49-F238E27FC236}">
                <a16:creationId xmlns:a16="http://schemas.microsoft.com/office/drawing/2014/main" id="{4031E981-739D-F031-CC0E-01F893951F5C}"/>
              </a:ext>
            </a:extLst>
          </p:cNvPr>
          <p:cNvSpPr txBox="1"/>
          <p:nvPr/>
        </p:nvSpPr>
        <p:spPr>
          <a:xfrm>
            <a:off x="677334" y="1375429"/>
            <a:ext cx="7346993" cy="646331"/>
          </a:xfrm>
          <a:prstGeom prst="rect">
            <a:avLst/>
          </a:prstGeom>
          <a:noFill/>
        </p:spPr>
        <p:txBody>
          <a:bodyPr wrap="square">
            <a:spAutoFit/>
          </a:bodyPr>
          <a:lstStyle/>
          <a:p>
            <a:r>
              <a:rPr lang="en-IN" b="0" i="0" dirty="0">
                <a:effectLst/>
                <a:latin typeface="__Source_Sans_Pro_fa6df0"/>
              </a:rPr>
              <a:t>After inserting this transaction, the tree will look as shown below. We will increase the support count for K and E to 3 and for M to 2.</a:t>
            </a:r>
            <a:endParaRPr lang="en-IN" dirty="0"/>
          </a:p>
        </p:txBody>
      </p:sp>
    </p:spTree>
    <p:extLst>
      <p:ext uri="{BB962C8B-B14F-4D97-AF65-F5344CB8AC3E}">
        <p14:creationId xmlns:p14="http://schemas.microsoft.com/office/powerpoint/2010/main" val="9691784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FE22E-FD01-8B08-1BCC-1FE7C44E1780}"/>
              </a:ext>
            </a:extLst>
          </p:cNvPr>
          <p:cNvSpPr>
            <a:spLocks noGrp="1"/>
          </p:cNvSpPr>
          <p:nvPr>
            <p:ph type="title"/>
          </p:nvPr>
        </p:nvSpPr>
        <p:spPr/>
        <p:txBody>
          <a:bodyPr/>
          <a:lstStyle/>
          <a:p>
            <a:r>
              <a:rPr lang="en-IN" dirty="0"/>
              <a:t>Fourth Transaction {K, M, Y} and Fifth Transaction {K, E, O}:</a:t>
            </a:r>
          </a:p>
        </p:txBody>
      </p:sp>
      <p:pic>
        <p:nvPicPr>
          <p:cNvPr id="5" name="Content Placeholder 4">
            <a:extLst>
              <a:ext uri="{FF2B5EF4-FFF2-40B4-BE49-F238E27FC236}">
                <a16:creationId xmlns:a16="http://schemas.microsoft.com/office/drawing/2014/main" id="{B6BEF2D9-90C4-A5E0-3F15-D1C2582844D5}"/>
              </a:ext>
            </a:extLst>
          </p:cNvPr>
          <p:cNvPicPr>
            <a:picLocks noGrp="1" noChangeAspect="1"/>
          </p:cNvPicPr>
          <p:nvPr>
            <p:ph idx="1"/>
          </p:nvPr>
        </p:nvPicPr>
        <p:blipFill>
          <a:blip r:embed="rId2"/>
          <a:stretch>
            <a:fillRect/>
          </a:stretch>
        </p:blipFill>
        <p:spPr>
          <a:xfrm>
            <a:off x="2416135" y="2160588"/>
            <a:ext cx="4391980" cy="3881437"/>
          </a:xfrm>
        </p:spPr>
      </p:pic>
    </p:spTree>
    <p:extLst>
      <p:ext uri="{BB962C8B-B14F-4D97-AF65-F5344CB8AC3E}">
        <p14:creationId xmlns:p14="http://schemas.microsoft.com/office/powerpoint/2010/main" val="22215034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76950-F42F-74E4-DE51-C7459D3107A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4B0F5CC-62FB-F0A1-0A0E-2F4129D3FF77}"/>
              </a:ext>
            </a:extLst>
          </p:cNvPr>
          <p:cNvPicPr>
            <a:picLocks noGrp="1" noChangeAspect="1"/>
          </p:cNvPicPr>
          <p:nvPr>
            <p:ph idx="1"/>
          </p:nvPr>
        </p:nvPicPr>
        <p:blipFill>
          <a:blip r:embed="rId2"/>
          <a:stretch>
            <a:fillRect/>
          </a:stretch>
        </p:blipFill>
        <p:spPr>
          <a:xfrm>
            <a:off x="837894" y="2160588"/>
            <a:ext cx="8276250" cy="3881437"/>
          </a:xfrm>
        </p:spPr>
      </p:pic>
    </p:spTree>
    <p:extLst>
      <p:ext uri="{BB962C8B-B14F-4D97-AF65-F5344CB8AC3E}">
        <p14:creationId xmlns:p14="http://schemas.microsoft.com/office/powerpoint/2010/main" val="26693976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9DF66-74E0-F006-B33C-22DD3F9CEA4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843BF19-955A-CD68-0A9D-B9284F1CC2BB}"/>
              </a:ext>
            </a:extLst>
          </p:cNvPr>
          <p:cNvPicPr>
            <a:picLocks noGrp="1" noChangeAspect="1"/>
          </p:cNvPicPr>
          <p:nvPr>
            <p:ph idx="1"/>
          </p:nvPr>
        </p:nvPicPr>
        <p:blipFill>
          <a:blip r:embed="rId2"/>
          <a:stretch>
            <a:fillRect/>
          </a:stretch>
        </p:blipFill>
        <p:spPr>
          <a:xfrm>
            <a:off x="799838" y="2160588"/>
            <a:ext cx="8352362" cy="3881437"/>
          </a:xfrm>
        </p:spPr>
      </p:pic>
    </p:spTree>
    <p:extLst>
      <p:ext uri="{BB962C8B-B14F-4D97-AF65-F5344CB8AC3E}">
        <p14:creationId xmlns:p14="http://schemas.microsoft.com/office/powerpoint/2010/main" val="7605971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A7331-2EC6-97EF-A9E5-5D41AE30683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86A60DE-B748-A464-AF7E-210D08FCF26D}"/>
              </a:ext>
            </a:extLst>
          </p:cNvPr>
          <p:cNvPicPr>
            <a:picLocks noGrp="1" noChangeAspect="1"/>
          </p:cNvPicPr>
          <p:nvPr>
            <p:ph idx="1"/>
          </p:nvPr>
        </p:nvPicPr>
        <p:blipFill>
          <a:blip r:embed="rId2"/>
          <a:stretch>
            <a:fillRect/>
          </a:stretch>
        </p:blipFill>
        <p:spPr>
          <a:xfrm>
            <a:off x="677863" y="2410933"/>
            <a:ext cx="8596312" cy="3380747"/>
          </a:xfrm>
        </p:spPr>
      </p:pic>
    </p:spTree>
    <p:extLst>
      <p:ext uri="{BB962C8B-B14F-4D97-AF65-F5344CB8AC3E}">
        <p14:creationId xmlns:p14="http://schemas.microsoft.com/office/powerpoint/2010/main" val="294640718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4953</TotalTime>
  <Words>2165</Words>
  <Application>Microsoft Office PowerPoint</Application>
  <PresentationFormat>Widescreen</PresentationFormat>
  <Paragraphs>191</Paragraphs>
  <Slides>60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60</vt:i4>
      </vt:variant>
    </vt:vector>
  </HeadingPairs>
  <TitlesOfParts>
    <vt:vector size="71" baseType="lpstr">
      <vt:lpstr>__Source_Sans_Pro_fa6df0</vt:lpstr>
      <vt:lpstr>Arial</vt:lpstr>
      <vt:lpstr>georgia</vt:lpstr>
      <vt:lpstr>Inter</vt:lpstr>
      <vt:lpstr>inter-bold</vt:lpstr>
      <vt:lpstr>inter-regular</vt:lpstr>
      <vt:lpstr>Nunito</vt:lpstr>
      <vt:lpstr>Söhne</vt:lpstr>
      <vt:lpstr>Trebuchet MS</vt:lpstr>
      <vt:lpstr>Wingdings 3</vt:lpstr>
      <vt:lpstr>Facet</vt:lpstr>
      <vt:lpstr>Unsupervised Learning</vt:lpstr>
      <vt:lpstr>Unsupervised Learning</vt:lpstr>
      <vt:lpstr>Types of Unsupervised Learning </vt:lpstr>
      <vt:lpstr>Types</vt:lpstr>
      <vt:lpstr>Clustering </vt:lpstr>
      <vt:lpstr>Association rule learning</vt:lpstr>
      <vt:lpstr>K-means Clustering </vt:lpstr>
      <vt:lpstr>PowerPoint Presentation</vt:lpstr>
      <vt:lpstr>PowerPoint Presentation</vt:lpstr>
      <vt:lpstr>PowerPoint Presentation</vt:lpstr>
      <vt:lpstr>Properties of Clusters </vt:lpstr>
      <vt:lpstr>Application of Clustering </vt:lpstr>
      <vt:lpstr>Dunn Index</vt:lpstr>
      <vt:lpstr>PowerPoint Presentation</vt:lpstr>
      <vt:lpstr>PowerPoint Presentation</vt:lpstr>
      <vt:lpstr>PowerPoint Presentation</vt:lpstr>
      <vt:lpstr>Hierarchical Clustering </vt:lpstr>
      <vt:lpstr>PowerPoint Presentation</vt:lpstr>
      <vt:lpstr>Agglomerative</vt:lpstr>
      <vt:lpstr>Agglomerative Hierarchical 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Probabilistic Clustering </vt:lpstr>
      <vt:lpstr>PowerPoint Presentation</vt:lpstr>
      <vt:lpstr>Gaussian mixture models (GMMs) </vt:lpstr>
      <vt:lpstr>PowerPoint Presentation</vt:lpstr>
      <vt:lpstr>PowerPoint Presentation</vt:lpstr>
      <vt:lpstr>PowerPoint Presentation</vt:lpstr>
      <vt:lpstr>PowerPoint Presentation</vt:lpstr>
      <vt:lpstr>Advantages of EM algorithm </vt:lpstr>
      <vt:lpstr>Disadvantages of EM algorithm</vt:lpstr>
      <vt:lpstr>Association Rule Learning </vt:lpstr>
      <vt:lpstr>Apriori Algorithm</vt:lpstr>
      <vt:lpstr>What is Apriori Algorithm?</vt:lpstr>
      <vt:lpstr>Components of Apriori algorithm</vt:lpstr>
      <vt:lpstr>Example</vt:lpstr>
      <vt:lpstr>Support</vt:lpstr>
      <vt:lpstr>Confidence</vt:lpstr>
      <vt:lpstr>Lift</vt:lpstr>
      <vt:lpstr>Conclusion</vt:lpstr>
      <vt:lpstr>Advantages of Apriori Algorithm</vt:lpstr>
      <vt:lpstr>Disadvantages of Apriori Algorithms</vt:lpstr>
      <vt:lpstr>FP Growth Algorithm</vt:lpstr>
      <vt:lpstr>Algorithm by Han </vt:lpstr>
      <vt:lpstr>PowerPoint Presentation</vt:lpstr>
      <vt:lpstr>Let’s consider minimum support as 3. After removing all the items below minimum support in the above table, we would remain with these items - {K: 5, E: 4, M : 3, O : 3, Y : 3}. Let’s re-order the transaction database based on the items above minimum support. In this step, in each transaction, we will remove infrequent items and re-order them in the descending order of their frequency, as shown in the table below.</vt:lpstr>
      <vt:lpstr>First Transaction {K, E, M, O, Y}:</vt:lpstr>
      <vt:lpstr>Second Transaction {K, E, O, Y}:</vt:lpstr>
      <vt:lpstr>Third Transaction {K, E, M}:</vt:lpstr>
      <vt:lpstr>Fourth Transaction {K, M, Y} and Fifth Transaction {K, E, O}:</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Learning</dc:title>
  <dc:creator>ankit taneja</dc:creator>
  <cp:lastModifiedBy>ankit taneja</cp:lastModifiedBy>
  <cp:revision>126</cp:revision>
  <dcterms:created xsi:type="dcterms:W3CDTF">2024-03-13T05:54:59Z</dcterms:created>
  <dcterms:modified xsi:type="dcterms:W3CDTF">2024-04-03T08:37:54Z</dcterms:modified>
</cp:coreProperties>
</file>