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9" r:id="rId19"/>
    <p:sldId id="274" r:id="rId20"/>
    <p:sldId id="275" r:id="rId21"/>
    <p:sldId id="276" r:id="rId22"/>
    <p:sldId id="277" r:id="rId23"/>
    <p:sldId id="278" r:id="rId24"/>
    <p:sldId id="280" r:id="rId25"/>
    <p:sldId id="28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1853120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3621288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3143175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D2E1E8-806F-4D83-B925-BF9BE5552AEE}" type="datetimeFigureOut">
              <a:rPr lang="en-IN" smtClean="0"/>
              <a:t>25-05-2024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3685406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3D2E1E8-806F-4D83-B925-BF9BE5552AEE}" type="datetimeFigureOut">
              <a:rPr lang="en-IN" smtClean="0"/>
              <a:t>25-05-2024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2082567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3D2E1E8-806F-4D83-B925-BF9BE5552AEE}" type="datetimeFigureOut">
              <a:rPr lang="en-IN" smtClean="0"/>
              <a:t>25-05-2024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2148704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D2E1E8-806F-4D83-B925-BF9BE5552AEE}" type="datetimeFigureOut">
              <a:rPr lang="en-IN" smtClean="0"/>
              <a:t>25-05-2024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530331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D2E1E8-806F-4D83-B925-BF9BE5552AEE}" type="datetimeFigureOut">
              <a:rPr lang="en-IN" smtClean="0"/>
              <a:t>25-05-2024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3611789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B6B7BE-D46C-4482-BE1A-5791FA44177D}" type="slidenum">
              <a:rPr lang="en-IN" smtClean="0"/>
              <a:t>‹#›</a:t>
            </a:fld>
            <a:endParaRPr lang="en-IN"/>
          </a:p>
        </p:txBody>
      </p:sp>
      <p:sp>
        <p:nvSpPr>
          <p:cNvPr id="5" name="Date Placeholder 4"/>
          <p:cNvSpPr>
            <a:spLocks noGrp="1"/>
          </p:cNvSpPr>
          <p:nvPr>
            <p:ph type="dt" sz="half" idx="10"/>
          </p:nvPr>
        </p:nvSpPr>
        <p:spPr/>
        <p:txBody>
          <a:bodyPr/>
          <a:lstStyle/>
          <a:p>
            <a:fld id="{83D2E1E8-806F-4D83-B925-BF9BE5552AEE}" type="datetimeFigureOut">
              <a:rPr lang="en-IN" smtClean="0"/>
              <a:t>25-05-2024</a:t>
            </a:fld>
            <a:endParaRPr lang="en-IN"/>
          </a:p>
        </p:txBody>
      </p:sp>
    </p:spTree>
    <p:extLst>
      <p:ext uri="{BB962C8B-B14F-4D97-AF65-F5344CB8AC3E}">
        <p14:creationId xmlns:p14="http://schemas.microsoft.com/office/powerpoint/2010/main" val="364344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3765180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49912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1312261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17531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146237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25164775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D2E1E8-806F-4D83-B925-BF9BE5552AEE}" type="datetimeFigureOut">
              <a:rPr lang="en-IN" smtClean="0"/>
              <a:t>25-05-2024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B6B7BE-D46C-4482-BE1A-5791FA44177D}" type="slidenum">
              <a:rPr lang="en-IN" smtClean="0"/>
              <a:t>‹#›</a:t>
            </a:fld>
            <a:endParaRPr lang="en-IN"/>
          </a:p>
        </p:txBody>
      </p:sp>
    </p:spTree>
    <p:extLst>
      <p:ext uri="{BB962C8B-B14F-4D97-AF65-F5344CB8AC3E}">
        <p14:creationId xmlns:p14="http://schemas.microsoft.com/office/powerpoint/2010/main" val="705671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3D2E1E8-806F-4D83-B925-BF9BE5552AEE}" type="datetimeFigureOut">
              <a:rPr lang="en-IN" smtClean="0"/>
              <a:t>25-05-2024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B6B7BE-D46C-4482-BE1A-5791FA44177D}" type="slidenum">
              <a:rPr lang="en-IN" smtClean="0"/>
              <a:t>‹#›</a:t>
            </a:fld>
            <a:endParaRPr lang="en-IN"/>
          </a:p>
        </p:txBody>
      </p:sp>
    </p:spTree>
    <p:extLst>
      <p:ext uri="{BB962C8B-B14F-4D97-AF65-F5344CB8AC3E}">
        <p14:creationId xmlns:p14="http://schemas.microsoft.com/office/powerpoint/2010/main" val="424449312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3E49-445D-3590-A0A6-479E8786DF35}"/>
              </a:ext>
            </a:extLst>
          </p:cNvPr>
          <p:cNvSpPr>
            <a:spLocks noGrp="1"/>
          </p:cNvSpPr>
          <p:nvPr>
            <p:ph type="ctrTitle"/>
          </p:nvPr>
        </p:nvSpPr>
        <p:spPr/>
        <p:txBody>
          <a:bodyPr/>
          <a:lstStyle/>
          <a:p>
            <a:r>
              <a:rPr lang="en-US" dirty="0"/>
              <a:t>Recommended System</a:t>
            </a:r>
            <a:endParaRPr lang="en-IN" dirty="0"/>
          </a:p>
        </p:txBody>
      </p:sp>
      <p:sp>
        <p:nvSpPr>
          <p:cNvPr id="3" name="Subtitle 2">
            <a:extLst>
              <a:ext uri="{FF2B5EF4-FFF2-40B4-BE49-F238E27FC236}">
                <a16:creationId xmlns:a16="http://schemas.microsoft.com/office/drawing/2014/main" id="{3B967122-A02D-25E5-AB77-354220B213E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54737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AD701-AB88-FE8A-13A2-F0B4343DE3C5}"/>
              </a:ext>
            </a:extLst>
          </p:cNvPr>
          <p:cNvSpPr>
            <a:spLocks noGrp="1"/>
          </p:cNvSpPr>
          <p:nvPr>
            <p:ph type="title"/>
          </p:nvPr>
        </p:nvSpPr>
        <p:spPr/>
        <p:txBody>
          <a:bodyPr/>
          <a:lstStyle/>
          <a:p>
            <a:r>
              <a:rPr lang="en-US" dirty="0"/>
              <a:t>Definition</a:t>
            </a:r>
            <a:endParaRPr lang="en-IN" dirty="0"/>
          </a:p>
        </p:txBody>
      </p:sp>
      <p:sp>
        <p:nvSpPr>
          <p:cNvPr id="3" name="Content Placeholder 2">
            <a:extLst>
              <a:ext uri="{FF2B5EF4-FFF2-40B4-BE49-F238E27FC236}">
                <a16:creationId xmlns:a16="http://schemas.microsoft.com/office/drawing/2014/main" id="{B9FA8229-C203-DB6D-C638-728DBCECA085}"/>
              </a:ext>
            </a:extLst>
          </p:cNvPr>
          <p:cNvSpPr>
            <a:spLocks noGrp="1"/>
          </p:cNvSpPr>
          <p:nvPr>
            <p:ph idx="1"/>
          </p:nvPr>
        </p:nvSpPr>
        <p:spPr/>
        <p:txBody>
          <a:bodyPr/>
          <a:lstStyle/>
          <a:p>
            <a:r>
              <a:rPr lang="en-IN" b="1" i="1" dirty="0">
                <a:solidFill>
                  <a:srgbClr val="333333"/>
                </a:solidFill>
                <a:effectLst/>
                <a:highlight>
                  <a:srgbClr val="FFFFFF"/>
                </a:highlight>
                <a:latin typeface="inter-bold"/>
              </a:rPr>
              <a:t>A machine learning algorithm known as a recommendation system combines information about users and products to forecast a user's potential interests</a:t>
            </a:r>
            <a:r>
              <a:rPr lang="en-IN" b="0" i="0" dirty="0">
                <a:solidFill>
                  <a:srgbClr val="333333"/>
                </a:solidFill>
                <a:effectLst/>
                <a:highlight>
                  <a:srgbClr val="FFFFFF"/>
                </a:highlight>
                <a:latin typeface="inter-regular"/>
              </a:rPr>
              <a:t>.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These systems are used in a wide range of applications, such as e-commerce, social media, and entertainment, to provide personalized recommendations to users.</a:t>
            </a:r>
          </a:p>
          <a:p>
            <a:endParaRPr lang="en-IN" dirty="0">
              <a:solidFill>
                <a:srgbClr val="333333"/>
              </a:solidFill>
              <a:highlight>
                <a:srgbClr val="FFFFFF"/>
              </a:highlight>
              <a:latin typeface="inter-regular"/>
            </a:endParaRPr>
          </a:p>
          <a:p>
            <a:endParaRPr lang="en-IN" dirty="0"/>
          </a:p>
        </p:txBody>
      </p:sp>
    </p:spTree>
    <p:extLst>
      <p:ext uri="{BB962C8B-B14F-4D97-AF65-F5344CB8AC3E}">
        <p14:creationId xmlns:p14="http://schemas.microsoft.com/office/powerpoint/2010/main" val="847313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2B609-0BFA-279F-010C-11E9651A412C}"/>
              </a:ext>
            </a:extLst>
          </p:cNvPr>
          <p:cNvSpPr>
            <a:spLocks noGrp="1"/>
          </p:cNvSpPr>
          <p:nvPr>
            <p:ph type="title"/>
          </p:nvPr>
        </p:nvSpPr>
        <p:spPr/>
        <p:txBody>
          <a:bodyPr/>
          <a:lstStyle/>
          <a:p>
            <a:r>
              <a:rPr lang="en-IN" dirty="0"/>
              <a:t>Types of recommendation systems:</a:t>
            </a:r>
          </a:p>
        </p:txBody>
      </p:sp>
      <p:sp>
        <p:nvSpPr>
          <p:cNvPr id="3" name="Content Placeholder 2">
            <a:extLst>
              <a:ext uri="{FF2B5EF4-FFF2-40B4-BE49-F238E27FC236}">
                <a16:creationId xmlns:a16="http://schemas.microsoft.com/office/drawing/2014/main" id="{B6192DE3-ED91-FAF0-BA1B-0E04E6A359FF}"/>
              </a:ext>
            </a:extLst>
          </p:cNvPr>
          <p:cNvSpPr>
            <a:spLocks noGrp="1"/>
          </p:cNvSpPr>
          <p:nvPr>
            <p:ph idx="1"/>
          </p:nvPr>
        </p:nvSpPr>
        <p:spPr/>
        <p:txBody>
          <a:bodyPr/>
          <a:lstStyle/>
          <a:p>
            <a:r>
              <a:rPr lang="en-US"/>
              <a:t>`1</a:t>
            </a:r>
            <a:r>
              <a:rPr lang="en-US" dirty="0"/>
              <a:t>. </a:t>
            </a:r>
            <a:r>
              <a:rPr lang="en-IN" b="1" i="0" dirty="0">
                <a:solidFill>
                  <a:srgbClr val="000000"/>
                </a:solidFill>
                <a:effectLst/>
                <a:highlight>
                  <a:srgbClr val="FFFFFF"/>
                </a:highlight>
                <a:latin typeface="inter-bold"/>
              </a:rPr>
              <a:t>Collaborative filtering: -</a:t>
            </a:r>
            <a:r>
              <a:rPr lang="en-IN" b="0" i="0" dirty="0">
                <a:solidFill>
                  <a:srgbClr val="000000"/>
                </a:solidFill>
                <a:effectLst/>
                <a:highlight>
                  <a:srgbClr val="FFFFFF"/>
                </a:highlight>
                <a:latin typeface="inter-regular"/>
              </a:rPr>
              <a:t>This type of system uses the past behaviour of users to recommend items that similar users have liked.</a:t>
            </a:r>
            <a:endParaRPr lang="en-IN" b="1" i="0" dirty="0">
              <a:solidFill>
                <a:srgbClr val="000000"/>
              </a:solidFill>
              <a:effectLst/>
              <a:highlight>
                <a:srgbClr val="FFFFFF"/>
              </a:highlight>
              <a:latin typeface="inter-bold"/>
            </a:endParaRPr>
          </a:p>
          <a:p>
            <a:r>
              <a:rPr lang="en-IN" b="1" dirty="0">
                <a:solidFill>
                  <a:srgbClr val="000000"/>
                </a:solidFill>
                <a:highlight>
                  <a:srgbClr val="FFFFFF"/>
                </a:highlight>
                <a:latin typeface="inter-bold"/>
              </a:rPr>
              <a:t>2. </a:t>
            </a:r>
            <a:r>
              <a:rPr lang="en-IN" b="1" i="0" dirty="0">
                <a:solidFill>
                  <a:srgbClr val="000000"/>
                </a:solidFill>
                <a:effectLst/>
                <a:highlight>
                  <a:srgbClr val="FFFFFF"/>
                </a:highlight>
                <a:latin typeface="inter-bold"/>
              </a:rPr>
              <a:t>Content-based filtering-  </a:t>
            </a:r>
            <a:r>
              <a:rPr lang="en-IN" b="0" i="0" dirty="0">
                <a:solidFill>
                  <a:srgbClr val="000000"/>
                </a:solidFill>
                <a:effectLst/>
                <a:highlight>
                  <a:srgbClr val="FFFFFF"/>
                </a:highlight>
                <a:latin typeface="inter-regular"/>
              </a:rPr>
              <a:t>This type of system uses the characteristics of items that a user has liked in the past to recommend similar items.</a:t>
            </a:r>
          </a:p>
          <a:p>
            <a:r>
              <a:rPr lang="en-IN" b="1" dirty="0">
                <a:solidFill>
                  <a:srgbClr val="000000"/>
                </a:solidFill>
                <a:highlight>
                  <a:srgbClr val="FFFFFF"/>
                </a:highlight>
                <a:latin typeface="inter-bold"/>
              </a:rPr>
              <a:t>3. </a:t>
            </a:r>
            <a:r>
              <a:rPr lang="en-IN" b="1" i="0" dirty="0">
                <a:solidFill>
                  <a:srgbClr val="000000"/>
                </a:solidFill>
                <a:effectLst/>
                <a:highlight>
                  <a:srgbClr val="FFFFFF"/>
                </a:highlight>
                <a:latin typeface="inter-bold"/>
              </a:rPr>
              <a:t>Hybrid- </a:t>
            </a:r>
            <a:r>
              <a:rPr lang="en-IN" b="0" i="0" dirty="0">
                <a:solidFill>
                  <a:srgbClr val="000000"/>
                </a:solidFill>
                <a:effectLst/>
                <a:highlight>
                  <a:srgbClr val="FFFFFF"/>
                </a:highlight>
                <a:latin typeface="inter-regular"/>
              </a:rPr>
              <a:t> To generate suggestions, this kind of system combines content-based filtering and collaborative filtering techniques.</a:t>
            </a:r>
            <a:endParaRPr lang="en-IN" b="1" i="0" dirty="0">
              <a:solidFill>
                <a:srgbClr val="000000"/>
              </a:solidFill>
              <a:effectLst/>
              <a:highlight>
                <a:srgbClr val="FFFFFF"/>
              </a:highlight>
              <a:latin typeface="inter-bold"/>
            </a:endParaRPr>
          </a:p>
          <a:p>
            <a:r>
              <a:rPr lang="en-IN" b="1" i="0" dirty="0">
                <a:solidFill>
                  <a:srgbClr val="000000"/>
                </a:solidFill>
                <a:effectLst/>
                <a:highlight>
                  <a:srgbClr val="FFFFFF"/>
                </a:highlight>
                <a:latin typeface="inter-bold"/>
              </a:rPr>
              <a:t>4. Matrix Factorization - </a:t>
            </a:r>
            <a:r>
              <a:rPr lang="en-IN" b="0" i="0" dirty="0">
                <a:solidFill>
                  <a:srgbClr val="000000"/>
                </a:solidFill>
                <a:effectLst/>
                <a:highlight>
                  <a:srgbClr val="FFFFFF"/>
                </a:highlight>
                <a:latin typeface="inter-regular"/>
              </a:rPr>
              <a:t>Using this method, the user-item matrix is divided into two lower-dimension matrices that are then utilized to generate predictions.</a:t>
            </a:r>
            <a:endParaRPr lang="en-IN" b="1" dirty="0">
              <a:solidFill>
                <a:srgbClr val="000000"/>
              </a:solidFill>
              <a:highlight>
                <a:srgbClr val="FFFFFF"/>
              </a:highlight>
              <a:latin typeface="inter-bold"/>
            </a:endParaRPr>
          </a:p>
          <a:p>
            <a:r>
              <a:rPr lang="en-IN" b="1" dirty="0">
                <a:solidFill>
                  <a:srgbClr val="000000"/>
                </a:solidFill>
                <a:highlight>
                  <a:srgbClr val="FFFFFF"/>
                </a:highlight>
                <a:latin typeface="inter-bold"/>
              </a:rPr>
              <a:t>5. </a:t>
            </a:r>
            <a:r>
              <a:rPr lang="en-IN" b="1" i="0" dirty="0">
                <a:solidFill>
                  <a:srgbClr val="000000"/>
                </a:solidFill>
                <a:effectLst/>
                <a:highlight>
                  <a:srgbClr val="FFFFFF"/>
                </a:highlight>
                <a:latin typeface="inter-bold"/>
              </a:rPr>
              <a:t>Deep Learning- </a:t>
            </a:r>
            <a:r>
              <a:rPr lang="en-IN" b="0" i="0" dirty="0">
                <a:solidFill>
                  <a:srgbClr val="000000"/>
                </a:solidFill>
                <a:effectLst/>
                <a:highlight>
                  <a:srgbClr val="FFFFFF"/>
                </a:highlight>
                <a:latin typeface="inter-regular"/>
              </a:rPr>
              <a:t>To train the user and item representations that are subsequently utilized to generate recommendations, these models make use of neural networks.</a:t>
            </a:r>
            <a:endParaRPr lang="en-IN" dirty="0"/>
          </a:p>
        </p:txBody>
      </p:sp>
    </p:spTree>
    <p:extLst>
      <p:ext uri="{BB962C8B-B14F-4D97-AF65-F5344CB8AC3E}">
        <p14:creationId xmlns:p14="http://schemas.microsoft.com/office/powerpoint/2010/main" val="3311035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6D2C-3826-0F4C-8851-C4055BAD214D}"/>
              </a:ext>
            </a:extLst>
          </p:cNvPr>
          <p:cNvSpPr>
            <a:spLocks noGrp="1"/>
          </p:cNvSpPr>
          <p:nvPr>
            <p:ph type="title"/>
          </p:nvPr>
        </p:nvSpPr>
        <p:spPr/>
        <p:txBody>
          <a:bodyPr/>
          <a:lstStyle/>
          <a:p>
            <a:r>
              <a:rPr lang="en-US" dirty="0"/>
              <a:t>Collaborative Filtering </a:t>
            </a:r>
            <a:endParaRPr lang="en-IN" dirty="0"/>
          </a:p>
        </p:txBody>
      </p:sp>
      <p:sp>
        <p:nvSpPr>
          <p:cNvPr id="3" name="Content Placeholder 2">
            <a:extLst>
              <a:ext uri="{FF2B5EF4-FFF2-40B4-BE49-F238E27FC236}">
                <a16:creationId xmlns:a16="http://schemas.microsoft.com/office/drawing/2014/main" id="{10E6EB2E-1CE3-89F4-0117-20AE5E8F71B8}"/>
              </a:ext>
            </a:extLst>
          </p:cNvPr>
          <p:cNvSpPr>
            <a:spLocks noGrp="1"/>
          </p:cNvSpPr>
          <p:nvPr>
            <p:ph idx="1"/>
          </p:nvPr>
        </p:nvSpPr>
        <p:spPr/>
        <p:txBody>
          <a:bodyPr>
            <a:normAutofit lnSpcReduction="10000"/>
          </a:bodyPr>
          <a:lstStyle/>
          <a:p>
            <a:r>
              <a:rPr lang="en-IN" b="1" i="0" dirty="0">
                <a:solidFill>
                  <a:srgbClr val="273239"/>
                </a:solidFill>
                <a:effectLst/>
                <a:highlight>
                  <a:srgbClr val="FFFFFF"/>
                </a:highlight>
                <a:latin typeface="Nunito" pitchFamily="2" charset="0"/>
              </a:rPr>
              <a:t> </a:t>
            </a:r>
            <a:r>
              <a:rPr lang="en-IN" b="0" i="0" dirty="0">
                <a:solidFill>
                  <a:srgbClr val="273239"/>
                </a:solidFill>
                <a:effectLst/>
                <a:highlight>
                  <a:srgbClr val="FFFFFF"/>
                </a:highlight>
                <a:latin typeface="Nunito" pitchFamily="2" charset="0"/>
              </a:rPr>
              <a:t>Collaborative Filtering recommends items based on similarity measures between users and/or items. The basic assumption behind the algorithm is that users with similar interests have common preferences.</a:t>
            </a:r>
          </a:p>
          <a:p>
            <a:endParaRPr lang="en-IN" dirty="0">
              <a:solidFill>
                <a:srgbClr val="273239"/>
              </a:solidFill>
              <a:highlight>
                <a:srgbClr val="FFFFFF"/>
              </a:highlight>
              <a:latin typeface="Nunito" pitchFamily="2" charset="0"/>
            </a:endParaRPr>
          </a:p>
          <a:p>
            <a:pPr algn="l"/>
            <a:r>
              <a:rPr lang="en-IN" dirty="0">
                <a:solidFill>
                  <a:srgbClr val="273239"/>
                </a:solidFill>
                <a:highlight>
                  <a:srgbClr val="FFFFFF"/>
                </a:highlight>
                <a:latin typeface="Nunito" pitchFamily="2" charset="0"/>
              </a:rPr>
              <a:t>Collaborative filtering filters information by using the interactions and data collected by the system from other users. It’s based on the idea that people who agreed in their evaluation of certain items are likely to agree again in the future.</a:t>
            </a:r>
          </a:p>
          <a:p>
            <a:pPr algn="l"/>
            <a:endParaRPr lang="en-IN" dirty="0">
              <a:solidFill>
                <a:srgbClr val="273239"/>
              </a:solidFill>
              <a:highlight>
                <a:srgbClr val="FFFFFF"/>
              </a:highlight>
              <a:latin typeface="Nunito" pitchFamily="2" charset="0"/>
            </a:endParaRPr>
          </a:p>
          <a:p>
            <a:pPr algn="l"/>
            <a:r>
              <a:rPr lang="en-IN" dirty="0">
                <a:solidFill>
                  <a:srgbClr val="273239"/>
                </a:solidFill>
                <a:highlight>
                  <a:srgbClr val="FFFFFF"/>
                </a:highlight>
                <a:latin typeface="Nunito" pitchFamily="2" charset="0"/>
              </a:rPr>
              <a:t>The concept is simple: when we want to find a new movie to watch we’ll often ask our friends for recommendations. Naturally, we have greater trust in the recommendations from friends who share tastes similar to our own.</a:t>
            </a:r>
          </a:p>
          <a:p>
            <a:endParaRPr lang="en-IN" dirty="0"/>
          </a:p>
        </p:txBody>
      </p:sp>
    </p:spTree>
    <p:extLst>
      <p:ext uri="{BB962C8B-B14F-4D97-AF65-F5344CB8AC3E}">
        <p14:creationId xmlns:p14="http://schemas.microsoft.com/office/powerpoint/2010/main" val="3729791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FA576-47C8-1BE0-E795-3B92FD2FA3F2}"/>
              </a:ext>
            </a:extLst>
          </p:cNvPr>
          <p:cNvSpPr>
            <a:spLocks noGrp="1"/>
          </p:cNvSpPr>
          <p:nvPr>
            <p:ph type="title"/>
          </p:nvPr>
        </p:nvSpPr>
        <p:spPr/>
        <p:txBody>
          <a:bodyPr/>
          <a:lstStyle/>
          <a:p>
            <a:r>
              <a:rPr lang="en-US" dirty="0"/>
              <a:t>Collaborative Filtering </a:t>
            </a:r>
            <a:endParaRPr lang="en-IN" dirty="0"/>
          </a:p>
        </p:txBody>
      </p:sp>
      <p:sp>
        <p:nvSpPr>
          <p:cNvPr id="3" name="Content Placeholder 2">
            <a:extLst>
              <a:ext uri="{FF2B5EF4-FFF2-40B4-BE49-F238E27FC236}">
                <a16:creationId xmlns:a16="http://schemas.microsoft.com/office/drawing/2014/main" id="{FA440B5A-82FE-ECE2-DFA9-B90EB31CF928}"/>
              </a:ext>
            </a:extLst>
          </p:cNvPr>
          <p:cNvSpPr>
            <a:spLocks noGrp="1"/>
          </p:cNvSpPr>
          <p:nvPr>
            <p:ph idx="1"/>
          </p:nvPr>
        </p:nvSpPr>
        <p:spPr/>
        <p:txBody>
          <a:bodyPr/>
          <a:lstStyle/>
          <a:p>
            <a:pPr algn="l"/>
            <a:r>
              <a:rPr lang="en-IN" b="0" i="0" dirty="0">
                <a:solidFill>
                  <a:srgbClr val="222222"/>
                </a:solidFill>
                <a:effectLst/>
                <a:highlight>
                  <a:srgbClr val="FFFFFF"/>
                </a:highlight>
                <a:latin typeface="source sans pro" panose="020B0503030403020204" pitchFamily="34" charset="0"/>
              </a:rPr>
              <a:t>Collaborative filtering is a technique that can filter out items that a user might like on the basis of reactions by similar users.</a:t>
            </a:r>
          </a:p>
          <a:p>
            <a:pPr algn="l"/>
            <a:endParaRPr lang="en-IN" dirty="0">
              <a:solidFill>
                <a:srgbClr val="222222"/>
              </a:solidFill>
              <a:highlight>
                <a:srgbClr val="FFFFFF"/>
              </a:highlight>
              <a:latin typeface="source sans pro" panose="020B0503030403020204" pitchFamily="34" charset="0"/>
            </a:endParaRPr>
          </a:p>
          <a:p>
            <a:pPr algn="l"/>
            <a:endParaRPr lang="en-IN" b="0" i="0" dirty="0">
              <a:solidFill>
                <a:srgbClr val="222222"/>
              </a:solidFill>
              <a:effectLst/>
              <a:highlight>
                <a:srgbClr val="FFFFFF"/>
              </a:highlight>
              <a:latin typeface="source sans pro" panose="020B0503030403020204" pitchFamily="34" charset="0"/>
            </a:endParaRPr>
          </a:p>
          <a:p>
            <a:pPr algn="l"/>
            <a:r>
              <a:rPr lang="en-IN" b="0" i="0" dirty="0">
                <a:solidFill>
                  <a:srgbClr val="222222"/>
                </a:solidFill>
                <a:effectLst/>
                <a:highlight>
                  <a:srgbClr val="FFFFFF"/>
                </a:highlight>
                <a:latin typeface="source sans pro" panose="020B0503030403020204" pitchFamily="34" charset="0"/>
              </a:rPr>
              <a:t>It works by searching a large group of people and finding a smaller set of users with tastes similar to a particular user. It looks at the items they like and combines them to create a ranked list of suggestions.</a:t>
            </a:r>
          </a:p>
          <a:p>
            <a:endParaRPr lang="en-IN" dirty="0"/>
          </a:p>
        </p:txBody>
      </p:sp>
    </p:spTree>
    <p:extLst>
      <p:ext uri="{BB962C8B-B14F-4D97-AF65-F5344CB8AC3E}">
        <p14:creationId xmlns:p14="http://schemas.microsoft.com/office/powerpoint/2010/main" val="1980442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7B0E-9147-07DC-D8CF-40EF3237DB47}"/>
              </a:ext>
            </a:extLst>
          </p:cNvPr>
          <p:cNvSpPr>
            <a:spLocks noGrp="1"/>
          </p:cNvSpPr>
          <p:nvPr>
            <p:ph type="title"/>
          </p:nvPr>
        </p:nvSpPr>
        <p:spPr/>
        <p:txBody>
          <a:bodyPr/>
          <a:lstStyle/>
          <a:p>
            <a:r>
              <a:rPr lang="en-IN" dirty="0"/>
              <a:t>Content-Based Recommender System</a:t>
            </a:r>
          </a:p>
        </p:txBody>
      </p:sp>
      <p:sp>
        <p:nvSpPr>
          <p:cNvPr id="3" name="Content Placeholder 2">
            <a:extLst>
              <a:ext uri="{FF2B5EF4-FFF2-40B4-BE49-F238E27FC236}">
                <a16:creationId xmlns:a16="http://schemas.microsoft.com/office/drawing/2014/main" id="{E5363F48-4F93-3880-4B2F-F4FFA3BFB751}"/>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A Content-Based Recommender works by the data that we take from the user, either explicitly (rating) or implicitly (clicking on a link).</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 By the data we create a user profile, which is then used to suggest to the user, as the user provides more input or take more actions on the recommendation, the engine becomes more accurate.</a:t>
            </a:r>
            <a:endParaRPr lang="en-IN" dirty="0"/>
          </a:p>
        </p:txBody>
      </p:sp>
    </p:spTree>
    <p:extLst>
      <p:ext uri="{BB962C8B-B14F-4D97-AF65-F5344CB8AC3E}">
        <p14:creationId xmlns:p14="http://schemas.microsoft.com/office/powerpoint/2010/main" val="1077596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9BE93-B756-BEF7-3FE1-159F842F6EC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5A4609-E75B-B361-D559-FA8838779644}"/>
              </a:ext>
            </a:extLst>
          </p:cNvPr>
          <p:cNvPicPr>
            <a:picLocks noGrp="1" noChangeAspect="1"/>
          </p:cNvPicPr>
          <p:nvPr>
            <p:ph idx="1"/>
          </p:nvPr>
        </p:nvPicPr>
        <p:blipFill>
          <a:blip r:embed="rId2"/>
          <a:stretch>
            <a:fillRect/>
          </a:stretch>
        </p:blipFill>
        <p:spPr>
          <a:xfrm>
            <a:off x="1685908" y="2496441"/>
            <a:ext cx="5591175" cy="2743200"/>
          </a:xfrm>
        </p:spPr>
      </p:pic>
    </p:spTree>
    <p:extLst>
      <p:ext uri="{BB962C8B-B14F-4D97-AF65-F5344CB8AC3E}">
        <p14:creationId xmlns:p14="http://schemas.microsoft.com/office/powerpoint/2010/main" val="3719044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5FC43-D31A-E556-3D9E-EB36A867AA7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0C92017-5FE2-B89D-5D8A-0C356F03D366}"/>
              </a:ext>
            </a:extLst>
          </p:cNvPr>
          <p:cNvPicPr>
            <a:picLocks noGrp="1" noChangeAspect="1"/>
          </p:cNvPicPr>
          <p:nvPr>
            <p:ph idx="1"/>
          </p:nvPr>
        </p:nvPicPr>
        <p:blipFill>
          <a:blip r:embed="rId2"/>
          <a:stretch>
            <a:fillRect/>
          </a:stretch>
        </p:blipFill>
        <p:spPr>
          <a:xfrm>
            <a:off x="2808514" y="2003096"/>
            <a:ext cx="4172315" cy="4038930"/>
          </a:xfrm>
        </p:spPr>
      </p:pic>
    </p:spTree>
    <p:extLst>
      <p:ext uri="{BB962C8B-B14F-4D97-AF65-F5344CB8AC3E}">
        <p14:creationId xmlns:p14="http://schemas.microsoft.com/office/powerpoint/2010/main" val="355813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593AE-5634-01C3-C5E3-FA9AE713BB98}"/>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BB4E5382-EAE0-85DB-E1EE-AA8ADF16CDE7}"/>
              </a:ext>
            </a:extLst>
          </p:cNvPr>
          <p:cNvSpPr>
            <a:spLocks noGrp="1"/>
          </p:cNvSpPr>
          <p:nvPr>
            <p:ph idx="1"/>
          </p:nvPr>
        </p:nvSpPr>
        <p:spPr/>
        <p:txBody>
          <a:bodyPr/>
          <a:lstStyle/>
          <a:p>
            <a:pPr algn="l" fontAlgn="base">
              <a:buFont typeface="Arial" panose="020B0604020202020204" pitchFamily="34" charset="0"/>
              <a:buChar char="•"/>
            </a:pPr>
            <a:r>
              <a:rPr lang="en-IN" b="0" i="0" dirty="0">
                <a:solidFill>
                  <a:srgbClr val="212121"/>
                </a:solidFill>
                <a:effectLst/>
                <a:highlight>
                  <a:srgbClr val="FFFFFF"/>
                </a:highlight>
                <a:latin typeface="inherit"/>
              </a:rPr>
              <a:t>It is easily scalable to a large number of customers since the data of other users is not required for recommending something to a particular user.</a:t>
            </a:r>
          </a:p>
          <a:p>
            <a:pPr algn="l" fontAlgn="base">
              <a:buFont typeface="Arial" panose="020B0604020202020204" pitchFamily="34" charset="0"/>
              <a:buChar char="•"/>
            </a:pPr>
            <a:endParaRPr lang="en-IN" b="0" i="0" dirty="0">
              <a:solidFill>
                <a:srgbClr val="212121"/>
              </a:solidFill>
              <a:effectLst/>
              <a:highlight>
                <a:srgbClr val="FFFFFF"/>
              </a:highlight>
              <a:latin typeface="inherit"/>
            </a:endParaRPr>
          </a:p>
          <a:p>
            <a:pPr algn="l" fontAlgn="base">
              <a:buFont typeface="Arial" panose="020B0604020202020204" pitchFamily="34" charset="0"/>
              <a:buChar char="•"/>
            </a:pPr>
            <a:r>
              <a:rPr lang="en-IN" b="0" i="0" dirty="0">
                <a:solidFill>
                  <a:srgbClr val="212121"/>
                </a:solidFill>
                <a:effectLst/>
                <a:highlight>
                  <a:srgbClr val="FFFFFF"/>
                </a:highlight>
                <a:latin typeface="inherit"/>
              </a:rPr>
              <a:t>Since the recommendations are based on the day-to-day activities of the user, all the preferences and parameters of the suggestions are finely tuned to the user’s choice. Therefore, the model can recommend specific niche items that other users might not be interested in.</a:t>
            </a:r>
          </a:p>
          <a:p>
            <a:endParaRPr lang="en-IN" dirty="0"/>
          </a:p>
        </p:txBody>
      </p:sp>
    </p:spTree>
    <p:extLst>
      <p:ext uri="{BB962C8B-B14F-4D97-AF65-F5344CB8AC3E}">
        <p14:creationId xmlns:p14="http://schemas.microsoft.com/office/powerpoint/2010/main" val="3601968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4EA5D-3797-B1BE-0A75-07E22A2974C2}"/>
              </a:ext>
            </a:extLst>
          </p:cNvPr>
          <p:cNvSpPr>
            <a:spLocks noGrp="1"/>
          </p:cNvSpPr>
          <p:nvPr>
            <p:ph type="title"/>
          </p:nvPr>
        </p:nvSpPr>
        <p:spPr/>
        <p:txBody>
          <a:bodyPr/>
          <a:lstStyle/>
          <a:p>
            <a:r>
              <a:rPr lang="en-IN" dirty="0"/>
              <a:t>Disadvantages</a:t>
            </a:r>
          </a:p>
        </p:txBody>
      </p:sp>
      <p:sp>
        <p:nvSpPr>
          <p:cNvPr id="3" name="Content Placeholder 2">
            <a:extLst>
              <a:ext uri="{FF2B5EF4-FFF2-40B4-BE49-F238E27FC236}">
                <a16:creationId xmlns:a16="http://schemas.microsoft.com/office/drawing/2014/main" id="{3363FC2C-427A-A152-E4FB-03D1E31ACD22}"/>
              </a:ext>
            </a:extLst>
          </p:cNvPr>
          <p:cNvSpPr>
            <a:spLocks noGrp="1"/>
          </p:cNvSpPr>
          <p:nvPr>
            <p:ph idx="1"/>
          </p:nvPr>
        </p:nvSpPr>
        <p:spPr/>
        <p:txBody>
          <a:bodyPr/>
          <a:lstStyle/>
          <a:p>
            <a:pPr algn="l" fontAlgn="base">
              <a:buFont typeface="Arial" panose="020B0604020202020204" pitchFamily="34" charset="0"/>
              <a:buChar char="•"/>
            </a:pPr>
            <a:r>
              <a:rPr lang="en-IN" b="0" i="0" dirty="0">
                <a:solidFill>
                  <a:srgbClr val="212121"/>
                </a:solidFill>
                <a:effectLst/>
                <a:highlight>
                  <a:srgbClr val="FFFFFF"/>
                </a:highlight>
                <a:latin typeface="inherit"/>
              </a:rPr>
              <a:t>Building a content-based recommender engine requires a lot of domain knowledge since the feature selection of the items is mostly hard-coded into the system. Thus, the model is only as good as the knowledge of the one building it.</a:t>
            </a:r>
          </a:p>
          <a:p>
            <a:pPr algn="l" fontAlgn="base">
              <a:buFont typeface="Arial" panose="020B0604020202020204" pitchFamily="34" charset="0"/>
              <a:buChar char="•"/>
            </a:pPr>
            <a:endParaRPr lang="en-IN" b="0" i="0" dirty="0">
              <a:solidFill>
                <a:srgbClr val="212121"/>
              </a:solidFill>
              <a:effectLst/>
              <a:highlight>
                <a:srgbClr val="FFFFFF"/>
              </a:highlight>
              <a:latin typeface="inherit"/>
            </a:endParaRPr>
          </a:p>
          <a:p>
            <a:pPr algn="l" fontAlgn="base">
              <a:buFont typeface="Arial" panose="020B0604020202020204" pitchFamily="34" charset="0"/>
              <a:buChar char="•"/>
            </a:pPr>
            <a:r>
              <a:rPr lang="en-IN" b="0" i="0" dirty="0">
                <a:solidFill>
                  <a:srgbClr val="212121"/>
                </a:solidFill>
                <a:effectLst/>
                <a:highlight>
                  <a:srgbClr val="FFFFFF"/>
                </a:highlight>
                <a:latin typeface="inherit"/>
              </a:rPr>
              <a:t>The model can recommend new items based on the present interest of the user. Hence, discovering and expanding to newer avenues that might interest the user is not possible.</a:t>
            </a:r>
          </a:p>
          <a:p>
            <a:endParaRPr lang="en-IN" dirty="0"/>
          </a:p>
        </p:txBody>
      </p:sp>
    </p:spTree>
    <p:extLst>
      <p:ext uri="{BB962C8B-B14F-4D97-AF65-F5344CB8AC3E}">
        <p14:creationId xmlns:p14="http://schemas.microsoft.com/office/powerpoint/2010/main" val="1875351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BDD5D-C866-D3BE-CF5E-F9D89FC8A971}"/>
              </a:ext>
            </a:extLst>
          </p:cNvPr>
          <p:cNvSpPr>
            <a:spLocks noGrp="1"/>
          </p:cNvSpPr>
          <p:nvPr>
            <p:ph type="title"/>
          </p:nvPr>
        </p:nvSpPr>
        <p:spPr/>
        <p:txBody>
          <a:bodyPr/>
          <a:lstStyle/>
          <a:p>
            <a:r>
              <a:rPr lang="en-US" dirty="0"/>
              <a:t>Artificial Neural Network(ANN)</a:t>
            </a:r>
            <a:endParaRPr lang="en-IN" dirty="0"/>
          </a:p>
        </p:txBody>
      </p:sp>
      <p:sp>
        <p:nvSpPr>
          <p:cNvPr id="3" name="Content Placeholder 2">
            <a:extLst>
              <a:ext uri="{FF2B5EF4-FFF2-40B4-BE49-F238E27FC236}">
                <a16:creationId xmlns:a16="http://schemas.microsoft.com/office/drawing/2014/main" id="{2DD941E3-4F39-84B9-9EB1-666B5AD1CD26}"/>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Artificial Neural Networks contain artificial neurons which are called </a:t>
            </a:r>
            <a:r>
              <a:rPr lang="en-IN" b="1" i="0" dirty="0">
                <a:solidFill>
                  <a:srgbClr val="273239"/>
                </a:solidFill>
                <a:effectLst/>
                <a:highlight>
                  <a:srgbClr val="FFFFFF"/>
                </a:highlight>
                <a:latin typeface="Nunito" pitchFamily="2" charset="0"/>
              </a:rPr>
              <a:t>units</a:t>
            </a:r>
            <a:r>
              <a:rPr lang="en-IN" b="0" i="0" dirty="0">
                <a:solidFill>
                  <a:srgbClr val="273239"/>
                </a:solidFill>
                <a:effectLst/>
                <a:highlight>
                  <a:srgbClr val="FFFFFF"/>
                </a:highlight>
                <a:latin typeface="Nunito" pitchFamily="2" charset="0"/>
              </a:rPr>
              <a:t>.</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 These units are arranged in a series of layers that together constitute the whole Artificial Neural Network in a system. </a:t>
            </a: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2875977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11FD3-FF73-FB54-8C86-2AA7FA86CA1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7732735-D95E-7BD0-B10A-61422296A08B}"/>
              </a:ext>
            </a:extLst>
          </p:cNvPr>
          <p:cNvPicPr>
            <a:picLocks noGrp="1" noChangeAspect="1"/>
          </p:cNvPicPr>
          <p:nvPr>
            <p:ph idx="1"/>
          </p:nvPr>
        </p:nvPicPr>
        <p:blipFill>
          <a:blip r:embed="rId2"/>
          <a:stretch>
            <a:fillRect/>
          </a:stretch>
        </p:blipFill>
        <p:spPr>
          <a:xfrm>
            <a:off x="677863" y="2254570"/>
            <a:ext cx="8596312" cy="3693472"/>
          </a:xfrm>
        </p:spPr>
      </p:pic>
    </p:spTree>
    <p:extLst>
      <p:ext uri="{BB962C8B-B14F-4D97-AF65-F5344CB8AC3E}">
        <p14:creationId xmlns:p14="http://schemas.microsoft.com/office/powerpoint/2010/main" val="2519432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728C8-193B-EF73-A7B7-555EC4F153E0}"/>
              </a:ext>
            </a:extLst>
          </p:cNvPr>
          <p:cNvSpPr>
            <a:spLocks noGrp="1"/>
          </p:cNvSpPr>
          <p:nvPr>
            <p:ph type="title"/>
          </p:nvPr>
        </p:nvSpPr>
        <p:spPr/>
        <p:txBody>
          <a:bodyPr/>
          <a:lstStyle/>
          <a:p>
            <a:r>
              <a:rPr lang="en-US" dirty="0"/>
              <a:t>ANN</a:t>
            </a:r>
            <a:endParaRPr lang="en-IN" dirty="0"/>
          </a:p>
        </p:txBody>
      </p:sp>
      <p:sp>
        <p:nvSpPr>
          <p:cNvPr id="3" name="Content Placeholder 2">
            <a:extLst>
              <a:ext uri="{FF2B5EF4-FFF2-40B4-BE49-F238E27FC236}">
                <a16:creationId xmlns:a16="http://schemas.microsoft.com/office/drawing/2014/main" id="{4F8BBB94-26A2-59B1-4CD5-E2F962773DDB}"/>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The structures and operations of human neurons serve as the basis for artificial neural networks. </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It is also known as neural networks or neural nets. The input layer of an artificial neural network is the first layer, and it receives input from external sources and releases it to the hidden layer, which is the second layer. </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In the hidden layer, each neuron receives input from the previous layer neurons, computes the weighted sum, and sends it to the neurons in the next layer.</a:t>
            </a:r>
            <a:endParaRPr lang="en-IN" dirty="0"/>
          </a:p>
        </p:txBody>
      </p:sp>
    </p:spTree>
    <p:extLst>
      <p:ext uri="{BB962C8B-B14F-4D97-AF65-F5344CB8AC3E}">
        <p14:creationId xmlns:p14="http://schemas.microsoft.com/office/powerpoint/2010/main" val="254150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7FF87-184A-8021-4ACD-2C68A1BB6A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E73C665-1E22-67CA-449E-89A5784C8223}"/>
              </a:ext>
            </a:extLst>
          </p:cNvPr>
          <p:cNvSpPr>
            <a:spLocks noGrp="1"/>
          </p:cNvSpPr>
          <p:nvPr>
            <p:ph idx="1"/>
          </p:nvPr>
        </p:nvSpPr>
        <p:spPr/>
        <p:txBody>
          <a:bodyPr/>
          <a:lstStyle/>
          <a:p>
            <a:r>
              <a:rPr lang="en-IN" b="0" i="0" dirty="0">
                <a:solidFill>
                  <a:srgbClr val="333333"/>
                </a:solidFill>
                <a:effectLst/>
                <a:highlight>
                  <a:srgbClr val="FFFFFF"/>
                </a:highlight>
                <a:latin typeface="inter-regular"/>
              </a:rPr>
              <a:t>Perceptron is Machine Learning algorithm for supervised learning of various binary classification tasks. </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Further, </a:t>
            </a:r>
            <a:r>
              <a:rPr lang="en-IN" b="1" i="1" dirty="0">
                <a:solidFill>
                  <a:srgbClr val="333333"/>
                </a:solidFill>
                <a:effectLst/>
                <a:highlight>
                  <a:srgbClr val="FFFFFF"/>
                </a:highlight>
                <a:latin typeface="inter-bold"/>
              </a:rPr>
              <a:t>Perceptron is also understood as an Artificial Neuron or neural network unit that helps to detect certain input data computations in business intelligence</a:t>
            </a:r>
            <a:r>
              <a:rPr lang="en-IN" b="0" i="0" dirty="0">
                <a:solidFill>
                  <a:srgbClr val="333333"/>
                </a:solidFill>
                <a:effectLst/>
                <a:highlight>
                  <a:srgbClr val="FFFFFF"/>
                </a:highlight>
                <a:latin typeface="inter-regular"/>
              </a:rPr>
              <a:t>.</a:t>
            </a:r>
          </a:p>
          <a:p>
            <a:endParaRPr lang="en-IN" dirty="0">
              <a:solidFill>
                <a:srgbClr val="333333"/>
              </a:solidFill>
              <a:highlight>
                <a:srgbClr val="FFFFFF"/>
              </a:highlight>
              <a:latin typeface="inter-regular"/>
            </a:endParaRPr>
          </a:p>
          <a:p>
            <a:r>
              <a:rPr lang="en-IN" b="0" i="0" dirty="0">
                <a:solidFill>
                  <a:srgbClr val="333333"/>
                </a:solidFill>
                <a:effectLst/>
                <a:highlight>
                  <a:srgbClr val="FFFFFF"/>
                </a:highlight>
                <a:latin typeface="inter-regular"/>
              </a:rPr>
              <a:t>Perceptron model is also treated as one of the best and simplest types of Artificial Neural networks. However, it is a supervised learning algorithm of binary classifiers. Hence, we can consider it as a single-layer neural network with four main parameters, i.e., </a:t>
            </a:r>
            <a:r>
              <a:rPr lang="en-IN" b="1" i="0" dirty="0">
                <a:solidFill>
                  <a:srgbClr val="333333"/>
                </a:solidFill>
                <a:effectLst/>
                <a:highlight>
                  <a:srgbClr val="FFFFFF"/>
                </a:highlight>
                <a:latin typeface="inter-bold"/>
              </a:rPr>
              <a:t>input values, weights and Bias, net sum, and an activation function.</a:t>
            </a:r>
            <a:endParaRPr lang="en-IN" dirty="0"/>
          </a:p>
        </p:txBody>
      </p:sp>
    </p:spTree>
    <p:extLst>
      <p:ext uri="{BB962C8B-B14F-4D97-AF65-F5344CB8AC3E}">
        <p14:creationId xmlns:p14="http://schemas.microsoft.com/office/powerpoint/2010/main" val="3138372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C99B-41B9-4E6E-CFA1-9301F03B872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BB6E879-674E-EED5-AD48-FFE9C34EACEB}"/>
              </a:ext>
            </a:extLst>
          </p:cNvPr>
          <p:cNvPicPr>
            <a:picLocks noGrp="1" noChangeAspect="1"/>
          </p:cNvPicPr>
          <p:nvPr>
            <p:ph idx="1"/>
          </p:nvPr>
        </p:nvPicPr>
        <p:blipFill>
          <a:blip r:embed="rId2"/>
          <a:stretch>
            <a:fillRect/>
          </a:stretch>
        </p:blipFill>
        <p:spPr>
          <a:xfrm>
            <a:off x="1770856" y="2482056"/>
            <a:ext cx="6410325" cy="3238500"/>
          </a:xfrm>
        </p:spPr>
      </p:pic>
    </p:spTree>
    <p:extLst>
      <p:ext uri="{BB962C8B-B14F-4D97-AF65-F5344CB8AC3E}">
        <p14:creationId xmlns:p14="http://schemas.microsoft.com/office/powerpoint/2010/main" val="477329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C6EF9-AADF-92E1-97E8-77E1234C1F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750097-E5D5-C742-3D3D-F52A29B7E576}"/>
              </a:ext>
            </a:extLst>
          </p:cNvPr>
          <p:cNvSpPr>
            <a:spLocks noGrp="1"/>
          </p:cNvSpPr>
          <p:nvPr>
            <p:ph idx="1"/>
          </p:nvPr>
        </p:nvSpPr>
        <p:spPr>
          <a:xfrm>
            <a:off x="677334" y="1930400"/>
            <a:ext cx="8596668" cy="4317999"/>
          </a:xfrm>
        </p:spPr>
        <p:txBody>
          <a:bodyPr>
            <a:normAutofit/>
          </a:bodyPr>
          <a:lstStyle/>
          <a:p>
            <a:pPr algn="just">
              <a:buFont typeface="Arial" panose="020B0604020202020204" pitchFamily="34" charset="0"/>
              <a:buChar char="•"/>
            </a:pPr>
            <a:r>
              <a:rPr lang="en-IN" b="1" i="0" dirty="0">
                <a:solidFill>
                  <a:srgbClr val="000000"/>
                </a:solidFill>
                <a:effectLst/>
                <a:highlight>
                  <a:srgbClr val="FFFFFF"/>
                </a:highlight>
                <a:latin typeface="inter-bold"/>
              </a:rPr>
              <a:t>Input Nodes or Input Layer:</a:t>
            </a:r>
            <a:endParaRPr lang="en-IN" b="0" i="0" dirty="0">
              <a:solidFill>
                <a:srgbClr val="000000"/>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This is the primary component of Perceptron which accepts the initial data into the system for further processing. Each input node contains a real numerical value.</a:t>
            </a:r>
          </a:p>
          <a:p>
            <a:pPr algn="just">
              <a:buFont typeface="Arial" panose="020B0604020202020204" pitchFamily="34" charset="0"/>
              <a:buChar char="•"/>
            </a:pPr>
            <a:r>
              <a:rPr lang="en-IN" b="1" i="0" dirty="0">
                <a:solidFill>
                  <a:srgbClr val="000000"/>
                </a:solidFill>
                <a:effectLst/>
                <a:highlight>
                  <a:srgbClr val="FFFFFF"/>
                </a:highlight>
                <a:latin typeface="inter-bold"/>
              </a:rPr>
              <a:t>Wight and Bias:</a:t>
            </a:r>
            <a:endParaRPr lang="en-IN" b="0" i="0" dirty="0">
              <a:solidFill>
                <a:srgbClr val="000000"/>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Weight parameter represents the strength of the connection between units. This is another most important parameter of Perceptron components. Weight is directly proportional to the strength of the associated input neuron in deciding the output. Further, Bias can be considered as the line of intercept in a linear equation.</a:t>
            </a:r>
          </a:p>
          <a:p>
            <a:pPr algn="just">
              <a:buFont typeface="Arial" panose="020B0604020202020204" pitchFamily="34" charset="0"/>
              <a:buChar char="•"/>
            </a:pPr>
            <a:r>
              <a:rPr lang="en-IN" b="1" i="0" dirty="0">
                <a:solidFill>
                  <a:srgbClr val="000000"/>
                </a:solidFill>
                <a:effectLst/>
                <a:highlight>
                  <a:srgbClr val="FFFFFF"/>
                </a:highlight>
                <a:latin typeface="inter-bold"/>
              </a:rPr>
              <a:t>Activation Function:</a:t>
            </a:r>
            <a:endParaRPr lang="en-IN" b="0" i="0" dirty="0">
              <a:solidFill>
                <a:srgbClr val="000000"/>
              </a:solidFill>
              <a:effectLst/>
              <a:highlight>
                <a:srgbClr val="FFFFFF"/>
              </a:highlight>
              <a:latin typeface="inter-regular"/>
            </a:endParaRPr>
          </a:p>
          <a:p>
            <a:pPr algn="just"/>
            <a:r>
              <a:rPr lang="en-IN" b="0" i="0" dirty="0">
                <a:solidFill>
                  <a:srgbClr val="333333"/>
                </a:solidFill>
                <a:effectLst/>
                <a:highlight>
                  <a:srgbClr val="FFFFFF"/>
                </a:highlight>
                <a:latin typeface="inter-regular"/>
              </a:rPr>
              <a:t>These are the final and important components that help to determine whether the neuron will fire or not. Activation Function can be considered primarily as a step function.</a:t>
            </a:r>
          </a:p>
          <a:p>
            <a:endParaRPr lang="en-IN" dirty="0"/>
          </a:p>
        </p:txBody>
      </p:sp>
    </p:spTree>
    <p:extLst>
      <p:ext uri="{BB962C8B-B14F-4D97-AF65-F5344CB8AC3E}">
        <p14:creationId xmlns:p14="http://schemas.microsoft.com/office/powerpoint/2010/main" val="4198740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AC55D-5BED-DF1C-7A9C-E9E49AD02828}"/>
              </a:ext>
            </a:extLst>
          </p:cNvPr>
          <p:cNvSpPr>
            <a:spLocks noGrp="1"/>
          </p:cNvSpPr>
          <p:nvPr>
            <p:ph type="title"/>
          </p:nvPr>
        </p:nvSpPr>
        <p:spPr/>
        <p:txBody>
          <a:bodyPr/>
          <a:lstStyle/>
          <a:p>
            <a:r>
              <a:rPr lang="en-IN" dirty="0"/>
              <a:t>Multi-layer ANN</a:t>
            </a:r>
          </a:p>
        </p:txBody>
      </p:sp>
      <p:sp>
        <p:nvSpPr>
          <p:cNvPr id="3" name="Content Placeholder 2">
            <a:extLst>
              <a:ext uri="{FF2B5EF4-FFF2-40B4-BE49-F238E27FC236}">
                <a16:creationId xmlns:a16="http://schemas.microsoft.com/office/drawing/2014/main" id="{231DF464-D1B2-1834-09FC-5600DF358DFA}"/>
              </a:ext>
            </a:extLst>
          </p:cNvPr>
          <p:cNvSpPr>
            <a:spLocks noGrp="1"/>
          </p:cNvSpPr>
          <p:nvPr>
            <p:ph idx="1"/>
          </p:nvPr>
        </p:nvSpPr>
        <p:spPr/>
        <p:txBody>
          <a:bodyPr/>
          <a:lstStyle/>
          <a:p>
            <a:r>
              <a:rPr lang="en-IN" b="0" i="0" dirty="0">
                <a:solidFill>
                  <a:srgbClr val="51565E"/>
                </a:solidFill>
                <a:effectLst/>
                <a:highlight>
                  <a:srgbClr val="FFFFFF"/>
                </a:highlight>
                <a:latin typeface="Roboto" panose="02000000000000000000" pitchFamily="2" charset="0"/>
              </a:rPr>
              <a:t>A fully connected multi-layer neural network is called a Multilayer Perceptron (MLP).</a:t>
            </a:r>
          </a:p>
          <a:p>
            <a:endParaRPr lang="en-IN" dirty="0">
              <a:solidFill>
                <a:srgbClr val="51565E"/>
              </a:solidFill>
              <a:highlight>
                <a:srgbClr val="FFFFFF"/>
              </a:highlight>
              <a:latin typeface="Roboto" panose="02000000000000000000" pitchFamily="2" charset="0"/>
            </a:endParaRPr>
          </a:p>
          <a:p>
            <a:r>
              <a:rPr lang="en-IN" b="0" i="0" dirty="0">
                <a:solidFill>
                  <a:srgbClr val="05192D"/>
                </a:solidFill>
                <a:effectLst/>
                <a:highlight>
                  <a:srgbClr val="FFFFFF"/>
                </a:highlight>
                <a:latin typeface="Studio-Feixen-Sans"/>
              </a:rPr>
              <a:t>A multi-layer perceptron (MLP) is a type of artificial neural network consisting of multiple layers of neurons. </a:t>
            </a:r>
          </a:p>
          <a:p>
            <a:endParaRPr lang="en-IN" dirty="0">
              <a:solidFill>
                <a:srgbClr val="05192D"/>
              </a:solidFill>
              <a:highlight>
                <a:srgbClr val="FFFFFF"/>
              </a:highlight>
              <a:latin typeface="Studio-Feixen-Sans"/>
            </a:endParaRPr>
          </a:p>
          <a:p>
            <a:r>
              <a:rPr lang="en-IN" b="0" i="0" dirty="0">
                <a:solidFill>
                  <a:srgbClr val="05192D"/>
                </a:solidFill>
                <a:effectLst/>
                <a:highlight>
                  <a:srgbClr val="FFFFFF"/>
                </a:highlight>
                <a:latin typeface="Studio-Feixen-Sans"/>
              </a:rPr>
              <a:t>The neurons in the MLP typically use nonlinear activation functions, allowing the network to learn complex patterns in data.</a:t>
            </a:r>
            <a:endParaRPr lang="en-IN" b="0" i="0" dirty="0">
              <a:solidFill>
                <a:srgbClr val="51565E"/>
              </a:solidFill>
              <a:effectLst/>
              <a:highlight>
                <a:srgbClr val="FFFFFF"/>
              </a:highlight>
              <a:latin typeface="Roboto" panose="02000000000000000000" pitchFamily="2" charset="0"/>
            </a:endParaRPr>
          </a:p>
          <a:p>
            <a:endParaRPr lang="en-IN" dirty="0">
              <a:solidFill>
                <a:srgbClr val="51565E"/>
              </a:solidFill>
              <a:highlight>
                <a:srgbClr val="FFFFFF"/>
              </a:highlight>
              <a:latin typeface="Roboto" panose="02000000000000000000" pitchFamily="2" charset="0"/>
            </a:endParaRPr>
          </a:p>
          <a:p>
            <a:endParaRPr lang="en-IN" b="0" i="0" dirty="0">
              <a:solidFill>
                <a:srgbClr val="51565E"/>
              </a:solidFill>
              <a:effectLst/>
              <a:highlight>
                <a:srgbClr val="FFFFFF"/>
              </a:highlight>
              <a:latin typeface="Roboto" panose="02000000000000000000" pitchFamily="2" charset="0"/>
            </a:endParaRPr>
          </a:p>
          <a:p>
            <a:endParaRPr lang="en-IN" dirty="0">
              <a:solidFill>
                <a:srgbClr val="51565E"/>
              </a:solidFill>
              <a:highlight>
                <a:srgbClr val="FFFFFF"/>
              </a:highlight>
              <a:latin typeface="Roboto" panose="02000000000000000000" pitchFamily="2" charset="0"/>
            </a:endParaRPr>
          </a:p>
          <a:p>
            <a:endParaRPr lang="en-IN" dirty="0"/>
          </a:p>
        </p:txBody>
      </p:sp>
    </p:spTree>
    <p:extLst>
      <p:ext uri="{BB962C8B-B14F-4D97-AF65-F5344CB8AC3E}">
        <p14:creationId xmlns:p14="http://schemas.microsoft.com/office/powerpoint/2010/main" val="2361647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F7086-2199-F07F-8043-983697B74B2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D3525AF-7F53-CD53-2FE3-F248F6BE35B5}"/>
              </a:ext>
            </a:extLst>
          </p:cNvPr>
          <p:cNvPicPr>
            <a:picLocks noGrp="1" noChangeAspect="1"/>
          </p:cNvPicPr>
          <p:nvPr>
            <p:ph idx="1"/>
          </p:nvPr>
        </p:nvPicPr>
        <p:blipFill>
          <a:blip r:embed="rId2"/>
          <a:stretch>
            <a:fillRect/>
          </a:stretch>
        </p:blipFill>
        <p:spPr>
          <a:xfrm>
            <a:off x="2006082" y="1567246"/>
            <a:ext cx="5244472" cy="4474780"/>
          </a:xfrm>
        </p:spPr>
      </p:pic>
    </p:spTree>
    <p:extLst>
      <p:ext uri="{BB962C8B-B14F-4D97-AF65-F5344CB8AC3E}">
        <p14:creationId xmlns:p14="http://schemas.microsoft.com/office/powerpoint/2010/main" val="1195767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BE1C8-3E01-61CE-8AC1-DF64A8CA3B8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96401B4-938B-342E-D0CD-2C8E12DA73EA}"/>
              </a:ext>
            </a:extLst>
          </p:cNvPr>
          <p:cNvPicPr>
            <a:picLocks noGrp="1" noChangeAspect="1"/>
          </p:cNvPicPr>
          <p:nvPr>
            <p:ph idx="1"/>
          </p:nvPr>
        </p:nvPicPr>
        <p:blipFill>
          <a:blip r:embed="rId2"/>
          <a:stretch>
            <a:fillRect/>
          </a:stretch>
        </p:blipFill>
        <p:spPr>
          <a:xfrm>
            <a:off x="1595868" y="1740710"/>
            <a:ext cx="5752595" cy="3881437"/>
          </a:xfrm>
        </p:spPr>
      </p:pic>
    </p:spTree>
    <p:extLst>
      <p:ext uri="{BB962C8B-B14F-4D97-AF65-F5344CB8AC3E}">
        <p14:creationId xmlns:p14="http://schemas.microsoft.com/office/powerpoint/2010/main" val="2301250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5132-2BCB-A4E6-8C33-A260BAE0903E}"/>
              </a:ext>
            </a:extLst>
          </p:cNvPr>
          <p:cNvSpPr>
            <a:spLocks noGrp="1"/>
          </p:cNvSpPr>
          <p:nvPr>
            <p:ph type="title"/>
          </p:nvPr>
        </p:nvSpPr>
        <p:spPr/>
        <p:txBody>
          <a:bodyPr/>
          <a:lstStyle/>
          <a:p>
            <a:r>
              <a:rPr lang="en-IN" dirty="0"/>
              <a:t>Backpropagation</a:t>
            </a:r>
          </a:p>
        </p:txBody>
      </p:sp>
      <p:sp>
        <p:nvSpPr>
          <p:cNvPr id="3" name="Content Placeholder 2">
            <a:extLst>
              <a:ext uri="{FF2B5EF4-FFF2-40B4-BE49-F238E27FC236}">
                <a16:creationId xmlns:a16="http://schemas.microsoft.com/office/drawing/2014/main" id="{BAB6E3F6-BA2F-97D2-C88C-FC29B4F503AA}"/>
              </a:ext>
            </a:extLst>
          </p:cNvPr>
          <p:cNvSpPr>
            <a:spLocks noGrp="1"/>
          </p:cNvSpPr>
          <p:nvPr>
            <p:ph idx="1"/>
          </p:nvPr>
        </p:nvSpPr>
        <p:spPr/>
        <p:txBody>
          <a:bodyPr/>
          <a:lstStyle/>
          <a:p>
            <a:r>
              <a:rPr lang="en-IN" b="0" i="0" dirty="0">
                <a:solidFill>
                  <a:srgbClr val="3A3B41"/>
                </a:solidFill>
                <a:effectLst/>
                <a:highlight>
                  <a:srgbClr val="FFFFFF"/>
                </a:highlight>
                <a:latin typeface="Georgia" panose="02040502050405020303" pitchFamily="18" charset="0"/>
              </a:rPr>
              <a:t>Backpropagation is the essence of neural net training. </a:t>
            </a:r>
          </a:p>
          <a:p>
            <a:endParaRPr lang="en-IN" dirty="0">
              <a:solidFill>
                <a:srgbClr val="3A3B41"/>
              </a:solidFill>
              <a:highlight>
                <a:srgbClr val="FFFFFF"/>
              </a:highlight>
              <a:latin typeface="Georgia" panose="02040502050405020303" pitchFamily="18" charset="0"/>
            </a:endParaRPr>
          </a:p>
          <a:p>
            <a:r>
              <a:rPr lang="en-IN" b="0" i="0" dirty="0">
                <a:solidFill>
                  <a:srgbClr val="3A3B41"/>
                </a:solidFill>
                <a:effectLst/>
                <a:highlight>
                  <a:srgbClr val="FFFFFF"/>
                </a:highlight>
                <a:latin typeface="Georgia" panose="02040502050405020303" pitchFamily="18" charset="0"/>
              </a:rPr>
              <a:t>It is the practice of fine-tuning the weights of a neural net based on the error rate (i.e. loss) obtained in the previous epoch (i.e. iteration.) Proper tuning of the weights ensures lower error rates, making the model reliable by increasing its generalization.</a:t>
            </a:r>
          </a:p>
          <a:p>
            <a:endParaRPr lang="en-IN" dirty="0">
              <a:solidFill>
                <a:srgbClr val="3A3B41"/>
              </a:solidFill>
              <a:highlight>
                <a:srgbClr val="FFFFFF"/>
              </a:highlight>
              <a:latin typeface="Georgia" panose="02040502050405020303" pitchFamily="18" charset="0"/>
            </a:endParaRPr>
          </a:p>
          <a:p>
            <a:r>
              <a:rPr lang="en-IN" b="0" i="0" dirty="0">
                <a:solidFill>
                  <a:srgbClr val="273239"/>
                </a:solidFill>
                <a:effectLst/>
                <a:highlight>
                  <a:srgbClr val="FFFFFF"/>
                </a:highlight>
                <a:latin typeface="Nunito" pitchFamily="2" charset="0"/>
              </a:rPr>
              <a:t>In machine learning, backpropagation is an effective algorithm used to train artificial neural networks, especially in feed-forward neural networks.</a:t>
            </a:r>
          </a:p>
          <a:p>
            <a:endParaRPr lang="en-IN" dirty="0"/>
          </a:p>
        </p:txBody>
      </p:sp>
    </p:spTree>
    <p:extLst>
      <p:ext uri="{BB962C8B-B14F-4D97-AF65-F5344CB8AC3E}">
        <p14:creationId xmlns:p14="http://schemas.microsoft.com/office/powerpoint/2010/main" val="1425462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C9EF4-FE17-2C30-6017-8795F9B65D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F6ACE6F-9052-2FE7-88F7-9179FB739B53}"/>
              </a:ext>
            </a:extLst>
          </p:cNvPr>
          <p:cNvSpPr>
            <a:spLocks noGrp="1"/>
          </p:cNvSpPr>
          <p:nvPr>
            <p:ph idx="1"/>
          </p:nvPr>
        </p:nvSpPr>
        <p:spPr/>
        <p:txBody>
          <a:bodyPr>
            <a:normAutofit lnSpcReduction="10000"/>
          </a:bodyPr>
          <a:lstStyle/>
          <a:p>
            <a:r>
              <a:rPr lang="en-IN" b="0" i="0" dirty="0">
                <a:solidFill>
                  <a:srgbClr val="273239"/>
                </a:solidFill>
                <a:effectLst/>
                <a:highlight>
                  <a:srgbClr val="FFFFFF"/>
                </a:highlight>
                <a:latin typeface="Nunito" pitchFamily="2" charset="0"/>
              </a:rPr>
              <a:t>Backpropagation is an iterative algorithm, that helps to minimize the cost function by determining which weights and biases should be adjusted.</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During every epoch, the model learns by adapting the weights and biases to minimize the loss by moving down toward the gradient of the error.</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The main features of Backpropagation are the iterative, recursive and efficient method through which it calculates the updated weight to improve the network until it is not able to perform the task for which it is being trained.</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 Derivatives of the activation function to be known at network design time is required to Backpropagation.</a:t>
            </a: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3322592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DC923-AFF8-3035-9019-C1189A8AFA4C}"/>
              </a:ext>
            </a:extLst>
          </p:cNvPr>
          <p:cNvSpPr>
            <a:spLocks noGrp="1"/>
          </p:cNvSpPr>
          <p:nvPr>
            <p:ph type="title"/>
          </p:nvPr>
        </p:nvSpPr>
        <p:spPr/>
        <p:txBody>
          <a:bodyPr/>
          <a:lstStyle/>
          <a:p>
            <a:r>
              <a:rPr lang="en-IN" dirty="0"/>
              <a:t>Introduction to Deep learning</a:t>
            </a:r>
          </a:p>
        </p:txBody>
      </p:sp>
      <p:sp>
        <p:nvSpPr>
          <p:cNvPr id="3" name="Content Placeholder 2">
            <a:extLst>
              <a:ext uri="{FF2B5EF4-FFF2-40B4-BE49-F238E27FC236}">
                <a16:creationId xmlns:a16="http://schemas.microsoft.com/office/drawing/2014/main" id="{14A1B4A5-4A81-E73D-A3BD-8A2577FFD6F5}"/>
              </a:ext>
            </a:extLst>
          </p:cNvPr>
          <p:cNvSpPr>
            <a:spLocks noGrp="1"/>
          </p:cNvSpPr>
          <p:nvPr>
            <p:ph idx="1"/>
          </p:nvPr>
        </p:nvSpPr>
        <p:spPr/>
        <p:txBody>
          <a:bodyPr/>
          <a:lstStyle/>
          <a:p>
            <a:r>
              <a:rPr lang="en-IN" b="0" i="0" dirty="0">
                <a:solidFill>
                  <a:srgbClr val="273239"/>
                </a:solidFill>
                <a:effectLst/>
                <a:highlight>
                  <a:srgbClr val="FFFFFF"/>
                </a:highlight>
                <a:latin typeface="Nunito" pitchFamily="2" charset="0"/>
              </a:rPr>
              <a:t>Deep learning is the branch of </a:t>
            </a:r>
            <a:r>
              <a:rPr lang="en-IN" dirty="0">
                <a:solidFill>
                  <a:srgbClr val="273239"/>
                </a:solidFill>
                <a:highlight>
                  <a:srgbClr val="FFFFFF"/>
                </a:highlight>
                <a:latin typeface="Nunito" pitchFamily="2" charset="0"/>
              </a:rPr>
              <a:t>machine learning </a:t>
            </a:r>
            <a:r>
              <a:rPr lang="en-IN" b="0" i="0" dirty="0">
                <a:solidFill>
                  <a:srgbClr val="273239"/>
                </a:solidFill>
                <a:effectLst/>
                <a:highlight>
                  <a:srgbClr val="FFFFFF"/>
                </a:highlight>
                <a:latin typeface="Nunito" pitchFamily="2" charset="0"/>
              </a:rPr>
              <a:t>which is based on artificial neural network architecture. </a:t>
            </a:r>
          </a:p>
          <a:p>
            <a:endParaRPr lang="en-IN" dirty="0">
              <a:solidFill>
                <a:srgbClr val="273239"/>
              </a:solidFill>
              <a:highlight>
                <a:srgbClr val="FFFFFF"/>
              </a:highlight>
              <a:latin typeface="Nunito" pitchFamily="2" charset="0"/>
            </a:endParaRPr>
          </a:p>
          <a:p>
            <a:r>
              <a:rPr lang="en-IN" b="0" i="0" dirty="0">
                <a:solidFill>
                  <a:srgbClr val="273239"/>
                </a:solidFill>
                <a:effectLst/>
                <a:highlight>
                  <a:srgbClr val="FFFFFF"/>
                </a:highlight>
                <a:latin typeface="Nunito" pitchFamily="2" charset="0"/>
              </a:rPr>
              <a:t>An artificial neural network or ANN uses layers of interconnected nodes called neurons that work together to process and learn from the input data.</a:t>
            </a:r>
          </a:p>
          <a:p>
            <a:endParaRPr lang="en-IN" dirty="0">
              <a:solidFill>
                <a:srgbClr val="273239"/>
              </a:solidFill>
              <a:highlight>
                <a:srgbClr val="FFFFFF"/>
              </a:highlight>
              <a:latin typeface="Nunito" pitchFamily="2" charset="0"/>
            </a:endParaRPr>
          </a:p>
          <a:p>
            <a:r>
              <a:rPr lang="en-IN" dirty="0"/>
              <a:t>Deep learning is a collection of statistical techniques of machine learning for learning feature hierarchies that are actually based on artificial neural networks.</a:t>
            </a:r>
          </a:p>
          <a:p>
            <a:endParaRPr lang="en-IN" b="0" i="0" dirty="0">
              <a:solidFill>
                <a:srgbClr val="273239"/>
              </a:solidFill>
              <a:effectLst/>
              <a:highlight>
                <a:srgbClr val="FFFFFF"/>
              </a:highlight>
              <a:latin typeface="Nunito" pitchFamily="2" charset="0"/>
            </a:endParaRPr>
          </a:p>
          <a:p>
            <a:endParaRPr lang="en-IN" dirty="0">
              <a:solidFill>
                <a:srgbClr val="273239"/>
              </a:solidFill>
              <a:highlight>
                <a:srgbClr val="FFFFFF"/>
              </a:highlight>
              <a:latin typeface="Nunito" pitchFamily="2" charset="0"/>
            </a:endParaRPr>
          </a:p>
          <a:p>
            <a:endParaRPr lang="en-IN" dirty="0"/>
          </a:p>
        </p:txBody>
      </p:sp>
    </p:spTree>
    <p:extLst>
      <p:ext uri="{BB962C8B-B14F-4D97-AF65-F5344CB8AC3E}">
        <p14:creationId xmlns:p14="http://schemas.microsoft.com/office/powerpoint/2010/main" val="1930066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6D60-6C0F-1DF1-B3F2-01CD1BB5CF4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4E7249-42CD-F95A-1731-6864F377161F}"/>
              </a:ext>
            </a:extLst>
          </p:cNvPr>
          <p:cNvPicPr>
            <a:picLocks noGrp="1" noChangeAspect="1"/>
          </p:cNvPicPr>
          <p:nvPr>
            <p:ph idx="1"/>
          </p:nvPr>
        </p:nvPicPr>
        <p:blipFill>
          <a:blip r:embed="rId2"/>
          <a:stretch>
            <a:fillRect/>
          </a:stretch>
        </p:blipFill>
        <p:spPr>
          <a:xfrm>
            <a:off x="1315616" y="1653776"/>
            <a:ext cx="6501718" cy="4397579"/>
          </a:xfrm>
        </p:spPr>
      </p:pic>
    </p:spTree>
    <p:extLst>
      <p:ext uri="{BB962C8B-B14F-4D97-AF65-F5344CB8AC3E}">
        <p14:creationId xmlns:p14="http://schemas.microsoft.com/office/powerpoint/2010/main" val="3593946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F72BB-0E04-C065-E34C-6A39CCAE01E0}"/>
              </a:ext>
            </a:extLst>
          </p:cNvPr>
          <p:cNvSpPr>
            <a:spLocks noGrp="1"/>
          </p:cNvSpPr>
          <p:nvPr>
            <p:ph type="title"/>
          </p:nvPr>
        </p:nvSpPr>
        <p:spPr/>
        <p:txBody>
          <a:bodyPr/>
          <a:lstStyle/>
          <a:p>
            <a:r>
              <a:rPr lang="en-IN" dirty="0"/>
              <a:t>Importance of Deep Learning</a:t>
            </a:r>
          </a:p>
        </p:txBody>
      </p:sp>
      <p:sp>
        <p:nvSpPr>
          <p:cNvPr id="3" name="Content Placeholder 2">
            <a:extLst>
              <a:ext uri="{FF2B5EF4-FFF2-40B4-BE49-F238E27FC236}">
                <a16:creationId xmlns:a16="http://schemas.microsoft.com/office/drawing/2014/main" id="{991A71F4-4379-DB5B-C374-43F4EE6E9D0C}"/>
              </a:ext>
            </a:extLst>
          </p:cNvPr>
          <p:cNvSpPr>
            <a:spLocks noGrp="1"/>
          </p:cNvSpPr>
          <p:nvPr>
            <p:ph idx="1"/>
          </p:nvPr>
        </p:nvSpPr>
        <p:spPr/>
        <p:txBody>
          <a:bodyPr/>
          <a:lstStyle/>
          <a:p>
            <a:endParaRPr lang="en-IN" dirty="0"/>
          </a:p>
          <a:p>
            <a:pPr algn="l">
              <a:buFont typeface="Arial" panose="020B0604020202020204" pitchFamily="34" charset="0"/>
              <a:buChar char="•"/>
            </a:pPr>
            <a:r>
              <a:rPr lang="en-IN" b="0" i="0" dirty="0">
                <a:solidFill>
                  <a:srgbClr val="51565E"/>
                </a:solidFill>
                <a:effectLst/>
                <a:highlight>
                  <a:srgbClr val="FFFFFF"/>
                </a:highlight>
                <a:latin typeface="Roboto" panose="02000000000000000000" pitchFamily="2" charset="0"/>
              </a:rPr>
              <a:t>Machine learning works only with sets of structured and semi-structured data, while deep learning works with both structured and unstructured data.</a:t>
            </a:r>
          </a:p>
          <a:p>
            <a:pPr algn="l">
              <a:buFont typeface="Arial" panose="020B0604020202020204" pitchFamily="34" charset="0"/>
              <a:buChar char="•"/>
            </a:pPr>
            <a:endParaRPr lang="en-IN" b="0" i="0" dirty="0">
              <a:solidFill>
                <a:srgbClr val="51565E"/>
              </a:solidFill>
              <a:effectLst/>
              <a:highlight>
                <a:srgbClr val="FFFFFF"/>
              </a:highlight>
              <a:latin typeface="Roboto" panose="02000000000000000000" pitchFamily="2" charset="0"/>
            </a:endParaRPr>
          </a:p>
          <a:p>
            <a:pPr algn="l">
              <a:buFont typeface="Arial" panose="020B0604020202020204" pitchFamily="34" charset="0"/>
              <a:buChar char="•"/>
            </a:pPr>
            <a:r>
              <a:rPr lang="en-IN" b="0" i="0" dirty="0">
                <a:solidFill>
                  <a:srgbClr val="51565E"/>
                </a:solidFill>
                <a:effectLst/>
                <a:highlight>
                  <a:srgbClr val="FFFFFF"/>
                </a:highlight>
                <a:latin typeface="Roboto" panose="02000000000000000000" pitchFamily="2" charset="0"/>
              </a:rPr>
              <a:t>Deep learning algorithms can perform complex operations efficiently, while machine learning algorithms cannot.</a:t>
            </a:r>
          </a:p>
          <a:p>
            <a:pPr algn="l">
              <a:buFont typeface="Arial" panose="020B0604020202020204" pitchFamily="34" charset="0"/>
              <a:buChar char="•"/>
            </a:pPr>
            <a:endParaRPr lang="en-IN" b="0" i="0" dirty="0">
              <a:solidFill>
                <a:srgbClr val="51565E"/>
              </a:solidFill>
              <a:effectLst/>
              <a:highlight>
                <a:srgbClr val="FFFFFF"/>
              </a:highlight>
              <a:latin typeface="Roboto" panose="02000000000000000000" pitchFamily="2" charset="0"/>
            </a:endParaRPr>
          </a:p>
          <a:p>
            <a:pPr algn="l">
              <a:buFont typeface="Arial" panose="020B0604020202020204" pitchFamily="34" charset="0"/>
              <a:buChar char="•"/>
            </a:pPr>
            <a:r>
              <a:rPr lang="en-IN" b="0" i="0" dirty="0">
                <a:solidFill>
                  <a:srgbClr val="51565E"/>
                </a:solidFill>
                <a:effectLst/>
                <a:highlight>
                  <a:srgbClr val="FFFFFF"/>
                </a:highlight>
                <a:latin typeface="Roboto" panose="02000000000000000000" pitchFamily="2" charset="0"/>
              </a:rPr>
              <a:t>Machine learning algorithms use </a:t>
            </a:r>
            <a:r>
              <a:rPr lang="en-IN" b="0" i="0" dirty="0" err="1">
                <a:solidFill>
                  <a:srgbClr val="51565E"/>
                </a:solidFill>
                <a:effectLst/>
                <a:highlight>
                  <a:srgbClr val="FFFFFF"/>
                </a:highlight>
                <a:latin typeface="Roboto" panose="02000000000000000000" pitchFamily="2" charset="0"/>
              </a:rPr>
              <a:t>labeled</a:t>
            </a:r>
            <a:r>
              <a:rPr lang="en-IN" b="0" i="0" dirty="0">
                <a:solidFill>
                  <a:srgbClr val="51565E"/>
                </a:solidFill>
                <a:effectLst/>
                <a:highlight>
                  <a:srgbClr val="FFFFFF"/>
                </a:highlight>
                <a:latin typeface="Roboto" panose="02000000000000000000" pitchFamily="2" charset="0"/>
              </a:rPr>
              <a:t> sample data to extract patterns, while deep learning accepts large volumes of data as input and </a:t>
            </a:r>
            <a:r>
              <a:rPr lang="en-IN" b="0" i="0" dirty="0" err="1">
                <a:solidFill>
                  <a:srgbClr val="51565E"/>
                </a:solidFill>
                <a:effectLst/>
                <a:highlight>
                  <a:srgbClr val="FFFFFF"/>
                </a:highlight>
                <a:latin typeface="Roboto" panose="02000000000000000000" pitchFamily="2" charset="0"/>
              </a:rPr>
              <a:t>analyzes</a:t>
            </a:r>
            <a:r>
              <a:rPr lang="en-IN" b="0" i="0" dirty="0">
                <a:solidFill>
                  <a:srgbClr val="51565E"/>
                </a:solidFill>
                <a:effectLst/>
                <a:highlight>
                  <a:srgbClr val="FFFFFF"/>
                </a:highlight>
                <a:latin typeface="Roboto" panose="02000000000000000000" pitchFamily="2" charset="0"/>
              </a:rPr>
              <a:t> the input data to extract features out of an object.</a:t>
            </a:r>
          </a:p>
          <a:p>
            <a:endParaRPr lang="en-IN" dirty="0"/>
          </a:p>
        </p:txBody>
      </p:sp>
    </p:spTree>
    <p:extLst>
      <p:ext uri="{BB962C8B-B14F-4D97-AF65-F5344CB8AC3E}">
        <p14:creationId xmlns:p14="http://schemas.microsoft.com/office/powerpoint/2010/main" val="2649569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60E9-5F31-B675-A5EE-3EC85CDB87F8}"/>
              </a:ext>
            </a:extLst>
          </p:cNvPr>
          <p:cNvSpPr>
            <a:spLocks noGrp="1"/>
          </p:cNvSpPr>
          <p:nvPr>
            <p:ph type="title"/>
          </p:nvPr>
        </p:nvSpPr>
        <p:spPr/>
        <p:txBody>
          <a:bodyPr/>
          <a:lstStyle/>
          <a:p>
            <a:r>
              <a:rPr lang="en-IN" dirty="0"/>
              <a:t>Application of Deep Learning</a:t>
            </a:r>
          </a:p>
        </p:txBody>
      </p:sp>
      <p:sp>
        <p:nvSpPr>
          <p:cNvPr id="3" name="Content Placeholder 2">
            <a:extLst>
              <a:ext uri="{FF2B5EF4-FFF2-40B4-BE49-F238E27FC236}">
                <a16:creationId xmlns:a16="http://schemas.microsoft.com/office/drawing/2014/main" id="{481A6852-3372-4950-F7F1-D5D1B39CFB75}"/>
              </a:ext>
            </a:extLst>
          </p:cNvPr>
          <p:cNvSpPr>
            <a:spLocks noGrp="1"/>
          </p:cNvSpPr>
          <p:nvPr>
            <p:ph idx="1"/>
          </p:nvPr>
        </p:nvSpPr>
        <p:spPr/>
        <p:txBody>
          <a:bodyPr/>
          <a:lstStyle/>
          <a:p>
            <a:pPr algn="l" fontAlgn="base">
              <a:buFont typeface="Arial" panose="020B0604020202020204" pitchFamily="34" charset="0"/>
              <a:buChar char="•"/>
            </a:pPr>
            <a:endParaRPr lang="en-IN" b="0" i="0" dirty="0">
              <a:solidFill>
                <a:srgbClr val="273239"/>
              </a:solidFill>
              <a:effectLst/>
              <a:highlight>
                <a:srgbClr val="FFFFFF"/>
              </a:highlight>
              <a:latin typeface="Nunito" pitchFamily="2" charset="0"/>
            </a:endParaRP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Virtual Assistants, Chatbots and robotics</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Self Driving Cars</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Natural Language Processing</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Automatic Image Caption Generation</a:t>
            </a:r>
          </a:p>
          <a:p>
            <a:pPr algn="l" fontAlgn="base">
              <a:buFont typeface="Arial" panose="020B0604020202020204" pitchFamily="34" charset="0"/>
              <a:buChar char="•"/>
            </a:pPr>
            <a:r>
              <a:rPr lang="en-IN" b="0" i="0" dirty="0">
                <a:solidFill>
                  <a:srgbClr val="273239"/>
                </a:solidFill>
                <a:effectLst/>
                <a:highlight>
                  <a:srgbClr val="FFFFFF"/>
                </a:highlight>
                <a:latin typeface="Nunito" pitchFamily="2" charset="0"/>
              </a:rPr>
              <a:t>Automatic Machine Translation</a:t>
            </a:r>
          </a:p>
          <a:p>
            <a:endParaRPr lang="en-IN" dirty="0"/>
          </a:p>
        </p:txBody>
      </p:sp>
    </p:spTree>
    <p:extLst>
      <p:ext uri="{BB962C8B-B14F-4D97-AF65-F5344CB8AC3E}">
        <p14:creationId xmlns:p14="http://schemas.microsoft.com/office/powerpoint/2010/main" val="8627228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159</TotalTime>
  <Words>1371</Words>
  <Application>Microsoft Office PowerPoint</Application>
  <PresentationFormat>Widescreen</PresentationFormat>
  <Paragraphs>97</Paragraphs>
  <Slides>25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25</vt:i4>
      </vt:variant>
    </vt:vector>
  </HeadingPairs>
  <TitlesOfParts>
    <vt:vector size="37" baseType="lpstr">
      <vt:lpstr>Arial</vt:lpstr>
      <vt:lpstr>Georgia</vt:lpstr>
      <vt:lpstr>inherit</vt:lpstr>
      <vt:lpstr>inter-bold</vt:lpstr>
      <vt:lpstr>inter-regular</vt:lpstr>
      <vt:lpstr>Nunito</vt:lpstr>
      <vt:lpstr>Roboto</vt:lpstr>
      <vt:lpstr>source sans pro</vt:lpstr>
      <vt:lpstr>Studio-Feixen-Sans</vt:lpstr>
      <vt:lpstr>Trebuchet MS</vt:lpstr>
      <vt:lpstr>Wingdings 3</vt:lpstr>
      <vt:lpstr>Facet</vt:lpstr>
      <vt:lpstr>Recommended System</vt:lpstr>
      <vt:lpstr>Definition</vt:lpstr>
      <vt:lpstr>Types of recommendation systems:</vt:lpstr>
      <vt:lpstr>Collaborative Filtering </vt:lpstr>
      <vt:lpstr>Collaborative Filtering </vt:lpstr>
      <vt:lpstr>Content-Based Recommender System</vt:lpstr>
      <vt:lpstr>PowerPoint Presentation</vt:lpstr>
      <vt:lpstr>PowerPoint Presentation</vt:lpstr>
      <vt:lpstr>Advantages</vt:lpstr>
      <vt:lpstr>Disadvantages</vt:lpstr>
      <vt:lpstr>Artificial Neural Network(ANN)</vt:lpstr>
      <vt:lpstr>PowerPoint Presentation</vt:lpstr>
      <vt:lpstr>ANN</vt:lpstr>
      <vt:lpstr>PowerPoint Presentation</vt:lpstr>
      <vt:lpstr>PowerPoint Presentation</vt:lpstr>
      <vt:lpstr>PowerPoint Presentation</vt:lpstr>
      <vt:lpstr>Multi-layer ANN</vt:lpstr>
      <vt:lpstr>PowerPoint Presentation</vt:lpstr>
      <vt:lpstr>PowerPoint Presentation</vt:lpstr>
      <vt:lpstr>Backpropagation</vt:lpstr>
      <vt:lpstr>PowerPoint Presentation</vt:lpstr>
      <vt:lpstr>Introduction to Deep learning</vt:lpstr>
      <vt:lpstr>PowerPoint Presentation</vt:lpstr>
      <vt:lpstr>Importance of Deep Learning</vt:lpstr>
      <vt:lpstr>Application of Deep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Recommended System</dc:title>
  <dc:creator>ankit taneja</dc:creator>
  <cp:lastModifiedBy>ankit taneja</cp:lastModifiedBy>
  <cp:revision>46</cp:revision>
  <dcterms:created xsi:type="dcterms:W3CDTF">2024-05-21T04:40:28Z</dcterms:created>
  <dcterms:modified xsi:type="dcterms:W3CDTF">2024-05-25T08:53:51Z</dcterms:modified>
</cp:coreProperties>
</file>